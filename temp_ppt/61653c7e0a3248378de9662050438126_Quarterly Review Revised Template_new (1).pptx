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24.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27.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28.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29.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theme/themeOverride1.xml" ContentType="application/vnd.openxmlformats-officedocument.themeOverr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theme/themeOverride2.xml" ContentType="application/vnd.openxmlformats-officedocument.themeOverr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1573" r:id="rId3"/>
    <p:sldId id="292" r:id="rId4"/>
    <p:sldId id="260" r:id="rId5"/>
    <p:sldId id="1308" r:id="rId6"/>
    <p:sldId id="1307" r:id="rId7"/>
    <p:sldId id="1476" r:id="rId8"/>
    <p:sldId id="261" r:id="rId9"/>
    <p:sldId id="1306" r:id="rId10"/>
    <p:sldId id="1634" r:id="rId11"/>
    <p:sldId id="1477" r:id="rId12"/>
    <p:sldId id="1309" r:id="rId13"/>
    <p:sldId id="1310" r:id="rId14"/>
    <p:sldId id="1311" r:id="rId15"/>
    <p:sldId id="1363" r:id="rId16"/>
    <p:sldId id="1478" r:id="rId17"/>
    <p:sldId id="1479" r:id="rId18"/>
    <p:sldId id="1480" r:id="rId19"/>
    <p:sldId id="943" r:id="rId20"/>
    <p:sldId id="1481" r:id="rId21"/>
    <p:sldId id="1482" r:id="rId22"/>
    <p:sldId id="1483" r:id="rId23"/>
    <p:sldId id="918" r:id="rId24"/>
    <p:sldId id="1484" r:id="rId25"/>
    <p:sldId id="1485" r:id="rId26"/>
    <p:sldId id="944" r:id="rId27"/>
    <p:sldId id="1486" r:id="rId28"/>
    <p:sldId id="1628" r:id="rId29"/>
    <p:sldId id="1636" r:id="rId30"/>
    <p:sldId id="1638" r:id="rId31"/>
    <p:sldId id="1325" r:id="rId32"/>
    <p:sldId id="1316" r:id="rId33"/>
    <p:sldId id="1551" r:id="rId34"/>
    <p:sldId id="1642" r:id="rId35"/>
    <p:sldId id="284" r:id="rId36"/>
    <p:sldId id="1246" r:id="rId37"/>
    <p:sldId id="1206" r:id="rId38"/>
    <p:sldId id="299" r:id="rId39"/>
    <p:sldId id="1643" r:id="rId40"/>
    <p:sldId id="1252" r:id="rId41"/>
    <p:sldId id="1253" r:id="rId42"/>
    <p:sldId id="1254" r:id="rId43"/>
    <p:sldId id="1172" r:id="rId44"/>
    <p:sldId id="1644" r:id="rId45"/>
    <p:sldId id="1637" r:id="rId46"/>
    <p:sldId id="1629" r:id="rId47"/>
    <p:sldId id="1630" r:id="rId48"/>
    <p:sldId id="1631" r:id="rId49"/>
    <p:sldId id="1633" r:id="rId50"/>
    <p:sldId id="1641"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1BBE482-38E2-205F-5C22-A8BD8ABA87F9}" name="Shashank Gautam" initials="SG" userId="S::shashankgautam@clientassociates.com::9d25a42c-b760-4c24-ad36-0725cd8bfa7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hreya Kalra" initials="SK" lastIdx="4" clrIdx="0">
    <p:extLst>
      <p:ext uri="{19B8F6BF-5375-455C-9EA6-DF929625EA0E}">
        <p15:presenceInfo xmlns:p15="http://schemas.microsoft.com/office/powerpoint/2012/main" userId="S::shreyakalra@clientassociates.com::43c40d29-2d18-4218-8854-eef363ed0a1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4795"/>
    <a:srgbClr val="64B8A7"/>
    <a:srgbClr val="4472C4"/>
    <a:srgbClr val="D1D6DC"/>
    <a:srgbClr val="0A2733"/>
    <a:srgbClr val="2563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3020" autoAdjust="0"/>
  </p:normalViewPr>
  <p:slideViewPr>
    <p:cSldViewPr snapToGrid="0">
      <p:cViewPr varScale="1">
        <p:scale>
          <a:sx n="69" d="100"/>
          <a:sy n="69" d="100"/>
        </p:scale>
        <p:origin x="6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ket Kanwar" userId="43bfa9a572714ec5" providerId="LiveId" clId="{E22BBC41-0628-4983-817A-C234C43E7114}"/>
    <pc:docChg chg="modSld">
      <pc:chgData name="Aniket Kanwar" userId="43bfa9a572714ec5" providerId="LiveId" clId="{E22BBC41-0628-4983-817A-C234C43E7114}" dt="2025-07-09T06:31:07.713" v="42" actId="20577"/>
      <pc:docMkLst>
        <pc:docMk/>
      </pc:docMkLst>
      <pc:sldChg chg="modSp mod">
        <pc:chgData name="Aniket Kanwar" userId="43bfa9a572714ec5" providerId="LiveId" clId="{E22BBC41-0628-4983-817A-C234C43E7114}" dt="2025-07-09T06:26:57.090" v="2" actId="6549"/>
        <pc:sldMkLst>
          <pc:docMk/>
          <pc:sldMk cId="2948329685" sldId="261"/>
        </pc:sldMkLst>
        <pc:spChg chg="mod">
          <ac:chgData name="Aniket Kanwar" userId="43bfa9a572714ec5" providerId="LiveId" clId="{E22BBC41-0628-4983-817A-C234C43E7114}" dt="2025-07-04T05:05:00.086" v="1" actId="1035"/>
          <ac:spMkLst>
            <pc:docMk/>
            <pc:sldMk cId="2948329685" sldId="261"/>
            <ac:spMk id="8" creationId="{C4A305ED-D62D-DA46-816E-5755BC291F99}"/>
          </ac:spMkLst>
        </pc:spChg>
        <pc:spChg chg="mod">
          <ac:chgData name="Aniket Kanwar" userId="43bfa9a572714ec5" providerId="LiveId" clId="{E22BBC41-0628-4983-817A-C234C43E7114}" dt="2025-07-09T06:26:57.090" v="2" actId="6549"/>
          <ac:spMkLst>
            <pc:docMk/>
            <pc:sldMk cId="2948329685" sldId="261"/>
            <ac:spMk id="16" creationId="{43AF653D-DFDD-6F14-C356-394FD7FA65BB}"/>
          </ac:spMkLst>
        </pc:spChg>
      </pc:sldChg>
      <pc:sldChg chg="modSp mod">
        <pc:chgData name="Aniket Kanwar" userId="43bfa9a572714ec5" providerId="LiveId" clId="{E22BBC41-0628-4983-817A-C234C43E7114}" dt="2025-07-09T06:31:07.713" v="42" actId="20577"/>
        <pc:sldMkLst>
          <pc:docMk/>
          <pc:sldMk cId="1343580450" sldId="1480"/>
        </pc:sldMkLst>
        <pc:spChg chg="mod">
          <ac:chgData name="Aniket Kanwar" userId="43bfa9a572714ec5" providerId="LiveId" clId="{E22BBC41-0628-4983-817A-C234C43E7114}" dt="2025-07-09T06:31:07.713" v="42" actId="20577"/>
          <ac:spMkLst>
            <pc:docMk/>
            <pc:sldMk cId="1343580450" sldId="1480"/>
            <ac:spMk id="6" creationId="{A45B1E06-6F57-4B77-D59F-A05E16F524A6}"/>
          </ac:spMkLst>
        </pc:spChg>
      </pc:sldChg>
      <pc:sldChg chg="modSp mod">
        <pc:chgData name="Aniket Kanwar" userId="43bfa9a572714ec5" providerId="LiveId" clId="{E22BBC41-0628-4983-817A-C234C43E7114}" dt="2025-07-09T06:31:04.803" v="41" actId="20577"/>
        <pc:sldMkLst>
          <pc:docMk/>
          <pc:sldMk cId="4018658709" sldId="1483"/>
        </pc:sldMkLst>
        <pc:spChg chg="mod">
          <ac:chgData name="Aniket Kanwar" userId="43bfa9a572714ec5" providerId="LiveId" clId="{E22BBC41-0628-4983-817A-C234C43E7114}" dt="2025-07-09T06:31:04.803" v="41" actId="20577"/>
          <ac:spMkLst>
            <pc:docMk/>
            <pc:sldMk cId="4018658709" sldId="1483"/>
            <ac:spMk id="4" creationId="{E447E41C-7F7A-620C-6447-93BC8BF56D93}"/>
          </ac:spMkLst>
        </pc:spChg>
      </pc:sldChg>
      <pc:sldChg chg="modSp mod">
        <pc:chgData name="Aniket Kanwar" userId="43bfa9a572714ec5" providerId="LiveId" clId="{E22BBC41-0628-4983-817A-C234C43E7114}" dt="2025-07-09T06:31:02.448" v="40" actId="20577"/>
        <pc:sldMkLst>
          <pc:docMk/>
          <pc:sldMk cId="2336259475" sldId="1485"/>
        </pc:sldMkLst>
        <pc:spChg chg="mod">
          <ac:chgData name="Aniket Kanwar" userId="43bfa9a572714ec5" providerId="LiveId" clId="{E22BBC41-0628-4983-817A-C234C43E7114}" dt="2025-07-09T06:31:02.448" v="40" actId="20577"/>
          <ac:spMkLst>
            <pc:docMk/>
            <pc:sldMk cId="2336259475" sldId="1485"/>
            <ac:spMk id="4" creationId="{AAE9BCA9-C8B5-97D4-80D6-1CF8F06A6987}"/>
          </ac:spMkLst>
        </pc:spChg>
        <pc:graphicFrameChg chg="modGraphic">
          <ac:chgData name="Aniket Kanwar" userId="43bfa9a572714ec5" providerId="LiveId" clId="{E22BBC41-0628-4983-817A-C234C43E7114}" dt="2025-07-09T06:27:23.680" v="23" actId="6549"/>
          <ac:graphicFrameMkLst>
            <pc:docMk/>
            <pc:sldMk cId="2336259475" sldId="1485"/>
            <ac:graphicFrameMk id="25" creationId="{2488E31C-0FAA-8BA7-87AA-238E59E82C7C}"/>
          </ac:graphicFrameMkLst>
        </pc:graphicFrameChg>
        <pc:graphicFrameChg chg="modGraphic">
          <ac:chgData name="Aniket Kanwar" userId="43bfa9a572714ec5" providerId="LiveId" clId="{E22BBC41-0628-4983-817A-C234C43E7114}" dt="2025-07-09T06:27:29.095" v="39" actId="6549"/>
          <ac:graphicFrameMkLst>
            <pc:docMk/>
            <pc:sldMk cId="2336259475" sldId="1485"/>
            <ac:graphicFrameMk id="26" creationId="{F7542DA7-772D-726F-19AD-8F8D723165C7}"/>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8.xml"/><Relationship Id="rId1" Type="http://schemas.microsoft.com/office/2011/relationships/chartStyle" Target="style18.xml"/><Relationship Id="rId4"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9.xml"/><Relationship Id="rId1" Type="http://schemas.microsoft.com/office/2011/relationships/chartStyle" Target="style19.xml"/><Relationship Id="rId4" Type="http://schemas.openxmlformats.org/officeDocument/2006/relationships/package" Target="../embeddings/Microsoft_Excel_Worksheet1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Sheet1!$B$1</c:f>
              <c:strCache>
                <c:ptCount val="1"/>
                <c:pt idx="0">
                  <c:v>IPS</c:v>
                </c:pt>
              </c:strCache>
            </c:strRef>
          </c:tx>
          <c:spPr>
            <a:solidFill>
              <a:srgbClr val="084795"/>
            </a:solidFill>
            <a:ln>
              <a:noFill/>
            </a:ln>
            <a:effectLst/>
          </c:spPr>
          <c:invertIfNegative val="0"/>
          <c:cat>
            <c:strRef>
              <c:f>Sheet1!$A$2</c:f>
              <c:strCache>
                <c:ptCount val="1"/>
                <c:pt idx="0">
                  <c:v>Consolidated</c:v>
                </c:pt>
              </c:strCache>
            </c:strRef>
          </c:cat>
          <c:val>
            <c:numRef>
              <c:f>Sheet1!$B$2</c:f>
              <c:numCache>
                <c:formatCode>0%</c:formatCode>
                <c:ptCount val="1"/>
                <c:pt idx="0">
                  <c:v>0.1</c:v>
                </c:pt>
              </c:numCache>
            </c:numRef>
          </c:val>
          <c:extLst>
            <c:ext xmlns:c16="http://schemas.microsoft.com/office/drawing/2014/chart" uri="{C3380CC4-5D6E-409C-BE32-E72D297353CC}">
              <c16:uniqueId val="{00000000-7BAA-411E-A2DE-E646A607719B}"/>
            </c:ext>
          </c:extLst>
        </c:ser>
        <c:ser>
          <c:idx val="1"/>
          <c:order val="1"/>
          <c:tx>
            <c:strRef>
              <c:f>Sheet1!$C$1</c:f>
              <c:strCache>
                <c:ptCount val="1"/>
                <c:pt idx="0">
                  <c:v>Current</c:v>
                </c:pt>
              </c:strCache>
            </c:strRef>
          </c:tx>
          <c:spPr>
            <a:solidFill>
              <a:schemeClr val="accent1">
                <a:shade val="76000"/>
              </a:schemeClr>
            </a:solidFill>
            <a:ln>
              <a:noFill/>
            </a:ln>
            <a:effectLst/>
          </c:spPr>
          <c:invertIfNegative val="0"/>
          <c:dPt>
            <c:idx val="0"/>
            <c:invertIfNegative val="0"/>
            <c:bubble3D val="0"/>
            <c:spPr>
              <a:solidFill>
                <a:srgbClr val="64B8A7"/>
              </a:solidFill>
              <a:ln>
                <a:noFill/>
              </a:ln>
              <a:effectLst/>
            </c:spPr>
            <c:extLst>
              <c:ext xmlns:c16="http://schemas.microsoft.com/office/drawing/2014/chart" uri="{C3380CC4-5D6E-409C-BE32-E72D297353CC}">
                <c16:uniqueId val="{00000000-871F-4C11-9994-0FED080AA48A}"/>
              </c:ext>
            </c:extLst>
          </c:dPt>
          <c:cat>
            <c:strRef>
              <c:f>Sheet1!$A$2</c:f>
              <c:strCache>
                <c:ptCount val="1"/>
                <c:pt idx="0">
                  <c:v>Consolidated</c:v>
                </c:pt>
              </c:strCache>
            </c:strRef>
          </c:cat>
          <c:val>
            <c:numRef>
              <c:f>Sheet1!$C$2</c:f>
              <c:numCache>
                <c:formatCode>0%</c:formatCode>
                <c:ptCount val="1"/>
                <c:pt idx="0">
                  <c:v>0.11</c:v>
                </c:pt>
              </c:numCache>
            </c:numRef>
          </c:val>
          <c:extLst>
            <c:ext xmlns:c16="http://schemas.microsoft.com/office/drawing/2014/chart" uri="{C3380CC4-5D6E-409C-BE32-E72D297353CC}">
              <c16:uniqueId val="{00000001-7BAA-411E-A2DE-E646A607719B}"/>
            </c:ext>
          </c:extLst>
        </c:ser>
        <c:dLbls>
          <c:showLegendKey val="0"/>
          <c:showVal val="0"/>
          <c:showCatName val="0"/>
          <c:showSerName val="0"/>
          <c:showPercent val="0"/>
          <c:showBubbleSize val="0"/>
        </c:dLbls>
        <c:gapWidth val="219"/>
        <c:overlap val="-27"/>
        <c:axId val="1624759391"/>
        <c:axId val="1624761791"/>
      </c:barChart>
      <c:catAx>
        <c:axId val="16247593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24761791"/>
        <c:crosses val="autoZero"/>
        <c:auto val="1"/>
        <c:lblAlgn val="ctr"/>
        <c:lblOffset val="100"/>
        <c:noMultiLvlLbl val="0"/>
      </c:catAx>
      <c:valAx>
        <c:axId val="1624761791"/>
        <c:scaling>
          <c:orientation val="minMax"/>
        </c:scaling>
        <c:delete val="0"/>
        <c:axPos val="l"/>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24759391"/>
        <c:crosses val="autoZero"/>
        <c:crossBetween val="between"/>
      </c:valAx>
      <c:spPr>
        <a:noFill/>
        <a:ln>
          <a:noFill/>
        </a:ln>
        <a:effectLst/>
      </c:spPr>
    </c:plotArea>
    <c:legend>
      <c:legendPos val="b"/>
      <c:layout>
        <c:manualLayout>
          <c:xMode val="edge"/>
          <c:yMode val="edge"/>
          <c:x val="0.40676930279192236"/>
          <c:y val="0.91802554568984762"/>
          <c:w val="0.21701798638488221"/>
          <c:h val="6.33888527366688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Asset</a:t>
            </a:r>
            <a:r>
              <a:rPr lang="en-US" b="1" baseline="0" dirty="0"/>
              <a:t> Allocation</a:t>
            </a:r>
            <a:endParaRPr lang="en-US" b="1" dirty="0"/>
          </a:p>
        </c:rich>
      </c:tx>
      <c:layout>
        <c:manualLayout>
          <c:xMode val="edge"/>
          <c:yMode val="edge"/>
          <c:x val="0.34005864537291081"/>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4565719698028015"/>
          <c:y val="0.12209040775556115"/>
          <c:w val="0.68429077934922911"/>
          <c:h val="0.84550564403880024"/>
        </c:manualLayout>
      </c:layout>
      <c:doughnutChart>
        <c:varyColors val="1"/>
        <c:ser>
          <c:idx val="0"/>
          <c:order val="0"/>
          <c:tx>
            <c:strRef>
              <c:f>Sheet1!$B$1</c:f>
              <c:strCache>
                <c:ptCount val="1"/>
                <c:pt idx="0">
                  <c:v>% Assets</c:v>
                </c:pt>
              </c:strCache>
            </c:strRef>
          </c:tx>
          <c:dPt>
            <c:idx val="0"/>
            <c:bubble3D val="0"/>
            <c:spPr>
              <a:solidFill>
                <a:schemeClr val="accent4">
                  <a:tint val="54000"/>
                </a:schemeClr>
              </a:solidFill>
              <a:ln w="19050">
                <a:solidFill>
                  <a:schemeClr val="lt1"/>
                </a:solidFill>
              </a:ln>
              <a:effectLst/>
            </c:spPr>
            <c:extLst>
              <c:ext xmlns:c16="http://schemas.microsoft.com/office/drawing/2014/chart" uri="{C3380CC4-5D6E-409C-BE32-E72D297353CC}">
                <c16:uniqueId val="{00000003-3D97-42AA-A7A2-538DF1B77B67}"/>
              </c:ext>
            </c:extLst>
          </c:dPt>
          <c:dPt>
            <c:idx val="1"/>
            <c:bubble3D val="0"/>
            <c:spPr>
              <a:solidFill>
                <a:schemeClr val="accent4">
                  <a:tint val="77000"/>
                </a:schemeClr>
              </a:solidFill>
              <a:ln w="19050">
                <a:solidFill>
                  <a:schemeClr val="lt1"/>
                </a:solidFill>
              </a:ln>
              <a:effectLst/>
            </c:spPr>
            <c:extLst>
              <c:ext xmlns:c16="http://schemas.microsoft.com/office/drawing/2014/chart" uri="{C3380CC4-5D6E-409C-BE32-E72D297353CC}">
                <c16:uniqueId val="{00000004-3D97-42AA-A7A2-538DF1B77B67}"/>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3D97-42AA-A7A2-538DF1B77B67}"/>
              </c:ext>
            </c:extLst>
          </c:dPt>
          <c:dPt>
            <c:idx val="3"/>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6-3D97-42AA-A7A2-538DF1B77B67}"/>
              </c:ext>
            </c:extLst>
          </c:dPt>
          <c:dPt>
            <c:idx val="4"/>
            <c:bubble3D val="0"/>
            <c:spPr>
              <a:solidFill>
                <a:schemeClr val="accent4">
                  <a:shade val="53000"/>
                </a:schemeClr>
              </a:solidFill>
              <a:ln w="19050">
                <a:solidFill>
                  <a:schemeClr val="lt1"/>
                </a:solidFill>
              </a:ln>
              <a:effectLst/>
            </c:spPr>
            <c:extLst>
              <c:ext xmlns:c16="http://schemas.microsoft.com/office/drawing/2014/chart" uri="{C3380CC4-5D6E-409C-BE32-E72D297353CC}">
                <c16:uniqueId val="{00000007-3D97-42AA-A7A2-538DF1B77B67}"/>
              </c:ext>
            </c:extLst>
          </c:dPt>
          <c:dLbls>
            <c:dLbl>
              <c:idx val="0"/>
              <c:layout>
                <c:manualLayout>
                  <c:x val="8.2812499999999997E-2"/>
                  <c:y val="8.6718744665431557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D97-42AA-A7A2-538DF1B77B67}"/>
                </c:ext>
              </c:extLst>
            </c:dLbl>
            <c:dLbl>
              <c:idx val="1"/>
              <c:layout>
                <c:manualLayout>
                  <c:x val="-7.6612503282911554E-2"/>
                  <c:y val="0.12385729170285194"/>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D97-42AA-A7A2-538DF1B77B67}"/>
                </c:ext>
              </c:extLst>
            </c:dLbl>
            <c:dLbl>
              <c:idx val="2"/>
              <c:layout>
                <c:manualLayout>
                  <c:x val="-0.13261041758634756"/>
                  <c:y val="2.8124934596813221E-2"/>
                </c:manualLayout>
              </c:layout>
              <c:tx>
                <c:rich>
                  <a:bodyPr/>
                  <a:lstStyle/>
                  <a:p>
                    <a:fld id="{E1C80F6E-3FA9-4099-BEB4-C4B3278EFE26}" type="CATEGORYNAME">
                      <a:rPr lang="en-US"/>
                      <a:pPr/>
                      <a:t>[CATEGORY NAME]</a:t>
                    </a:fld>
                    <a:r>
                      <a:rPr lang="en-US" baseline="0" dirty="0"/>
                      <a:t>,</a:t>
                    </a:r>
                  </a:p>
                  <a:p>
                    <a:fld id="{4BEB7960-3820-4B0D-BD13-A92D55C03F8D}" type="VALUE">
                      <a:rPr lang="en-US" baseline="0" smtClean="0"/>
                      <a:pPr/>
                      <a:t>[VALUE]</a:t>
                    </a:fld>
                    <a:endParaRPr lang="en-US"/>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D97-42AA-A7A2-538DF1B77B67}"/>
                </c:ext>
              </c:extLst>
            </c:dLbl>
            <c:dLbl>
              <c:idx val="3"/>
              <c:layout>
                <c:manualLayout>
                  <c:x val="-0.11875000000000002"/>
                  <c:y val="-6.796874581885177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D97-42AA-A7A2-538DF1B77B67}"/>
                </c:ext>
              </c:extLst>
            </c:dLbl>
            <c:dLbl>
              <c:idx val="4"/>
              <c:layout>
                <c:manualLayout>
                  <c:x val="2.2381074783327799E-2"/>
                  <c:y val="0.13127242183065058"/>
                </c:manualLayout>
              </c:layout>
              <c:showLegendKey val="0"/>
              <c:showVal val="1"/>
              <c:showCatName val="1"/>
              <c:showSerName val="0"/>
              <c:showPercent val="0"/>
              <c:showBubbleSize val="0"/>
              <c:extLst>
                <c:ext xmlns:c15="http://schemas.microsoft.com/office/drawing/2012/chart" uri="{CE6537A1-D6FC-4f65-9D91-7224C49458BB}">
                  <c15:layout>
                    <c:manualLayout>
                      <c:w val="0.24836151282151578"/>
                      <c:h val="0.12832315614796427"/>
                    </c:manualLayout>
                  </c15:layout>
                </c:ext>
                <c:ext xmlns:c16="http://schemas.microsoft.com/office/drawing/2014/chart" uri="{C3380CC4-5D6E-409C-BE32-E72D297353CC}">
                  <c16:uniqueId val="{00000007-3D97-42AA-A7A2-538DF1B77B67}"/>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Equity</c:v>
                </c:pt>
                <c:pt idx="1">
                  <c:v>Debt</c:v>
                </c:pt>
                <c:pt idx="2">
                  <c:v>Hybrid</c:v>
                </c:pt>
                <c:pt idx="3">
                  <c:v>Alternate</c:v>
                </c:pt>
                <c:pt idx="4">
                  <c:v>Liquid Equivalent</c:v>
                </c:pt>
              </c:strCache>
            </c:strRef>
          </c:cat>
          <c:val>
            <c:numRef>
              <c:f>Sheet1!$B$2:$B$6</c:f>
              <c:numCache>
                <c:formatCode>0.00%</c:formatCode>
                <c:ptCount val="5"/>
                <c:pt idx="0">
                  <c:v>0.64410000000000001</c:v>
                </c:pt>
                <c:pt idx="1">
                  <c:v>9.5799999999999996E-2</c:v>
                </c:pt>
                <c:pt idx="2">
                  <c:v>0.17380000000000001</c:v>
                </c:pt>
                <c:pt idx="3">
                  <c:v>2.7400000000000001E-2</c:v>
                </c:pt>
                <c:pt idx="4">
                  <c:v>5.8999999999999997E-2</c:v>
                </c:pt>
              </c:numCache>
            </c:numRef>
          </c:val>
          <c:extLst>
            <c:ext xmlns:c16="http://schemas.microsoft.com/office/drawing/2014/chart" uri="{C3380CC4-5D6E-409C-BE32-E72D297353CC}">
              <c16:uniqueId val="{00000000-3D97-42AA-A7A2-538DF1B77B67}"/>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IN" b="1" dirty="0">
                <a:latin typeface="Arial" panose="020B0604020202020204" pitchFamily="34" charset="0"/>
                <a:cs typeface="Arial" panose="020B0604020202020204" pitchFamily="34" charset="0"/>
              </a:rPr>
              <a:t>Current Vs IPS Allocation</a:t>
            </a:r>
          </a:p>
        </c:rich>
      </c:tx>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barChart>
        <c:barDir val="col"/>
        <c:grouping val="clustered"/>
        <c:varyColors val="0"/>
        <c:ser>
          <c:idx val="0"/>
          <c:order val="0"/>
          <c:tx>
            <c:strRef>
              <c:f>Sheet1!$B$1</c:f>
              <c:strCache>
                <c:ptCount val="1"/>
                <c:pt idx="0">
                  <c:v>Current Allocation</c:v>
                </c:pt>
              </c:strCache>
            </c:strRef>
          </c:tx>
          <c:spPr>
            <a:solidFill>
              <a:srgbClr val="64B8A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Net Equity Exposure</c:v>
                </c:pt>
                <c:pt idx="1">
                  <c:v>Net Debt Exposure</c:v>
                </c:pt>
              </c:strCache>
            </c:strRef>
          </c:cat>
          <c:val>
            <c:numRef>
              <c:f>Sheet1!$B$2:$B$3</c:f>
              <c:numCache>
                <c:formatCode>0.00%</c:formatCode>
                <c:ptCount val="2"/>
                <c:pt idx="0">
                  <c:v>0.70930000000000004</c:v>
                </c:pt>
                <c:pt idx="1">
                  <c:v>0.29070000000000001</c:v>
                </c:pt>
              </c:numCache>
            </c:numRef>
          </c:val>
          <c:extLst>
            <c:ext xmlns:c16="http://schemas.microsoft.com/office/drawing/2014/chart" uri="{C3380CC4-5D6E-409C-BE32-E72D297353CC}">
              <c16:uniqueId val="{00000000-3AB3-43E9-A8F9-9B5B1AA8171E}"/>
            </c:ext>
          </c:extLst>
        </c:ser>
        <c:ser>
          <c:idx val="1"/>
          <c:order val="1"/>
          <c:tx>
            <c:strRef>
              <c:f>Sheet1!$C$1</c:f>
              <c:strCache>
                <c:ptCount val="1"/>
                <c:pt idx="0">
                  <c:v>Strategic Allocation</c:v>
                </c:pt>
              </c:strCache>
            </c:strRef>
          </c:tx>
          <c:spPr>
            <a:solidFill>
              <a:srgbClr val="08479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Net Equity Exposure</c:v>
                </c:pt>
                <c:pt idx="1">
                  <c:v>Net Debt Exposure</c:v>
                </c:pt>
              </c:strCache>
            </c:strRef>
          </c:cat>
          <c:val>
            <c:numRef>
              <c:f>Sheet1!$C$2:$C$3</c:f>
              <c:numCache>
                <c:formatCode>0.00%</c:formatCode>
                <c:ptCount val="2"/>
                <c:pt idx="0">
                  <c:v>0.7</c:v>
                </c:pt>
                <c:pt idx="1">
                  <c:v>0.3</c:v>
                </c:pt>
              </c:numCache>
            </c:numRef>
          </c:val>
          <c:extLst>
            <c:ext xmlns:c16="http://schemas.microsoft.com/office/drawing/2014/chart" uri="{C3380CC4-5D6E-409C-BE32-E72D297353CC}">
              <c16:uniqueId val="{00000001-3AB3-43E9-A8F9-9B5B1AA8171E}"/>
            </c:ext>
          </c:extLst>
        </c:ser>
        <c:ser>
          <c:idx val="2"/>
          <c:order val="2"/>
          <c:tx>
            <c:strRef>
              <c:f>Sheet1!$D$1</c:f>
              <c:strCache>
                <c:ptCount val="1"/>
                <c:pt idx="0">
                  <c:v>Deviation (%)</c:v>
                </c:pt>
              </c:strCache>
            </c:strRef>
          </c:tx>
          <c:spPr>
            <a:solidFill>
              <a:schemeClr val="accent1">
                <a:shade val="65000"/>
              </a:schemeClr>
            </a:solidFill>
            <a:ln>
              <a:noFill/>
            </a:ln>
            <a:effectLst/>
          </c:spPr>
          <c:invertIfNegative val="0"/>
          <c:dLbls>
            <c:dLbl>
              <c:idx val="0"/>
              <c:layout>
                <c:manualLayout>
                  <c:x val="4.0983606557377051E-3"/>
                  <c:y val="7.031249567467423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AB3-43E9-A8F9-9B5B1AA8171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Net Equity Exposure</c:v>
                </c:pt>
                <c:pt idx="1">
                  <c:v>Net Debt Exposure</c:v>
                </c:pt>
              </c:strCache>
            </c:strRef>
          </c:cat>
          <c:val>
            <c:numRef>
              <c:f>Sheet1!$D$2:$D$3</c:f>
              <c:numCache>
                <c:formatCode>0.00%</c:formatCode>
                <c:ptCount val="2"/>
                <c:pt idx="0">
                  <c:v>-9.2999999999999992E-3</c:v>
                </c:pt>
                <c:pt idx="1">
                  <c:v>9.2999999999999992E-3</c:v>
                </c:pt>
              </c:numCache>
            </c:numRef>
          </c:val>
          <c:extLst>
            <c:ext xmlns:c16="http://schemas.microsoft.com/office/drawing/2014/chart" uri="{C3380CC4-5D6E-409C-BE32-E72D297353CC}">
              <c16:uniqueId val="{00000004-3AB3-43E9-A8F9-9B5B1AA8171E}"/>
            </c:ext>
          </c:extLst>
        </c:ser>
        <c:dLbls>
          <c:dLblPos val="outEnd"/>
          <c:showLegendKey val="0"/>
          <c:showVal val="1"/>
          <c:showCatName val="0"/>
          <c:showSerName val="0"/>
          <c:showPercent val="0"/>
          <c:showBubbleSize val="0"/>
        </c:dLbls>
        <c:gapWidth val="219"/>
        <c:overlap val="-27"/>
        <c:axId val="1072386303"/>
        <c:axId val="1072389183"/>
      </c:barChart>
      <c:catAx>
        <c:axId val="10723863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72389183"/>
        <c:crosses val="autoZero"/>
        <c:auto val="1"/>
        <c:lblAlgn val="ctr"/>
        <c:lblOffset val="100"/>
        <c:noMultiLvlLbl val="0"/>
      </c:catAx>
      <c:valAx>
        <c:axId val="1072389183"/>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723863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9566839999372687"/>
          <c:y val="0.11294068306224332"/>
          <c:w val="0.62837583870872671"/>
          <c:h val="0.76102968571054652"/>
        </c:manualLayout>
      </c:layout>
      <c:pieChart>
        <c:varyColors val="1"/>
        <c:ser>
          <c:idx val="0"/>
          <c:order val="0"/>
          <c:tx>
            <c:strRef>
              <c:f>Sheet1!$B$1</c:f>
              <c:strCache>
                <c:ptCount val="1"/>
                <c:pt idx="0">
                  <c:v>% Assets2</c:v>
                </c:pt>
              </c:strCache>
            </c:strRef>
          </c:tx>
          <c:dPt>
            <c:idx val="0"/>
            <c:bubble3D val="0"/>
            <c:spPr>
              <a:solidFill>
                <a:schemeClr val="accent4">
                  <a:tint val="54000"/>
                </a:schemeClr>
              </a:solidFill>
              <a:ln w="19050">
                <a:solidFill>
                  <a:schemeClr val="lt1"/>
                </a:solidFill>
              </a:ln>
              <a:effectLst/>
            </c:spPr>
            <c:extLst>
              <c:ext xmlns:c16="http://schemas.microsoft.com/office/drawing/2014/chart" uri="{C3380CC4-5D6E-409C-BE32-E72D297353CC}">
                <c16:uniqueId val="{00000001-78CE-477C-BD3D-EB581547388D}"/>
              </c:ext>
            </c:extLst>
          </c:dPt>
          <c:dPt>
            <c:idx val="1"/>
            <c:bubble3D val="0"/>
            <c:spPr>
              <a:solidFill>
                <a:schemeClr val="accent4">
                  <a:tint val="77000"/>
                </a:schemeClr>
              </a:solidFill>
              <a:ln w="19050">
                <a:solidFill>
                  <a:schemeClr val="lt1"/>
                </a:solidFill>
              </a:ln>
              <a:effectLst/>
            </c:spPr>
            <c:extLst>
              <c:ext xmlns:c16="http://schemas.microsoft.com/office/drawing/2014/chart" uri="{C3380CC4-5D6E-409C-BE32-E72D297353CC}">
                <c16:uniqueId val="{00000003-78CE-477C-BD3D-EB581547388D}"/>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3-AF0D-4981-8390-444FBAD53DD7}"/>
              </c:ext>
            </c:extLst>
          </c:dPt>
          <c:dPt>
            <c:idx val="3"/>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4-AF0D-4981-8390-444FBAD53DD7}"/>
              </c:ext>
            </c:extLst>
          </c:dPt>
          <c:dPt>
            <c:idx val="4"/>
            <c:bubble3D val="0"/>
            <c:spPr>
              <a:solidFill>
                <a:schemeClr val="accent4">
                  <a:shade val="53000"/>
                </a:schemeClr>
              </a:solidFill>
              <a:ln w="19050">
                <a:solidFill>
                  <a:schemeClr val="lt1"/>
                </a:solidFill>
              </a:ln>
              <a:effectLst/>
            </c:spPr>
            <c:extLst>
              <c:ext xmlns:c16="http://schemas.microsoft.com/office/drawing/2014/chart" uri="{C3380CC4-5D6E-409C-BE32-E72D297353CC}">
                <c16:uniqueId val="{00000005-AF0D-4981-8390-444FBAD53DD7}"/>
              </c:ext>
            </c:extLst>
          </c:dPt>
          <c:dLbls>
            <c:dLbl>
              <c:idx val="0"/>
              <c:layout>
                <c:manualLayout>
                  <c:x val="2.6264446091621211E-2"/>
                  <c:y val="-9.7193122176451017E-17"/>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8CE-477C-BD3D-EB581547388D}"/>
                </c:ext>
              </c:extLst>
            </c:dLbl>
            <c:dLbl>
              <c:idx val="1"/>
              <c:layout>
                <c:manualLayout>
                  <c:x val="-1.3132223045810607E-2"/>
                  <c:y val="6.0967299111079662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8CE-477C-BD3D-EB581547388D}"/>
                </c:ext>
              </c:extLst>
            </c:dLbl>
            <c:dLbl>
              <c:idx val="2"/>
              <c:layout>
                <c:manualLayout>
                  <c:x val="-2.1887038409684343E-2"/>
                  <c:y val="-1.7346354996657338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F0D-4981-8390-444FBAD53DD7}"/>
                </c:ext>
              </c:extLst>
            </c:dLbl>
            <c:dLbl>
              <c:idx val="3"/>
              <c:layout>
                <c:manualLayout>
                  <c:x val="-6.5661115229053033E-2"/>
                  <c:y val="3.1163035240601662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F0D-4981-8390-444FBAD53DD7}"/>
                </c:ext>
              </c:extLst>
            </c:dLbl>
            <c:dLbl>
              <c:idx val="4"/>
              <c:layout>
                <c:manualLayout>
                  <c:x val="-3.0641853773558079E-2"/>
                  <c:y val="-1.3959653882736159E-2"/>
                </c:manualLayout>
              </c:layout>
              <c:dLblPos val="bestFi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F0D-4981-8390-444FBAD53DD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pPr>
                <a:endParaRPr lang="en-US"/>
              </a:p>
            </c:txPr>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Large Cap</c:v>
                </c:pt>
                <c:pt idx="1">
                  <c:v>Large-Mid Cap</c:v>
                </c:pt>
                <c:pt idx="2">
                  <c:v>Multicap</c:v>
                </c:pt>
                <c:pt idx="3">
                  <c:v>Mid-Small Cap</c:v>
                </c:pt>
                <c:pt idx="4">
                  <c:v>Small Cap</c:v>
                </c:pt>
              </c:strCache>
            </c:strRef>
          </c:cat>
          <c:val>
            <c:numRef>
              <c:f>Sheet1!$B$2:$B$6</c:f>
              <c:numCache>
                <c:formatCode>0.00%</c:formatCode>
                <c:ptCount val="5"/>
                <c:pt idx="0">
                  <c:v>0.64410000000000001</c:v>
                </c:pt>
                <c:pt idx="1">
                  <c:v>9.5799999999999996E-2</c:v>
                </c:pt>
                <c:pt idx="2">
                  <c:v>0.17380000000000001</c:v>
                </c:pt>
                <c:pt idx="3">
                  <c:v>2.7400000000000001E-2</c:v>
                </c:pt>
                <c:pt idx="4">
                  <c:v>5.8999999999999997E-2</c:v>
                </c:pt>
              </c:numCache>
            </c:numRef>
          </c:val>
          <c:extLst>
            <c:ext xmlns:c16="http://schemas.microsoft.com/office/drawing/2014/chart" uri="{C3380CC4-5D6E-409C-BE32-E72D297353CC}">
              <c16:uniqueId val="{00000000-AF0D-4981-8390-444FBAD53DD7}"/>
            </c:ext>
          </c:extLst>
        </c:ser>
        <c:dLbls>
          <c:dLblPos val="outEnd"/>
          <c:showLegendKey val="0"/>
          <c:showVal val="1"/>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7422129972329958"/>
          <c:y val="0.17053411477779781"/>
          <c:w val="0.59054880392110487"/>
          <c:h val="0.73484763488285687"/>
        </c:manualLayout>
      </c:layout>
      <c:doughnutChart>
        <c:varyColors val="1"/>
        <c:ser>
          <c:idx val="0"/>
          <c:order val="0"/>
          <c:tx>
            <c:strRef>
              <c:f>Sheet1!$B$1</c:f>
              <c:strCache>
                <c:ptCount val="1"/>
                <c:pt idx="0">
                  <c:v>Portfolio</c:v>
                </c:pt>
              </c:strCache>
            </c:strRef>
          </c:tx>
          <c:dPt>
            <c:idx val="0"/>
            <c:bubble3D val="0"/>
            <c:spPr>
              <a:solidFill>
                <a:schemeClr val="accent4">
                  <a:tint val="77000"/>
                </a:schemeClr>
              </a:solidFill>
              <a:ln w="19050">
                <a:solidFill>
                  <a:schemeClr val="lt1"/>
                </a:solidFill>
              </a:ln>
              <a:effectLst/>
            </c:spPr>
            <c:extLst>
              <c:ext xmlns:c16="http://schemas.microsoft.com/office/drawing/2014/chart" uri="{C3380CC4-5D6E-409C-BE32-E72D297353CC}">
                <c16:uniqueId val="{00000002-D8C3-4A1D-ABEC-7019BA092C9E}"/>
              </c:ext>
            </c:extLst>
          </c:dPt>
          <c:dPt>
            <c:idx val="1"/>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1-D8C3-4A1D-ABEC-7019BA092C9E}"/>
              </c:ext>
            </c:extLst>
          </c:dPt>
          <c:dLbls>
            <c:dLbl>
              <c:idx val="0"/>
              <c:layout>
                <c:manualLayout>
                  <c:x val="0.3066027779637901"/>
                  <c:y val="8.3669771446248473E-2"/>
                </c:manualLayout>
              </c:layout>
              <c:showLegendKey val="0"/>
              <c:showVal val="1"/>
              <c:showCatName val="1"/>
              <c:showSerName val="0"/>
              <c:showPercent val="0"/>
              <c:showBubbleSize val="0"/>
              <c:extLst>
                <c:ext xmlns:c15="http://schemas.microsoft.com/office/drawing/2012/chart" uri="{CE6537A1-D6FC-4f65-9D91-7224C49458BB}">
                  <c15:layout>
                    <c:manualLayout>
                      <c:w val="0.27388665777835586"/>
                      <c:h val="0.10783363436050425"/>
                    </c:manualLayout>
                  </c15:layout>
                </c:ext>
                <c:ext xmlns:c16="http://schemas.microsoft.com/office/drawing/2014/chart" uri="{C3380CC4-5D6E-409C-BE32-E72D297353CC}">
                  <c16:uniqueId val="{00000002-D8C3-4A1D-ABEC-7019BA092C9E}"/>
                </c:ext>
              </c:extLst>
            </c:dLbl>
            <c:dLbl>
              <c:idx val="1"/>
              <c:layout>
                <c:manualLayout>
                  <c:x val="-0.21415966662922145"/>
                  <c:y val="-0.14420117290240467"/>
                </c:manualLayout>
              </c:layout>
              <c:showLegendKey val="0"/>
              <c:showVal val="1"/>
              <c:showCatName val="1"/>
              <c:showSerName val="0"/>
              <c:showPercent val="0"/>
              <c:showBubbleSize val="0"/>
              <c:extLst>
                <c:ext xmlns:c15="http://schemas.microsoft.com/office/drawing/2012/chart" uri="{CE6537A1-D6FC-4f65-9D91-7224C49458BB}">
                  <c15:layout>
                    <c:manualLayout>
                      <c:w val="0.29207093679585011"/>
                      <c:h val="0.10783354178294782"/>
                    </c:manualLayout>
                  </c15:layout>
                </c:ext>
                <c:ext xmlns:c16="http://schemas.microsoft.com/office/drawing/2014/chart" uri="{C3380CC4-5D6E-409C-BE32-E72D297353CC}">
                  <c16:uniqueId val="{00000001-D8C3-4A1D-ABEC-7019BA092C9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 of Equity Portfolio Outperforming</c:v>
                </c:pt>
                <c:pt idx="1">
                  <c:v>% of Equity Portfolio Underperforming</c:v>
                </c:pt>
              </c:strCache>
            </c:strRef>
          </c:cat>
          <c:val>
            <c:numRef>
              <c:f>Sheet1!$B$2:$B$3</c:f>
              <c:numCache>
                <c:formatCode>0%</c:formatCode>
                <c:ptCount val="2"/>
                <c:pt idx="0">
                  <c:v>0.88</c:v>
                </c:pt>
                <c:pt idx="1">
                  <c:v>0.12</c:v>
                </c:pt>
              </c:numCache>
            </c:numRef>
          </c:val>
          <c:extLst>
            <c:ext xmlns:c16="http://schemas.microsoft.com/office/drawing/2014/chart" uri="{C3380CC4-5D6E-409C-BE32-E72D297353CC}">
              <c16:uniqueId val="{00000000-D8C3-4A1D-ABEC-7019BA092C9E}"/>
            </c:ext>
          </c:extLst>
        </c:ser>
        <c:dLbls>
          <c:showLegendKey val="0"/>
          <c:showVal val="1"/>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7422129972329958"/>
          <c:y val="0.17053411477779781"/>
          <c:w val="0.59054880392110487"/>
          <c:h val="0.73484763488285687"/>
        </c:manualLayout>
      </c:layout>
      <c:doughnutChart>
        <c:varyColors val="1"/>
        <c:ser>
          <c:idx val="0"/>
          <c:order val="0"/>
          <c:tx>
            <c:strRef>
              <c:f>Sheet1!$B$1</c:f>
              <c:strCache>
                <c:ptCount val="1"/>
                <c:pt idx="0">
                  <c:v>Portfolio</c:v>
                </c:pt>
              </c:strCache>
            </c:strRef>
          </c:tx>
          <c:dPt>
            <c:idx val="0"/>
            <c:bubble3D val="0"/>
            <c:spPr>
              <a:solidFill>
                <a:schemeClr val="accent4">
                  <a:tint val="77000"/>
                </a:schemeClr>
              </a:solidFill>
              <a:ln w="19050">
                <a:solidFill>
                  <a:schemeClr val="lt1"/>
                </a:solidFill>
              </a:ln>
              <a:effectLst/>
            </c:spPr>
            <c:extLst>
              <c:ext xmlns:c16="http://schemas.microsoft.com/office/drawing/2014/chart" uri="{C3380CC4-5D6E-409C-BE32-E72D297353CC}">
                <c16:uniqueId val="{00000001-D1E5-440B-BF5E-16ED0352FC0E}"/>
              </c:ext>
            </c:extLst>
          </c:dPt>
          <c:dPt>
            <c:idx val="1"/>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3-D1E5-440B-BF5E-16ED0352FC0E}"/>
              </c:ext>
            </c:extLst>
          </c:dPt>
          <c:dLbls>
            <c:dLbl>
              <c:idx val="0"/>
              <c:layout>
                <c:manualLayout>
                  <c:x val="0.3066027779637901"/>
                  <c:y val="8.3669771446248473E-2"/>
                </c:manualLayout>
              </c:layout>
              <c:showLegendKey val="0"/>
              <c:showVal val="1"/>
              <c:showCatName val="1"/>
              <c:showSerName val="0"/>
              <c:showPercent val="0"/>
              <c:showBubbleSize val="0"/>
              <c:extLst>
                <c:ext xmlns:c15="http://schemas.microsoft.com/office/drawing/2012/chart" uri="{CE6537A1-D6FC-4f65-9D91-7224C49458BB}">
                  <c15:layout>
                    <c:manualLayout>
                      <c:w val="0.27388665777835586"/>
                      <c:h val="0.10783363436050425"/>
                    </c:manualLayout>
                  </c15:layout>
                </c:ext>
                <c:ext xmlns:c16="http://schemas.microsoft.com/office/drawing/2014/chart" uri="{C3380CC4-5D6E-409C-BE32-E72D297353CC}">
                  <c16:uniqueId val="{00000001-D1E5-440B-BF5E-16ED0352FC0E}"/>
                </c:ext>
              </c:extLst>
            </c:dLbl>
            <c:dLbl>
              <c:idx val="1"/>
              <c:layout>
                <c:manualLayout>
                  <c:x val="-0.21181318214336392"/>
                  <c:y val="-0.15004085478228563"/>
                </c:manualLayout>
              </c:layout>
              <c:showLegendKey val="0"/>
              <c:showVal val="1"/>
              <c:showCatName val="1"/>
              <c:showSerName val="0"/>
              <c:showPercent val="0"/>
              <c:showBubbleSize val="0"/>
              <c:extLst>
                <c:ext xmlns:c15="http://schemas.microsoft.com/office/drawing/2012/chart" uri="{CE6537A1-D6FC-4f65-9D91-7224C49458BB}">
                  <c15:layout>
                    <c:manualLayout>
                      <c:w val="0.29207093679585011"/>
                      <c:h val="0.10783354178294782"/>
                    </c:manualLayout>
                  </c15:layout>
                </c:ext>
                <c:ext xmlns:c16="http://schemas.microsoft.com/office/drawing/2014/chart" uri="{C3380CC4-5D6E-409C-BE32-E72D297353CC}">
                  <c16:uniqueId val="{00000003-D1E5-440B-BF5E-16ED0352FC0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 of Debt Portfolio Outperforming</c:v>
                </c:pt>
                <c:pt idx="1">
                  <c:v>% of Debt Portfolio Underperforming</c:v>
                </c:pt>
              </c:strCache>
            </c:strRef>
          </c:cat>
          <c:val>
            <c:numRef>
              <c:f>Sheet1!$B$2:$B$3</c:f>
              <c:numCache>
                <c:formatCode>0%</c:formatCode>
                <c:ptCount val="2"/>
                <c:pt idx="0">
                  <c:v>0.88</c:v>
                </c:pt>
                <c:pt idx="1">
                  <c:v>0.12</c:v>
                </c:pt>
              </c:numCache>
            </c:numRef>
          </c:val>
          <c:extLst>
            <c:ext xmlns:c16="http://schemas.microsoft.com/office/drawing/2014/chart" uri="{C3380CC4-5D6E-409C-BE32-E72D297353CC}">
              <c16:uniqueId val="{00000004-D1E5-440B-BF5E-16ED0352FC0E}"/>
            </c:ext>
          </c:extLst>
        </c:ser>
        <c:dLbls>
          <c:showLegendKey val="0"/>
          <c:showVal val="1"/>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7422129972329958"/>
          <c:y val="0.17053411477779781"/>
          <c:w val="0.59054880392110487"/>
          <c:h val="0.73484763488285687"/>
        </c:manualLayout>
      </c:layout>
      <c:doughnutChart>
        <c:varyColors val="1"/>
        <c:ser>
          <c:idx val="0"/>
          <c:order val="0"/>
          <c:tx>
            <c:strRef>
              <c:f>Sheet1!$B$1</c:f>
              <c:strCache>
                <c:ptCount val="1"/>
                <c:pt idx="0">
                  <c:v>Portfolio</c:v>
                </c:pt>
              </c:strCache>
            </c:strRef>
          </c:tx>
          <c:dPt>
            <c:idx val="0"/>
            <c:bubble3D val="0"/>
            <c:spPr>
              <a:solidFill>
                <a:schemeClr val="accent4">
                  <a:tint val="77000"/>
                </a:schemeClr>
              </a:solidFill>
              <a:ln w="19050">
                <a:solidFill>
                  <a:schemeClr val="lt1"/>
                </a:solidFill>
              </a:ln>
              <a:effectLst/>
            </c:spPr>
            <c:extLst>
              <c:ext xmlns:c16="http://schemas.microsoft.com/office/drawing/2014/chart" uri="{C3380CC4-5D6E-409C-BE32-E72D297353CC}">
                <c16:uniqueId val="{00000001-28C4-408B-87A4-EC942C3562A9}"/>
              </c:ext>
            </c:extLst>
          </c:dPt>
          <c:dPt>
            <c:idx val="1"/>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3-28C4-408B-87A4-EC942C3562A9}"/>
              </c:ext>
            </c:extLst>
          </c:dPt>
          <c:dLbls>
            <c:dLbl>
              <c:idx val="0"/>
              <c:layout>
                <c:manualLayout>
                  <c:x val="0.3066027779637901"/>
                  <c:y val="8.3669771446248473E-2"/>
                </c:manualLayout>
              </c:layout>
              <c:showLegendKey val="0"/>
              <c:showVal val="1"/>
              <c:showCatName val="1"/>
              <c:showSerName val="0"/>
              <c:showPercent val="0"/>
              <c:showBubbleSize val="0"/>
              <c:extLst>
                <c:ext xmlns:c15="http://schemas.microsoft.com/office/drawing/2012/chart" uri="{CE6537A1-D6FC-4f65-9D91-7224C49458BB}">
                  <c15:layout>
                    <c:manualLayout>
                      <c:w val="0.27388665777835586"/>
                      <c:h val="0.10783363436050425"/>
                    </c:manualLayout>
                  </c15:layout>
                </c:ext>
                <c:ext xmlns:c16="http://schemas.microsoft.com/office/drawing/2014/chart" uri="{C3380CC4-5D6E-409C-BE32-E72D297353CC}">
                  <c16:uniqueId val="{00000001-28C4-408B-87A4-EC942C3562A9}"/>
                </c:ext>
              </c:extLst>
            </c:dLbl>
            <c:dLbl>
              <c:idx val="1"/>
              <c:layout>
                <c:manualLayout>
                  <c:x val="-0.21181318214336392"/>
                  <c:y val="-0.15004085478228563"/>
                </c:manualLayout>
              </c:layout>
              <c:showLegendKey val="0"/>
              <c:showVal val="1"/>
              <c:showCatName val="1"/>
              <c:showSerName val="0"/>
              <c:showPercent val="0"/>
              <c:showBubbleSize val="0"/>
              <c:extLst>
                <c:ext xmlns:c15="http://schemas.microsoft.com/office/drawing/2012/chart" uri="{CE6537A1-D6FC-4f65-9D91-7224C49458BB}">
                  <c15:layout>
                    <c:manualLayout>
                      <c:w val="0.29207093679585011"/>
                      <c:h val="0.10783354178294782"/>
                    </c:manualLayout>
                  </c15:layout>
                </c:ext>
                <c:ext xmlns:c16="http://schemas.microsoft.com/office/drawing/2014/chart" uri="{C3380CC4-5D6E-409C-BE32-E72D297353CC}">
                  <c16:uniqueId val="{00000003-28C4-408B-87A4-EC942C3562A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 of Hybrid Portfolio Outperforming</c:v>
                </c:pt>
                <c:pt idx="1">
                  <c:v>% of Hybrid Portfolio Underperfroming</c:v>
                </c:pt>
              </c:strCache>
            </c:strRef>
          </c:cat>
          <c:val>
            <c:numRef>
              <c:f>Sheet1!$B$2:$B$3</c:f>
              <c:numCache>
                <c:formatCode>0%</c:formatCode>
                <c:ptCount val="2"/>
                <c:pt idx="0">
                  <c:v>0.88</c:v>
                </c:pt>
                <c:pt idx="1">
                  <c:v>0.12</c:v>
                </c:pt>
              </c:numCache>
            </c:numRef>
          </c:val>
          <c:extLst>
            <c:ext xmlns:c16="http://schemas.microsoft.com/office/drawing/2014/chart" uri="{C3380CC4-5D6E-409C-BE32-E72D297353CC}">
              <c16:uniqueId val="{00000004-28C4-408B-87A4-EC942C3562A9}"/>
            </c:ext>
          </c:extLst>
        </c:ser>
        <c:dLbls>
          <c:showLegendKey val="0"/>
          <c:showVal val="1"/>
          <c:showCatName val="0"/>
          <c:showSerName val="0"/>
          <c:showPercent val="0"/>
          <c:showBubbleSize val="0"/>
          <c:showLeaderLines val="1"/>
        </c:dLbls>
        <c:firstSliceAng val="0"/>
        <c:holeSize val="6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4565719698028015"/>
          <c:y val="0.18059091125082066"/>
          <c:w val="0.62230356363039641"/>
          <c:h val="0.78700516977037127"/>
        </c:manualLayout>
      </c:layout>
      <c:doughnutChart>
        <c:varyColors val="1"/>
        <c:ser>
          <c:idx val="0"/>
          <c:order val="0"/>
          <c:tx>
            <c:strRef>
              <c:f>Sheet1!$B$1</c:f>
              <c:strCache>
                <c:ptCount val="1"/>
                <c:pt idx="0">
                  <c:v>% Assets</c:v>
                </c:pt>
              </c:strCache>
            </c:strRef>
          </c:tx>
          <c:dPt>
            <c:idx val="0"/>
            <c:bubble3D val="0"/>
            <c:spPr>
              <a:solidFill>
                <a:schemeClr val="accent4">
                  <a:tint val="54000"/>
                </a:schemeClr>
              </a:solidFill>
              <a:ln w="19050">
                <a:solidFill>
                  <a:schemeClr val="lt1"/>
                </a:solidFill>
              </a:ln>
              <a:effectLst/>
            </c:spPr>
            <c:extLst>
              <c:ext xmlns:c16="http://schemas.microsoft.com/office/drawing/2014/chart" uri="{C3380CC4-5D6E-409C-BE32-E72D297353CC}">
                <c16:uniqueId val="{00000003-3D97-42AA-A7A2-538DF1B77B67}"/>
              </c:ext>
            </c:extLst>
          </c:dPt>
          <c:dPt>
            <c:idx val="1"/>
            <c:bubble3D val="0"/>
            <c:spPr>
              <a:solidFill>
                <a:schemeClr val="accent4">
                  <a:tint val="77000"/>
                </a:schemeClr>
              </a:solidFill>
              <a:ln w="19050">
                <a:solidFill>
                  <a:schemeClr val="lt1"/>
                </a:solidFill>
              </a:ln>
              <a:effectLst/>
            </c:spPr>
            <c:extLst>
              <c:ext xmlns:c16="http://schemas.microsoft.com/office/drawing/2014/chart" uri="{C3380CC4-5D6E-409C-BE32-E72D297353CC}">
                <c16:uniqueId val="{00000004-3D97-42AA-A7A2-538DF1B77B67}"/>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3D97-42AA-A7A2-538DF1B77B67}"/>
              </c:ext>
            </c:extLst>
          </c:dPt>
          <c:dPt>
            <c:idx val="3"/>
            <c:bubble3D val="0"/>
            <c:spPr>
              <a:solidFill>
                <a:schemeClr val="accent4">
                  <a:shade val="76000"/>
                </a:schemeClr>
              </a:solidFill>
              <a:ln w="19050">
                <a:solidFill>
                  <a:schemeClr val="lt1"/>
                </a:solidFill>
              </a:ln>
              <a:effectLst/>
            </c:spPr>
            <c:extLst>
              <c:ext xmlns:c16="http://schemas.microsoft.com/office/drawing/2014/chart" uri="{C3380CC4-5D6E-409C-BE32-E72D297353CC}">
                <c16:uniqueId val="{00000006-3D97-42AA-A7A2-538DF1B77B67}"/>
              </c:ext>
            </c:extLst>
          </c:dPt>
          <c:dPt>
            <c:idx val="4"/>
            <c:bubble3D val="0"/>
            <c:spPr>
              <a:solidFill>
                <a:schemeClr val="accent4">
                  <a:shade val="53000"/>
                </a:schemeClr>
              </a:solidFill>
              <a:ln w="19050">
                <a:solidFill>
                  <a:schemeClr val="lt1"/>
                </a:solidFill>
              </a:ln>
              <a:effectLst/>
            </c:spPr>
            <c:extLst>
              <c:ext xmlns:c16="http://schemas.microsoft.com/office/drawing/2014/chart" uri="{C3380CC4-5D6E-409C-BE32-E72D297353CC}">
                <c16:uniqueId val="{00000007-3D97-42AA-A7A2-538DF1B77B67}"/>
              </c:ext>
            </c:extLst>
          </c:dPt>
          <c:dLbls>
            <c:dLbl>
              <c:idx val="0"/>
              <c:layout>
                <c:manualLayout>
                  <c:x val="0.13637412770669227"/>
                  <c:y val="0.19756188741712211"/>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D97-42AA-A7A2-538DF1B77B67}"/>
                </c:ext>
              </c:extLst>
            </c:dLbl>
            <c:dLbl>
              <c:idx val="1"/>
              <c:layout>
                <c:manualLayout>
                  <c:x val="-0.17643185309777468"/>
                  <c:y val="0.12385726352252296"/>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D97-42AA-A7A2-538DF1B77B67}"/>
                </c:ext>
              </c:extLst>
            </c:dLbl>
            <c:dLbl>
              <c:idx val="2"/>
              <c:layout>
                <c:manualLayout>
                  <c:x val="-0.19692405158781159"/>
                  <c:y val="2.8124934596813221E-2"/>
                </c:manualLayout>
              </c:layout>
              <c:tx>
                <c:rich>
                  <a:bodyPr/>
                  <a:lstStyle/>
                  <a:p>
                    <a:fld id="{E1C80F6E-3FA9-4099-BEB4-C4B3278EFE26}" type="CATEGORYNAME">
                      <a:rPr lang="en-US"/>
                      <a:pPr/>
                      <a:t>[CATEGORY NAME]</a:t>
                    </a:fld>
                    <a:r>
                      <a:rPr lang="en-US" baseline="0" dirty="0"/>
                      <a:t>,</a:t>
                    </a:r>
                  </a:p>
                  <a:p>
                    <a:fld id="{4BEB7960-3820-4B0D-BD13-A92D55C03F8D}" type="VALUE">
                      <a:rPr lang="en-US" baseline="0" smtClean="0"/>
                      <a:pPr/>
                      <a:t>[VALUE]</a:t>
                    </a:fld>
                    <a:endParaRPr lang="en-US"/>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D97-42AA-A7A2-538DF1B77B67}"/>
                </c:ext>
              </c:extLst>
            </c:dLbl>
            <c:dLbl>
              <c:idx val="3"/>
              <c:layout>
                <c:manualLayout>
                  <c:x val="-0.17050537705730096"/>
                  <c:y val="-0.13847633843328125"/>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D97-42AA-A7A2-538DF1B77B67}"/>
                </c:ext>
              </c:extLst>
            </c:dLbl>
            <c:dLbl>
              <c:idx val="4"/>
              <c:layout>
                <c:manualLayout>
                  <c:x val="-0.13980368152729974"/>
                  <c:y val="-0.20127714468859673"/>
                </c:manualLayout>
              </c:layout>
              <c:showLegendKey val="0"/>
              <c:showVal val="1"/>
              <c:showCatName val="1"/>
              <c:showSerName val="0"/>
              <c:showPercent val="0"/>
              <c:showBubbleSize val="0"/>
              <c:extLst>
                <c:ext xmlns:c15="http://schemas.microsoft.com/office/drawing/2012/chart" uri="{CE6537A1-D6FC-4f65-9D91-7224C49458BB}">
                  <c15:layout>
                    <c:manualLayout>
                      <c:w val="0.24836151282151578"/>
                      <c:h val="0.12832315614796427"/>
                    </c:manualLayout>
                  </c15:layout>
                </c:ext>
                <c:ext xmlns:c16="http://schemas.microsoft.com/office/drawing/2014/chart" uri="{C3380CC4-5D6E-409C-BE32-E72D297353CC}">
                  <c16:uniqueId val="{00000007-3D97-42AA-A7A2-538DF1B77B67}"/>
                </c:ext>
              </c:extLst>
            </c:dLbl>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Equity</c:v>
                </c:pt>
                <c:pt idx="1">
                  <c:v>Debt</c:v>
                </c:pt>
                <c:pt idx="2">
                  <c:v>Hybrid</c:v>
                </c:pt>
                <c:pt idx="3">
                  <c:v>Alternate</c:v>
                </c:pt>
                <c:pt idx="4">
                  <c:v>Liquid Equivalent</c:v>
                </c:pt>
              </c:strCache>
            </c:strRef>
          </c:cat>
          <c:val>
            <c:numRef>
              <c:f>Sheet1!$B$2:$B$6</c:f>
              <c:numCache>
                <c:formatCode>0.00%</c:formatCode>
                <c:ptCount val="5"/>
                <c:pt idx="0">
                  <c:v>0.64410000000000001</c:v>
                </c:pt>
                <c:pt idx="1">
                  <c:v>9.5799999999999996E-2</c:v>
                </c:pt>
                <c:pt idx="2">
                  <c:v>0.17380000000000001</c:v>
                </c:pt>
                <c:pt idx="3">
                  <c:v>2.7400000000000001E-2</c:v>
                </c:pt>
                <c:pt idx="4">
                  <c:v>5.8999999999999997E-2</c:v>
                </c:pt>
              </c:numCache>
            </c:numRef>
          </c:val>
          <c:extLst>
            <c:ext xmlns:c16="http://schemas.microsoft.com/office/drawing/2014/chart" uri="{C3380CC4-5D6E-409C-BE32-E72D297353CC}">
              <c16:uniqueId val="{00000000-3D97-42AA-A7A2-538DF1B77B67}"/>
            </c:ext>
          </c:extLst>
        </c:ser>
        <c:dLbls>
          <c:showLegendKey val="0"/>
          <c:showVal val="1"/>
          <c:showCatName val="0"/>
          <c:showSerName val="0"/>
          <c:showPercent val="0"/>
          <c:showBubbleSize val="0"/>
          <c:showLeaderLines val="1"/>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8" b="0" i="0" u="none" strike="noStrike" kern="1200" spc="0" baseline="0" dirty="0">
                <a:solidFill>
                  <a:schemeClr val="tx1"/>
                </a:solidFill>
                <a:latin typeface="Calibri" panose="020F0502020204030204" pitchFamily="34" charset="0"/>
                <a:cs typeface="Calibri" panose="020F0502020204030204" pitchFamily="34" charset="0"/>
              </a:rPr>
              <a:t>Sectoral Allocation</a:t>
            </a:r>
            <a:endParaRPr lang="en-IN" sz="1008" dirty="0">
              <a:solidFill>
                <a:schemeClr val="tx1"/>
              </a:solidFill>
              <a:latin typeface="Calibri" panose="020F0502020204030204" pitchFamily="34" charset="0"/>
              <a:cs typeface="Calibri" panose="020F0502020204030204" pitchFamily="34" charset="0"/>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Automobile &amp; Auto Ancilliary</c:v>
                </c:pt>
                <c:pt idx="1">
                  <c:v>Banks</c:v>
                </c:pt>
                <c:pt idx="2">
                  <c:v>Capital Goods</c:v>
                </c:pt>
                <c:pt idx="3">
                  <c:v>Crude Oil</c:v>
                </c:pt>
                <c:pt idx="4">
                  <c:v>Finance</c:v>
                </c:pt>
                <c:pt idx="5">
                  <c:v>FMCG</c:v>
                </c:pt>
                <c:pt idx="6">
                  <c:v>Hospitality </c:v>
                </c:pt>
                <c:pt idx="7">
                  <c:v>IT</c:v>
                </c:pt>
                <c:pt idx="8">
                  <c:v>Power</c:v>
                </c:pt>
                <c:pt idx="9">
                  <c:v>Retailing</c:v>
                </c:pt>
              </c:strCache>
            </c:strRef>
          </c:cat>
          <c:val>
            <c:numRef>
              <c:f>Sheet1!$B$2:$B$11</c:f>
              <c:numCache>
                <c:formatCode>0.00%</c:formatCode>
                <c:ptCount val="10"/>
                <c:pt idx="0">
                  <c:v>6.3700000000000007E-2</c:v>
                </c:pt>
                <c:pt idx="1">
                  <c:v>0.24709999999999999</c:v>
                </c:pt>
                <c:pt idx="2">
                  <c:v>3.9699999999999999E-2</c:v>
                </c:pt>
                <c:pt idx="3">
                  <c:v>7.9200000000000007E-2</c:v>
                </c:pt>
                <c:pt idx="4">
                  <c:v>6.93E-2</c:v>
                </c:pt>
                <c:pt idx="5">
                  <c:v>5.4100000000000002E-2</c:v>
                </c:pt>
                <c:pt idx="6">
                  <c:v>3.73E-2</c:v>
                </c:pt>
                <c:pt idx="7">
                  <c:v>7.4999999999999997E-2</c:v>
                </c:pt>
                <c:pt idx="8">
                  <c:v>5.4199999999999998E-2</c:v>
                </c:pt>
                <c:pt idx="9">
                  <c:v>4.5100000000000001E-2</c:v>
                </c:pt>
              </c:numCache>
            </c:numRef>
          </c:val>
          <c:extLst>
            <c:ext xmlns:c16="http://schemas.microsoft.com/office/drawing/2014/chart" uri="{C3380CC4-5D6E-409C-BE32-E72D297353CC}">
              <c16:uniqueId val="{00000000-3DD3-4A87-BF50-29FB8B64C099}"/>
            </c:ext>
          </c:extLst>
        </c:ser>
        <c:dLbls>
          <c:dLblPos val="outEnd"/>
          <c:showLegendKey val="0"/>
          <c:showVal val="1"/>
          <c:showCatName val="0"/>
          <c:showSerName val="0"/>
          <c:showPercent val="0"/>
          <c:showBubbleSize val="0"/>
        </c:dLbls>
        <c:gapWidth val="219"/>
        <c:overlap val="-27"/>
        <c:axId val="1420177455"/>
        <c:axId val="1420178415"/>
      </c:barChart>
      <c:catAx>
        <c:axId val="1420177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solidFill>
                <a:latin typeface="+mn-lt"/>
                <a:ea typeface="+mn-ea"/>
                <a:cs typeface="+mn-cs"/>
              </a:defRPr>
            </a:pPr>
            <a:endParaRPr lang="en-US"/>
          </a:p>
        </c:txPr>
        <c:crossAx val="1420178415"/>
        <c:crosses val="autoZero"/>
        <c:auto val="1"/>
        <c:lblAlgn val="ctr"/>
        <c:lblOffset val="100"/>
        <c:noMultiLvlLbl val="0"/>
      </c:catAx>
      <c:valAx>
        <c:axId val="1420178415"/>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420177455"/>
        <c:crosses val="autoZero"/>
        <c:crossBetween val="between"/>
        <c:maj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tx1"/>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FPI Flows</c:v>
                </c:pt>
              </c:strCache>
            </c:strRef>
          </c:tx>
          <c:spPr>
            <a:solidFill>
              <a:srgbClr val="66B6A9"/>
            </a:solidFill>
            <a:ln>
              <a:noFill/>
            </a:ln>
            <a:effectLst/>
          </c:spPr>
          <c:invertIfNegative val="0"/>
          <c:dLbls>
            <c:dLbl>
              <c:idx val="9"/>
              <c:layout>
                <c:manualLayout>
                  <c:x val="-5.9724065412429944E-3"/>
                  <c:y val="2.886395780316644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C74-42FA-A55F-51FD02CF6709}"/>
                </c:ext>
              </c:extLst>
            </c:dLbl>
            <c:dLbl>
              <c:idx val="11"/>
              <c:layout>
                <c:manualLayout>
                  <c:x val="-2.0003423129597015E-16"/>
                  <c:y val="-6.1699954434350735E-4"/>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5E6-4CDC-B94E-C105F3A99D5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CY'14</c:v>
                </c:pt>
                <c:pt idx="1">
                  <c:v>CY'15</c:v>
                </c:pt>
                <c:pt idx="2">
                  <c:v>CY'16</c:v>
                </c:pt>
                <c:pt idx="3">
                  <c:v>CY'17</c:v>
                </c:pt>
                <c:pt idx="4">
                  <c:v>CY'18</c:v>
                </c:pt>
                <c:pt idx="5">
                  <c:v>CY'19</c:v>
                </c:pt>
                <c:pt idx="6">
                  <c:v>CY'20</c:v>
                </c:pt>
                <c:pt idx="7">
                  <c:v>CY'21</c:v>
                </c:pt>
                <c:pt idx="8">
                  <c:v>CY'22</c:v>
                </c:pt>
                <c:pt idx="9">
                  <c:v>CY’23</c:v>
                </c:pt>
                <c:pt idx="10">
                  <c:v>CY’24</c:v>
                </c:pt>
                <c:pt idx="11">
                  <c:v>CY’25 YTD</c:v>
                </c:pt>
              </c:strCache>
            </c:strRef>
          </c:cat>
          <c:val>
            <c:numRef>
              <c:f>Sheet1!$B$2:$B$13</c:f>
              <c:numCache>
                <c:formatCode>#,##0.00</c:formatCode>
                <c:ptCount val="12"/>
                <c:pt idx="0">
                  <c:v>0.97</c:v>
                </c:pt>
                <c:pt idx="1">
                  <c:v>0.18</c:v>
                </c:pt>
                <c:pt idx="2">
                  <c:v>0.21</c:v>
                </c:pt>
                <c:pt idx="3">
                  <c:v>0.51</c:v>
                </c:pt>
                <c:pt idx="4">
                  <c:v>-0.33</c:v>
                </c:pt>
                <c:pt idx="5">
                  <c:v>1.01</c:v>
                </c:pt>
                <c:pt idx="6">
                  <c:v>1.7</c:v>
                </c:pt>
                <c:pt idx="7">
                  <c:v>0.26</c:v>
                </c:pt>
                <c:pt idx="8">
                  <c:v>-1.21</c:v>
                </c:pt>
                <c:pt idx="9">
                  <c:v>1.71</c:v>
                </c:pt>
                <c:pt idx="10">
                  <c:v>4.2700000000000004E-3</c:v>
                </c:pt>
                <c:pt idx="11">
                  <c:v>-0.92869999999999997</c:v>
                </c:pt>
              </c:numCache>
            </c:numRef>
          </c:val>
          <c:extLst>
            <c:ext xmlns:c16="http://schemas.microsoft.com/office/drawing/2014/chart" uri="{C3380CC4-5D6E-409C-BE32-E72D297353CC}">
              <c16:uniqueId val="{00000000-F1E1-4779-9AA4-19EFF5893A0A}"/>
            </c:ext>
          </c:extLst>
        </c:ser>
        <c:ser>
          <c:idx val="1"/>
          <c:order val="1"/>
          <c:tx>
            <c:strRef>
              <c:f>Sheet1!$C$1</c:f>
              <c:strCache>
                <c:ptCount val="1"/>
                <c:pt idx="0">
                  <c:v>DII Flows</c:v>
                </c:pt>
              </c:strCache>
            </c:strRef>
          </c:tx>
          <c:spPr>
            <a:solidFill>
              <a:schemeClr val="bg1">
                <a:lumMod val="85000"/>
              </a:schemeClr>
            </a:solidFill>
            <a:ln>
              <a:noFill/>
            </a:ln>
            <a:effectLst/>
          </c:spPr>
          <c:invertIfNegative val="0"/>
          <c:dLbls>
            <c:dLbl>
              <c:idx val="9"/>
              <c:layout>
                <c:manualLayout>
                  <c:x val="5.3331239072141965E-3"/>
                  <c:y val="-4.144818885483069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1E1-4779-9AA4-19EFF5893A0A}"/>
                </c:ext>
              </c:extLst>
            </c:dLbl>
            <c:dLbl>
              <c:idx val="11"/>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15E6-4CDC-B94E-C105F3A99D5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CY'14</c:v>
                </c:pt>
                <c:pt idx="1">
                  <c:v>CY'15</c:v>
                </c:pt>
                <c:pt idx="2">
                  <c:v>CY'16</c:v>
                </c:pt>
                <c:pt idx="3">
                  <c:v>CY'17</c:v>
                </c:pt>
                <c:pt idx="4">
                  <c:v>CY'18</c:v>
                </c:pt>
                <c:pt idx="5">
                  <c:v>CY'19</c:v>
                </c:pt>
                <c:pt idx="6">
                  <c:v>CY'20</c:v>
                </c:pt>
                <c:pt idx="7">
                  <c:v>CY'21</c:v>
                </c:pt>
                <c:pt idx="8">
                  <c:v>CY'22</c:v>
                </c:pt>
                <c:pt idx="9">
                  <c:v>CY’23</c:v>
                </c:pt>
                <c:pt idx="10">
                  <c:v>CY’24</c:v>
                </c:pt>
                <c:pt idx="11">
                  <c:v>CY’25 YTD</c:v>
                </c:pt>
              </c:strCache>
            </c:strRef>
          </c:cat>
          <c:val>
            <c:numRef>
              <c:f>Sheet1!$C$2:$C$13</c:f>
              <c:numCache>
                <c:formatCode>#,##0.00</c:formatCode>
                <c:ptCount val="12"/>
                <c:pt idx="0">
                  <c:v>-0.28999999999999998</c:v>
                </c:pt>
                <c:pt idx="1">
                  <c:v>0.68</c:v>
                </c:pt>
                <c:pt idx="2">
                  <c:v>0.35</c:v>
                </c:pt>
                <c:pt idx="3">
                  <c:v>0.91</c:v>
                </c:pt>
                <c:pt idx="4">
                  <c:v>1.1000000000000001</c:v>
                </c:pt>
                <c:pt idx="5">
                  <c:v>0.42</c:v>
                </c:pt>
                <c:pt idx="6">
                  <c:v>-0.36</c:v>
                </c:pt>
                <c:pt idx="7">
                  <c:v>0.88</c:v>
                </c:pt>
                <c:pt idx="8">
                  <c:v>2.76</c:v>
                </c:pt>
                <c:pt idx="9">
                  <c:v>1.69</c:v>
                </c:pt>
                <c:pt idx="10">
                  <c:v>5.2743844999999991</c:v>
                </c:pt>
                <c:pt idx="11">
                  <c:v>2.8490145999999998</c:v>
                </c:pt>
              </c:numCache>
            </c:numRef>
          </c:val>
          <c:extLst>
            <c:ext xmlns:c16="http://schemas.microsoft.com/office/drawing/2014/chart" uri="{C3380CC4-5D6E-409C-BE32-E72D297353CC}">
              <c16:uniqueId val="{00000001-F1E1-4779-9AA4-19EFF5893A0A}"/>
            </c:ext>
          </c:extLst>
        </c:ser>
        <c:dLbls>
          <c:showLegendKey val="0"/>
          <c:showVal val="0"/>
          <c:showCatName val="0"/>
          <c:showSerName val="0"/>
          <c:showPercent val="0"/>
          <c:showBubbleSize val="0"/>
        </c:dLbls>
        <c:gapWidth val="219"/>
        <c:overlap val="-27"/>
        <c:axId val="1564293392"/>
        <c:axId val="1564295312"/>
      </c:barChart>
      <c:catAx>
        <c:axId val="156429339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564295312"/>
        <c:crosses val="autoZero"/>
        <c:auto val="1"/>
        <c:lblAlgn val="ctr"/>
        <c:lblOffset val="100"/>
        <c:noMultiLvlLbl val="0"/>
      </c:catAx>
      <c:valAx>
        <c:axId val="1564295312"/>
        <c:scaling>
          <c:orientation val="minMax"/>
        </c:scaling>
        <c:delete val="1"/>
        <c:axPos val="l"/>
        <c:numFmt formatCode="#,##0.00" sourceLinked="1"/>
        <c:majorTickMark val="none"/>
        <c:minorTickMark val="none"/>
        <c:tickLblPos val="nextTo"/>
        <c:crossAx val="15642933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SIP Flows (Crores)</c:v>
                </c:pt>
              </c:strCache>
            </c:strRef>
          </c:tx>
          <c:spPr>
            <a:solidFill>
              <a:srgbClr val="3A5E9C"/>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mmm\-yy</c:formatCode>
                <c:ptCount val="13"/>
                <c:pt idx="0">
                  <c:v>45383</c:v>
                </c:pt>
                <c:pt idx="1">
                  <c:v>45413</c:v>
                </c:pt>
                <c:pt idx="2">
                  <c:v>45444</c:v>
                </c:pt>
                <c:pt idx="3">
                  <c:v>45474</c:v>
                </c:pt>
                <c:pt idx="4">
                  <c:v>45505</c:v>
                </c:pt>
                <c:pt idx="5">
                  <c:v>45536</c:v>
                </c:pt>
                <c:pt idx="6">
                  <c:v>45566</c:v>
                </c:pt>
                <c:pt idx="7">
                  <c:v>45597</c:v>
                </c:pt>
                <c:pt idx="8">
                  <c:v>45627</c:v>
                </c:pt>
                <c:pt idx="9">
                  <c:v>45658</c:v>
                </c:pt>
                <c:pt idx="10">
                  <c:v>45689</c:v>
                </c:pt>
                <c:pt idx="11">
                  <c:v>45717</c:v>
                </c:pt>
                <c:pt idx="12">
                  <c:v>45748</c:v>
                </c:pt>
              </c:numCache>
            </c:numRef>
          </c:cat>
          <c:val>
            <c:numRef>
              <c:f>Sheet1!$B$2:$B$14</c:f>
              <c:numCache>
                <c:formatCode>General</c:formatCode>
                <c:ptCount val="13"/>
                <c:pt idx="0">
                  <c:v>20371</c:v>
                </c:pt>
                <c:pt idx="1">
                  <c:v>20904</c:v>
                </c:pt>
                <c:pt idx="2">
                  <c:v>21262</c:v>
                </c:pt>
                <c:pt idx="3">
                  <c:v>23332</c:v>
                </c:pt>
                <c:pt idx="4">
                  <c:v>23547</c:v>
                </c:pt>
                <c:pt idx="5">
                  <c:v>24509</c:v>
                </c:pt>
                <c:pt idx="6">
                  <c:v>25323</c:v>
                </c:pt>
                <c:pt idx="7">
                  <c:v>25320</c:v>
                </c:pt>
                <c:pt idx="8">
                  <c:v>26459</c:v>
                </c:pt>
                <c:pt idx="9">
                  <c:v>26400</c:v>
                </c:pt>
                <c:pt idx="10">
                  <c:v>25999</c:v>
                </c:pt>
                <c:pt idx="11">
                  <c:v>25926</c:v>
                </c:pt>
                <c:pt idx="12">
                  <c:v>26632</c:v>
                </c:pt>
              </c:numCache>
            </c:numRef>
          </c:val>
          <c:extLst>
            <c:ext xmlns:c16="http://schemas.microsoft.com/office/drawing/2014/chart" uri="{C3380CC4-5D6E-409C-BE32-E72D297353CC}">
              <c16:uniqueId val="{00000000-33F7-4C57-A0E7-AD97E9F60699}"/>
            </c:ext>
          </c:extLst>
        </c:ser>
        <c:dLbls>
          <c:showLegendKey val="0"/>
          <c:showVal val="0"/>
          <c:showCatName val="0"/>
          <c:showSerName val="0"/>
          <c:showPercent val="0"/>
          <c:showBubbleSize val="0"/>
        </c:dLbls>
        <c:gapWidth val="219"/>
        <c:axId val="1202502592"/>
        <c:axId val="1202523712"/>
      </c:barChart>
      <c:lineChart>
        <c:grouping val="standard"/>
        <c:varyColors val="0"/>
        <c:ser>
          <c:idx val="1"/>
          <c:order val="1"/>
          <c:tx>
            <c:strRef>
              <c:f>Sheet1!$C$1</c:f>
              <c:strCache>
                <c:ptCount val="1"/>
                <c:pt idx="0">
                  <c:v>No. of Contributing SIP accounts (Lakhs)</c:v>
                </c:pt>
              </c:strCache>
            </c:strRef>
          </c:tx>
          <c:spPr>
            <a:ln w="28575" cap="rnd">
              <a:solidFill>
                <a:schemeClr val="accent2"/>
              </a:solidFill>
              <a:round/>
            </a:ln>
            <a:effectLst/>
          </c:spPr>
          <c:marker>
            <c:symbol val="none"/>
          </c:marker>
          <c:dLbls>
            <c:numFmt formatCode="#,##0" sourceLinked="0"/>
            <c:spPr>
              <a:solidFill>
                <a:schemeClr val="accent2"/>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mmm\-yy</c:formatCode>
                <c:ptCount val="13"/>
                <c:pt idx="0">
                  <c:v>45383</c:v>
                </c:pt>
                <c:pt idx="1">
                  <c:v>45413</c:v>
                </c:pt>
                <c:pt idx="2">
                  <c:v>45444</c:v>
                </c:pt>
                <c:pt idx="3">
                  <c:v>45474</c:v>
                </c:pt>
                <c:pt idx="4">
                  <c:v>45505</c:v>
                </c:pt>
                <c:pt idx="5">
                  <c:v>45536</c:v>
                </c:pt>
                <c:pt idx="6">
                  <c:v>45566</c:v>
                </c:pt>
                <c:pt idx="7">
                  <c:v>45597</c:v>
                </c:pt>
                <c:pt idx="8">
                  <c:v>45627</c:v>
                </c:pt>
                <c:pt idx="9">
                  <c:v>45658</c:v>
                </c:pt>
                <c:pt idx="10">
                  <c:v>45689</c:v>
                </c:pt>
                <c:pt idx="11">
                  <c:v>45717</c:v>
                </c:pt>
                <c:pt idx="12">
                  <c:v>45748</c:v>
                </c:pt>
              </c:numCache>
            </c:numRef>
          </c:cat>
          <c:val>
            <c:numRef>
              <c:f>Sheet1!$C$2:$C$14</c:f>
              <c:numCache>
                <c:formatCode>General</c:formatCode>
                <c:ptCount val="13"/>
                <c:pt idx="0">
                  <c:v>637.84</c:v>
                </c:pt>
                <c:pt idx="1">
                  <c:v>658.24</c:v>
                </c:pt>
                <c:pt idx="2">
                  <c:v>670.42</c:v>
                </c:pt>
                <c:pt idx="3">
                  <c:v>724.79</c:v>
                </c:pt>
                <c:pt idx="4">
                  <c:v>745.1</c:v>
                </c:pt>
                <c:pt idx="5">
                  <c:v>774.61</c:v>
                </c:pt>
                <c:pt idx="6">
                  <c:v>794.48</c:v>
                </c:pt>
                <c:pt idx="7">
                  <c:v>797.32</c:v>
                </c:pt>
                <c:pt idx="8">
                  <c:v>827.44</c:v>
                </c:pt>
                <c:pt idx="9">
                  <c:v>834.97</c:v>
                </c:pt>
                <c:pt idx="10">
                  <c:v>826.41</c:v>
                </c:pt>
                <c:pt idx="11">
                  <c:v>811.16</c:v>
                </c:pt>
                <c:pt idx="12">
                  <c:v>838.25</c:v>
                </c:pt>
              </c:numCache>
            </c:numRef>
          </c:val>
          <c:smooth val="0"/>
          <c:extLst>
            <c:ext xmlns:c16="http://schemas.microsoft.com/office/drawing/2014/chart" uri="{C3380CC4-5D6E-409C-BE32-E72D297353CC}">
              <c16:uniqueId val="{00000001-33F7-4C57-A0E7-AD97E9F60699}"/>
            </c:ext>
          </c:extLst>
        </c:ser>
        <c:dLbls>
          <c:showLegendKey val="0"/>
          <c:showVal val="0"/>
          <c:showCatName val="0"/>
          <c:showSerName val="0"/>
          <c:showPercent val="0"/>
          <c:showBubbleSize val="0"/>
        </c:dLbls>
        <c:marker val="1"/>
        <c:smooth val="0"/>
        <c:axId val="1202510752"/>
        <c:axId val="1202504032"/>
      </c:lineChart>
      <c:dateAx>
        <c:axId val="1202502592"/>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02523712"/>
        <c:crosses val="autoZero"/>
        <c:auto val="1"/>
        <c:lblOffset val="100"/>
        <c:baseTimeUnit val="months"/>
      </c:dateAx>
      <c:valAx>
        <c:axId val="1202523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02502592"/>
        <c:crosses val="autoZero"/>
        <c:crossBetween val="between"/>
      </c:valAx>
      <c:valAx>
        <c:axId val="1202504032"/>
        <c:scaling>
          <c:orientation val="minMax"/>
          <c:max val="150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02510752"/>
        <c:crosses val="max"/>
        <c:crossBetween val="between"/>
      </c:valAx>
      <c:dateAx>
        <c:axId val="1202510752"/>
        <c:scaling>
          <c:orientation val="minMax"/>
        </c:scaling>
        <c:delete val="1"/>
        <c:axPos val="b"/>
        <c:numFmt formatCode="mmm\-yy" sourceLinked="1"/>
        <c:majorTickMark val="out"/>
        <c:minorTickMark val="none"/>
        <c:tickLblPos val="nextTo"/>
        <c:crossAx val="1202504032"/>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165076649741321"/>
          <c:y val="3.4081310728046307E-2"/>
          <c:w val="0.84102031361378859"/>
          <c:h val="0.93183737854390736"/>
        </c:manualLayout>
      </c:layout>
      <c:scatterChart>
        <c:scatterStyle val="lineMarker"/>
        <c:varyColors val="0"/>
        <c:ser>
          <c:idx val="0"/>
          <c:order val="0"/>
          <c:tx>
            <c:strRef>
              <c:f>Sheet1!$B$1</c:f>
              <c:strCache>
                <c:ptCount val="1"/>
                <c:pt idx="0">
                  <c:v>Current</c:v>
                </c:pt>
              </c:strCache>
            </c:strRef>
          </c:tx>
          <c:spPr>
            <a:ln w="25400" cap="rnd">
              <a:noFill/>
              <a:round/>
            </a:ln>
            <a:effectLst/>
          </c:spPr>
          <c:marker>
            <c:symbol val="circle"/>
            <c:size val="6"/>
            <c:spPr>
              <a:solidFill>
                <a:schemeClr val="lt1"/>
              </a:solidFill>
              <a:ln w="38100">
                <a:solidFill>
                  <a:schemeClr val="accent1">
                    <a:alpha val="60000"/>
                  </a:schemeClr>
                </a:solidFill>
              </a:ln>
              <a:effectLst/>
            </c:spPr>
          </c:marker>
          <c:dLbls>
            <c:dLbl>
              <c:idx val="0"/>
              <c:layout>
                <c:manualLayout>
                  <c:x val="-0.35866834954683063"/>
                  <c:y val="9.5110700523564545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7030A0"/>
                      </a:solidFill>
                      <a:latin typeface="+mn-lt"/>
                      <a:ea typeface="+mn-ea"/>
                      <a:cs typeface="+mn-cs"/>
                    </a:defRPr>
                  </a:pPr>
                  <a:endParaRPr lang="en-US"/>
                </a:p>
              </c:txPr>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D-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7030A0"/>
                    </a:solidFill>
                    <a:latin typeface="+mn-lt"/>
                    <a:ea typeface="+mn-ea"/>
                    <a:cs typeface="+mn-cs"/>
                  </a:defRPr>
                </a:pPr>
                <a:endParaRPr lang="en-US"/>
              </a:p>
            </c:txPr>
            <c:showLegendKey val="0"/>
            <c:showVal val="1"/>
            <c:showCatName val="0"/>
            <c:showSerName val="1"/>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Services PMI</c:v>
                </c:pt>
              </c:strCache>
            </c:strRef>
          </c:xVal>
          <c:yVal>
            <c:numRef>
              <c:f>Sheet1!$B$2</c:f>
              <c:numCache>
                <c:formatCode>#,##0.0</c:formatCode>
                <c:ptCount val="1"/>
                <c:pt idx="0">
                  <c:v>58.8</c:v>
                </c:pt>
              </c:numCache>
            </c:numRef>
          </c:yVal>
          <c:smooth val="0"/>
          <c:extLst>
            <c:ext xmlns:c16="http://schemas.microsoft.com/office/drawing/2014/chart" uri="{C3380CC4-5D6E-409C-BE32-E72D297353CC}">
              <c16:uniqueId val="{00000000-BADF-4511-BFD6-153D56E9CF63}"/>
            </c:ext>
          </c:extLst>
        </c:ser>
        <c:ser>
          <c:idx val="1"/>
          <c:order val="1"/>
          <c:tx>
            <c:strRef>
              <c:f>Sheet1!$C$1</c:f>
              <c:strCache>
                <c:ptCount val="1"/>
                <c:pt idx="0">
                  <c:v>1 Yr Avg</c:v>
                </c:pt>
              </c:strCache>
            </c:strRef>
          </c:tx>
          <c:spPr>
            <a:ln w="25400" cap="rnd">
              <a:noFill/>
              <a:round/>
            </a:ln>
            <a:effectLst/>
          </c:spPr>
          <c:marker>
            <c:symbol val="circle"/>
            <c:size val="6"/>
            <c:spPr>
              <a:solidFill>
                <a:schemeClr val="lt1"/>
              </a:solidFill>
              <a:ln w="38100">
                <a:solidFill>
                  <a:schemeClr val="accent2">
                    <a:alpha val="60000"/>
                  </a:schemeClr>
                </a:solidFill>
              </a:ln>
              <a:effectLst/>
            </c:spPr>
          </c:marker>
          <c:dLbls>
            <c:dLbl>
              <c:idx val="0"/>
              <c:layout>
                <c:manualLayout>
                  <c:x val="-0.36416287009185738"/>
                  <c:y val="1.3351364872824832E-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C-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Services PMI</c:v>
                </c:pt>
              </c:strCache>
            </c:strRef>
          </c:xVal>
          <c:yVal>
            <c:numRef>
              <c:f>Sheet1!$C$2</c:f>
              <c:numCache>
                <c:formatCode>#,##0.0</c:formatCode>
                <c:ptCount val="1"/>
                <c:pt idx="0">
                  <c:v>58.92499999999999</c:v>
                </c:pt>
              </c:numCache>
            </c:numRef>
          </c:yVal>
          <c:smooth val="0"/>
          <c:extLst>
            <c:ext xmlns:c16="http://schemas.microsoft.com/office/drawing/2014/chart" uri="{C3380CC4-5D6E-409C-BE32-E72D297353CC}">
              <c16:uniqueId val="{00000001-BADF-4511-BFD6-153D56E9CF63}"/>
            </c:ext>
          </c:extLst>
        </c:ser>
        <c:ser>
          <c:idx val="2"/>
          <c:order val="2"/>
          <c:tx>
            <c:strRef>
              <c:f>Sheet1!$D$1</c:f>
              <c:strCache>
                <c:ptCount val="1"/>
                <c:pt idx="0">
                  <c:v>2 Yr Avg</c:v>
                </c:pt>
              </c:strCache>
            </c:strRef>
          </c:tx>
          <c:spPr>
            <a:ln w="25400" cap="rnd">
              <a:noFill/>
              <a:round/>
            </a:ln>
            <a:effectLst/>
          </c:spPr>
          <c:marker>
            <c:symbol val="circle"/>
            <c:size val="6"/>
            <c:spPr>
              <a:solidFill>
                <a:schemeClr val="lt1"/>
              </a:solidFill>
              <a:ln w="38100">
                <a:solidFill>
                  <a:schemeClr val="accent3">
                    <a:alpha val="60000"/>
                  </a:schemeClr>
                </a:solidFill>
              </a:ln>
              <a:effectLst/>
            </c:spPr>
          </c:marker>
          <c:dLbls>
            <c:dLbl>
              <c:idx val="0"/>
              <c:layout>
                <c:manualLayout>
                  <c:x val="0.16283296054920249"/>
                  <c:y val="-8.6921703470155376E-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B-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Services PMI</c:v>
                </c:pt>
              </c:strCache>
            </c:strRef>
          </c:xVal>
          <c:yVal>
            <c:numRef>
              <c:f>Sheet1!$D$2</c:f>
              <c:numCache>
                <c:formatCode>#,##0.0</c:formatCode>
                <c:ptCount val="1"/>
                <c:pt idx="0">
                  <c:v>59.495833333333337</c:v>
                </c:pt>
              </c:numCache>
            </c:numRef>
          </c:yVal>
          <c:smooth val="0"/>
          <c:extLst>
            <c:ext xmlns:c16="http://schemas.microsoft.com/office/drawing/2014/chart" uri="{C3380CC4-5D6E-409C-BE32-E72D297353CC}">
              <c16:uniqueId val="{00000002-BADF-4511-BFD6-153D56E9CF63}"/>
            </c:ext>
          </c:extLst>
        </c:ser>
        <c:ser>
          <c:idx val="3"/>
          <c:order val="3"/>
          <c:tx>
            <c:strRef>
              <c:f>Sheet1!$E$1</c:f>
              <c:strCache>
                <c:ptCount val="1"/>
                <c:pt idx="0">
                  <c:v>3 Yr Avg</c:v>
                </c:pt>
              </c:strCache>
            </c:strRef>
          </c:tx>
          <c:spPr>
            <a:ln w="25400" cap="rnd">
              <a:noFill/>
              <a:round/>
            </a:ln>
            <a:effectLst/>
          </c:spPr>
          <c:marker>
            <c:symbol val="circle"/>
            <c:size val="6"/>
            <c:spPr>
              <a:solidFill>
                <a:schemeClr val="lt1"/>
              </a:solidFill>
              <a:ln w="38100">
                <a:solidFill>
                  <a:schemeClr val="accent4">
                    <a:alpha val="60000"/>
                  </a:schemeClr>
                </a:solidFill>
              </a:ln>
              <a:effectLst/>
            </c:spPr>
          </c:marker>
          <c:dLbls>
            <c:dLbl>
              <c:idx val="0"/>
              <c:layout>
                <c:manualLayout>
                  <c:x val="0.16268900064127595"/>
                  <c:y val="-2.5388818008800476E-17"/>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E-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Services PMI</c:v>
                </c:pt>
              </c:strCache>
            </c:strRef>
          </c:xVal>
          <c:yVal>
            <c:numRef>
              <c:f>Sheet1!$E$2</c:f>
              <c:numCache>
                <c:formatCode>#,##0.0</c:formatCode>
                <c:ptCount val="1"/>
                <c:pt idx="0">
                  <c:v>58.936111111111117</c:v>
                </c:pt>
              </c:numCache>
            </c:numRef>
          </c:yVal>
          <c:smooth val="0"/>
          <c:extLst>
            <c:ext xmlns:c16="http://schemas.microsoft.com/office/drawing/2014/chart" uri="{C3380CC4-5D6E-409C-BE32-E72D297353CC}">
              <c16:uniqueId val="{00000003-BADF-4511-BFD6-153D56E9CF63}"/>
            </c:ext>
          </c:extLst>
        </c:ser>
        <c:ser>
          <c:idx val="4"/>
          <c:order val="4"/>
          <c:tx>
            <c:strRef>
              <c:f>Sheet1!#REF!</c:f>
              <c:strCache>
                <c:ptCount val="1"/>
                <c:pt idx="0">
                  <c:v>#REF!</c:v>
                </c:pt>
              </c:strCache>
            </c:strRef>
          </c:tx>
          <c:spPr>
            <a:ln w="25400" cap="rnd">
              <a:noFill/>
              <a:round/>
            </a:ln>
            <a:effectLst/>
          </c:spPr>
          <c:marker>
            <c:symbol val="circle"/>
            <c:size val="6"/>
            <c:spPr>
              <a:solidFill>
                <a:schemeClr val="lt1"/>
              </a:solidFill>
              <a:ln w="38100">
                <a:solidFill>
                  <a:schemeClr val="accent5">
                    <a:alpha val="60000"/>
                  </a:schemeClr>
                </a:solidFill>
              </a:ln>
              <a:effectLst/>
            </c:spPr>
          </c:marker>
          <c:xVal>
            <c:strRef>
              <c:f>Sheet1!$A$2</c:f>
              <c:strCache>
                <c:ptCount val="1"/>
                <c:pt idx="0">
                  <c:v>Services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4-BADF-4511-BFD6-153D56E9CF63}"/>
            </c:ext>
          </c:extLst>
        </c:ser>
        <c:ser>
          <c:idx val="5"/>
          <c:order val="5"/>
          <c:tx>
            <c:strRef>
              <c:f>Sheet1!#REF!</c:f>
              <c:strCache>
                <c:ptCount val="1"/>
                <c:pt idx="0">
                  <c:v>#REF!</c:v>
                </c:pt>
              </c:strCache>
            </c:strRef>
          </c:tx>
          <c:spPr>
            <a:ln w="25400" cap="rnd">
              <a:noFill/>
              <a:round/>
            </a:ln>
            <a:effectLst/>
          </c:spPr>
          <c:marker>
            <c:symbol val="circle"/>
            <c:size val="6"/>
            <c:spPr>
              <a:solidFill>
                <a:schemeClr val="lt1"/>
              </a:solidFill>
              <a:ln w="38100">
                <a:solidFill>
                  <a:schemeClr val="accent6">
                    <a:alpha val="60000"/>
                  </a:schemeClr>
                </a:solidFill>
              </a:ln>
              <a:effectLst/>
            </c:spPr>
          </c:marker>
          <c:xVal>
            <c:strRef>
              <c:f>Sheet1!$A$2</c:f>
              <c:strCache>
                <c:ptCount val="1"/>
                <c:pt idx="0">
                  <c:v>Services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5-BADF-4511-BFD6-153D56E9CF63}"/>
            </c:ext>
          </c:extLst>
        </c:ser>
        <c:ser>
          <c:idx val="6"/>
          <c:order val="6"/>
          <c:tx>
            <c:strRef>
              <c:f>Sheet1!#REF!</c:f>
              <c:strCache>
                <c:ptCount val="1"/>
                <c:pt idx="0">
                  <c:v>#REF!</c:v>
                </c:pt>
              </c:strCache>
            </c:strRef>
          </c:tx>
          <c:spPr>
            <a:ln w="25400" cap="rnd">
              <a:noFill/>
              <a:round/>
            </a:ln>
            <a:effectLst/>
          </c:spPr>
          <c:marker>
            <c:symbol val="circle"/>
            <c:size val="6"/>
            <c:spPr>
              <a:solidFill>
                <a:schemeClr val="lt1"/>
              </a:solidFill>
              <a:ln w="38100">
                <a:solidFill>
                  <a:schemeClr val="accent1">
                    <a:lumMod val="60000"/>
                    <a:alpha val="60000"/>
                  </a:schemeClr>
                </a:solidFill>
              </a:ln>
              <a:effectLst/>
            </c:spPr>
          </c:marker>
          <c:trendline>
            <c:spPr>
              <a:ln w="15875" cap="rnd">
                <a:solidFill>
                  <a:schemeClr val="accent1">
                    <a:lumMod val="60000"/>
                  </a:schemeClr>
                </a:solidFill>
              </a:ln>
              <a:effectLst/>
            </c:spPr>
            <c:trendlineType val="linear"/>
            <c:dispRSqr val="0"/>
            <c:dispEq val="0"/>
          </c:trendline>
          <c:xVal>
            <c:strRef>
              <c:f>Sheet1!$A$2</c:f>
              <c:strCache>
                <c:ptCount val="1"/>
                <c:pt idx="0">
                  <c:v>Services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6-BADF-4511-BFD6-153D56E9CF63}"/>
            </c:ext>
          </c:extLst>
        </c:ser>
        <c:ser>
          <c:idx val="7"/>
          <c:order val="7"/>
          <c:tx>
            <c:strRef>
              <c:f>Sheet1!#REF!</c:f>
              <c:strCache>
                <c:ptCount val="1"/>
                <c:pt idx="0">
                  <c:v>#REF!</c:v>
                </c:pt>
              </c:strCache>
            </c:strRef>
          </c:tx>
          <c:spPr>
            <a:ln w="25400" cap="rnd">
              <a:noFill/>
              <a:round/>
            </a:ln>
            <a:effectLst/>
          </c:spPr>
          <c:marker>
            <c:symbol val="circle"/>
            <c:size val="6"/>
            <c:spPr>
              <a:solidFill>
                <a:schemeClr val="lt1"/>
              </a:solidFill>
              <a:ln w="38100">
                <a:solidFill>
                  <a:schemeClr val="accent2">
                    <a:lumMod val="60000"/>
                    <a:alpha val="60000"/>
                  </a:schemeClr>
                </a:solidFill>
              </a:ln>
              <a:effectLst/>
            </c:spPr>
          </c:marker>
          <c:xVal>
            <c:strRef>
              <c:f>Sheet1!$A$2</c:f>
              <c:strCache>
                <c:ptCount val="1"/>
                <c:pt idx="0">
                  <c:v>Services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7-BADF-4511-BFD6-153D56E9CF63}"/>
            </c:ext>
          </c:extLst>
        </c:ser>
        <c:dLbls>
          <c:showLegendKey val="0"/>
          <c:showVal val="0"/>
          <c:showCatName val="0"/>
          <c:showSerName val="0"/>
          <c:showPercent val="0"/>
          <c:showBubbleSize val="0"/>
        </c:dLbls>
        <c:axId val="604951631"/>
        <c:axId val="604954991"/>
      </c:scatterChart>
      <c:valAx>
        <c:axId val="604951631"/>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604954991"/>
        <c:crosses val="autoZero"/>
        <c:crossBetween val="midCat"/>
        <c:majorUnit val="1"/>
      </c:valAx>
      <c:valAx>
        <c:axId val="604954991"/>
        <c:scaling>
          <c:orientation val="minMax"/>
          <c:max val="65"/>
          <c:min val="3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solidFill>
              <a:schemeClr val="tx1">
                <a:lumMod val="25000"/>
                <a:lumOff val="75000"/>
              </a:schemeClr>
            </a:solidFill>
          </a:ln>
          <a:effectLst/>
        </c:spPr>
        <c:txPr>
          <a:bodyPr rot="-60000000" spcFirstLastPara="1" vertOverflow="ellipsis" vert="horz" wrap="square" anchor="ctr" anchorCtr="1"/>
          <a:lstStyle/>
          <a:p>
            <a:pPr>
              <a:defRPr sz="1197" b="1" i="0" u="none" strike="noStrike" kern="1200" spc="20" baseline="0">
                <a:solidFill>
                  <a:schemeClr val="tx1">
                    <a:lumMod val="65000"/>
                    <a:lumOff val="35000"/>
                  </a:schemeClr>
                </a:solidFill>
                <a:latin typeface="+mn-lt"/>
                <a:ea typeface="+mn-ea"/>
                <a:cs typeface="+mn-cs"/>
              </a:defRPr>
            </a:pPr>
            <a:endParaRPr lang="en-US"/>
          </a:p>
        </c:txPr>
        <c:crossAx val="604951631"/>
        <c:crosses val="autoZero"/>
        <c:crossBetween val="midCat"/>
        <c:majorUnit val="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Current</c:v>
                </c:pt>
              </c:strCache>
            </c:strRef>
          </c:tx>
          <c:spPr>
            <a:ln w="25400" cap="rnd">
              <a:noFill/>
              <a:round/>
            </a:ln>
            <a:effectLst/>
          </c:spPr>
          <c:marker>
            <c:symbol val="circle"/>
            <c:size val="6"/>
            <c:spPr>
              <a:solidFill>
                <a:schemeClr val="lt1"/>
              </a:solidFill>
              <a:ln w="38100">
                <a:solidFill>
                  <a:schemeClr val="accent1">
                    <a:alpha val="60000"/>
                  </a:schemeClr>
                </a:solidFill>
              </a:ln>
              <a:effectLst/>
            </c:spPr>
          </c:marker>
          <c:dLbls>
            <c:dLbl>
              <c:idx val="0"/>
              <c:layout>
                <c:manualLayout>
                  <c:x val="0.15355266626763264"/>
                  <c:y val="-9.9335724889478311E-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D-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7030A0"/>
                    </a:solidFill>
                    <a:latin typeface="+mn-lt"/>
                    <a:ea typeface="+mn-ea"/>
                    <a:cs typeface="+mn-cs"/>
                  </a:defRPr>
                </a:pPr>
                <a:endParaRPr lang="en-US"/>
              </a:p>
            </c:txPr>
            <c:showLegendKey val="0"/>
            <c:showVal val="1"/>
            <c:showCatName val="0"/>
            <c:showSerName val="1"/>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Manufacturing PMI</c:v>
                </c:pt>
              </c:strCache>
            </c:strRef>
          </c:xVal>
          <c:yVal>
            <c:numRef>
              <c:f>Sheet1!$B$2</c:f>
              <c:numCache>
                <c:formatCode>#,##0.0</c:formatCode>
                <c:ptCount val="1"/>
                <c:pt idx="0">
                  <c:v>57.6</c:v>
                </c:pt>
              </c:numCache>
            </c:numRef>
          </c:yVal>
          <c:smooth val="0"/>
          <c:extLst>
            <c:ext xmlns:c16="http://schemas.microsoft.com/office/drawing/2014/chart" uri="{C3380CC4-5D6E-409C-BE32-E72D297353CC}">
              <c16:uniqueId val="{00000000-BADF-4511-BFD6-153D56E9CF63}"/>
            </c:ext>
          </c:extLst>
        </c:ser>
        <c:ser>
          <c:idx val="1"/>
          <c:order val="1"/>
          <c:tx>
            <c:strRef>
              <c:f>Sheet1!$C$1</c:f>
              <c:strCache>
                <c:ptCount val="1"/>
                <c:pt idx="0">
                  <c:v>1 Yr Avg</c:v>
                </c:pt>
              </c:strCache>
            </c:strRef>
          </c:tx>
          <c:spPr>
            <a:ln w="25400" cap="rnd">
              <a:noFill/>
              <a:round/>
            </a:ln>
            <a:effectLst/>
          </c:spPr>
          <c:marker>
            <c:symbol val="circle"/>
            <c:size val="6"/>
            <c:spPr>
              <a:solidFill>
                <a:schemeClr val="lt1"/>
              </a:solidFill>
              <a:ln w="38100">
                <a:solidFill>
                  <a:schemeClr val="accent2">
                    <a:alpha val="60000"/>
                  </a:schemeClr>
                </a:solidFill>
              </a:ln>
              <a:effectLst/>
            </c:spPr>
          </c:marker>
          <c:dLbls>
            <c:dLbl>
              <c:idx val="0"/>
              <c:layout>
                <c:manualLayout>
                  <c:x val="-0.36705689402931202"/>
                  <c:y val="-2.6362075842818539E-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C-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Manufacturing PMI</c:v>
                </c:pt>
              </c:strCache>
            </c:strRef>
          </c:xVal>
          <c:yVal>
            <c:numRef>
              <c:f>Sheet1!$C$2</c:f>
              <c:numCache>
                <c:formatCode>#,##0.0</c:formatCode>
                <c:ptCount val="1"/>
                <c:pt idx="0">
                  <c:v>57.391666666666673</c:v>
                </c:pt>
              </c:numCache>
            </c:numRef>
          </c:yVal>
          <c:smooth val="0"/>
          <c:extLst>
            <c:ext xmlns:c16="http://schemas.microsoft.com/office/drawing/2014/chart" uri="{C3380CC4-5D6E-409C-BE32-E72D297353CC}">
              <c16:uniqueId val="{00000001-BADF-4511-BFD6-153D56E9CF63}"/>
            </c:ext>
          </c:extLst>
        </c:ser>
        <c:ser>
          <c:idx val="2"/>
          <c:order val="2"/>
          <c:tx>
            <c:strRef>
              <c:f>Sheet1!$D$1</c:f>
              <c:strCache>
                <c:ptCount val="1"/>
                <c:pt idx="0">
                  <c:v>2 Yr Avg</c:v>
                </c:pt>
              </c:strCache>
            </c:strRef>
          </c:tx>
          <c:spPr>
            <a:ln w="25400" cap="rnd">
              <a:noFill/>
              <a:round/>
            </a:ln>
            <a:effectLst/>
          </c:spPr>
          <c:marker>
            <c:symbol val="circle"/>
            <c:size val="6"/>
            <c:spPr>
              <a:solidFill>
                <a:schemeClr val="lt1"/>
              </a:solidFill>
              <a:ln w="38100">
                <a:solidFill>
                  <a:schemeClr val="accent3">
                    <a:alpha val="60000"/>
                  </a:schemeClr>
                </a:solidFill>
              </a:ln>
              <a:effectLst/>
            </c:spPr>
          </c:marker>
          <c:dLbls>
            <c:dLbl>
              <c:idx val="0"/>
              <c:layout>
                <c:manualLayout>
                  <c:x val="0.15652081181170874"/>
                  <c:y val="1.7093759861679686E-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B-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Manufacturing PMI</c:v>
                </c:pt>
              </c:strCache>
            </c:strRef>
          </c:xVal>
          <c:yVal>
            <c:numRef>
              <c:f>Sheet1!$D$2</c:f>
              <c:numCache>
                <c:formatCode>#,##0.0</c:formatCode>
                <c:ptCount val="1"/>
                <c:pt idx="0">
                  <c:v>57.312499999999993</c:v>
                </c:pt>
              </c:numCache>
            </c:numRef>
          </c:yVal>
          <c:smooth val="0"/>
          <c:extLst>
            <c:ext xmlns:c16="http://schemas.microsoft.com/office/drawing/2014/chart" uri="{C3380CC4-5D6E-409C-BE32-E72D297353CC}">
              <c16:uniqueId val="{00000002-BADF-4511-BFD6-153D56E9CF63}"/>
            </c:ext>
          </c:extLst>
        </c:ser>
        <c:ser>
          <c:idx val="3"/>
          <c:order val="3"/>
          <c:tx>
            <c:strRef>
              <c:f>Sheet1!$E$1</c:f>
              <c:strCache>
                <c:ptCount val="1"/>
                <c:pt idx="0">
                  <c:v>3 Yr Avg</c:v>
                </c:pt>
              </c:strCache>
            </c:strRef>
          </c:tx>
          <c:spPr>
            <a:ln w="25400" cap="rnd">
              <a:noFill/>
              <a:round/>
            </a:ln>
            <a:effectLst/>
          </c:spPr>
          <c:marker>
            <c:symbol val="circle"/>
            <c:size val="6"/>
            <c:spPr>
              <a:solidFill>
                <a:schemeClr val="lt1"/>
              </a:solidFill>
              <a:ln w="38100">
                <a:solidFill>
                  <a:schemeClr val="accent4">
                    <a:alpha val="60000"/>
                  </a:schemeClr>
                </a:solidFill>
              </a:ln>
              <a:effectLst/>
            </c:spPr>
          </c:marker>
          <c:dLbls>
            <c:dLbl>
              <c:idx val="0"/>
              <c:layout>
                <c:manualLayout>
                  <c:x val="-0.36272022774357576"/>
                  <c:y val="9.4170521922343556E-2"/>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E-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Manufacturing PMI</c:v>
                </c:pt>
              </c:strCache>
            </c:strRef>
          </c:xVal>
          <c:yVal>
            <c:numRef>
              <c:f>Sheet1!$E$2</c:f>
              <c:numCache>
                <c:formatCode>#,##0.0</c:formatCode>
                <c:ptCount val="1"/>
                <c:pt idx="0">
                  <c:v>56.913888888888891</c:v>
                </c:pt>
              </c:numCache>
            </c:numRef>
          </c:yVal>
          <c:smooth val="0"/>
          <c:extLst>
            <c:ext xmlns:c16="http://schemas.microsoft.com/office/drawing/2014/chart" uri="{C3380CC4-5D6E-409C-BE32-E72D297353CC}">
              <c16:uniqueId val="{00000003-BADF-4511-BFD6-153D56E9CF63}"/>
            </c:ext>
          </c:extLst>
        </c:ser>
        <c:ser>
          <c:idx val="4"/>
          <c:order val="4"/>
          <c:tx>
            <c:strRef>
              <c:f>Sheet1!#REF!</c:f>
              <c:strCache>
                <c:ptCount val="1"/>
                <c:pt idx="0">
                  <c:v>#REF!</c:v>
                </c:pt>
              </c:strCache>
            </c:strRef>
          </c:tx>
          <c:spPr>
            <a:ln w="25400" cap="rnd">
              <a:noFill/>
              <a:round/>
            </a:ln>
            <a:effectLst/>
          </c:spPr>
          <c:marker>
            <c:symbol val="circle"/>
            <c:size val="6"/>
            <c:spPr>
              <a:solidFill>
                <a:schemeClr val="lt1"/>
              </a:solidFill>
              <a:ln w="38100">
                <a:solidFill>
                  <a:schemeClr val="accent5">
                    <a:alpha val="60000"/>
                  </a:schemeClr>
                </a:solidFill>
              </a:ln>
              <a:effectLst/>
            </c:spPr>
          </c:marker>
          <c:xVal>
            <c:strRef>
              <c:f>Sheet1!$A$2</c:f>
              <c:strCache>
                <c:ptCount val="1"/>
                <c:pt idx="0">
                  <c:v>Manufacturing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4-BADF-4511-BFD6-153D56E9CF63}"/>
            </c:ext>
          </c:extLst>
        </c:ser>
        <c:ser>
          <c:idx val="5"/>
          <c:order val="5"/>
          <c:tx>
            <c:strRef>
              <c:f>Sheet1!#REF!</c:f>
              <c:strCache>
                <c:ptCount val="1"/>
                <c:pt idx="0">
                  <c:v>#REF!</c:v>
                </c:pt>
              </c:strCache>
            </c:strRef>
          </c:tx>
          <c:spPr>
            <a:ln w="25400" cap="rnd">
              <a:noFill/>
              <a:round/>
            </a:ln>
            <a:effectLst/>
          </c:spPr>
          <c:marker>
            <c:symbol val="circle"/>
            <c:size val="6"/>
            <c:spPr>
              <a:solidFill>
                <a:schemeClr val="lt1"/>
              </a:solidFill>
              <a:ln w="38100">
                <a:solidFill>
                  <a:schemeClr val="accent6">
                    <a:alpha val="60000"/>
                  </a:schemeClr>
                </a:solidFill>
              </a:ln>
              <a:effectLst/>
            </c:spPr>
          </c:marker>
          <c:xVal>
            <c:strRef>
              <c:f>Sheet1!$A$2</c:f>
              <c:strCache>
                <c:ptCount val="1"/>
                <c:pt idx="0">
                  <c:v>Manufacturing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5-BADF-4511-BFD6-153D56E9CF63}"/>
            </c:ext>
          </c:extLst>
        </c:ser>
        <c:ser>
          <c:idx val="6"/>
          <c:order val="6"/>
          <c:tx>
            <c:strRef>
              <c:f>Sheet1!#REF!</c:f>
              <c:strCache>
                <c:ptCount val="1"/>
                <c:pt idx="0">
                  <c:v>#REF!</c:v>
                </c:pt>
              </c:strCache>
            </c:strRef>
          </c:tx>
          <c:spPr>
            <a:ln w="25400" cap="rnd">
              <a:noFill/>
              <a:round/>
            </a:ln>
            <a:effectLst/>
          </c:spPr>
          <c:marker>
            <c:symbol val="circle"/>
            <c:size val="6"/>
            <c:spPr>
              <a:solidFill>
                <a:schemeClr val="lt1"/>
              </a:solidFill>
              <a:ln w="38100">
                <a:solidFill>
                  <a:schemeClr val="accent1">
                    <a:lumMod val="60000"/>
                    <a:alpha val="60000"/>
                  </a:schemeClr>
                </a:solidFill>
              </a:ln>
              <a:effectLst/>
            </c:spPr>
          </c:marker>
          <c:trendline>
            <c:spPr>
              <a:ln w="15875" cap="rnd">
                <a:solidFill>
                  <a:schemeClr val="accent1">
                    <a:lumMod val="60000"/>
                  </a:schemeClr>
                </a:solidFill>
              </a:ln>
              <a:effectLst/>
            </c:spPr>
            <c:trendlineType val="linear"/>
            <c:dispRSqr val="0"/>
            <c:dispEq val="0"/>
          </c:trendline>
          <c:xVal>
            <c:strRef>
              <c:f>Sheet1!$A$2</c:f>
              <c:strCache>
                <c:ptCount val="1"/>
                <c:pt idx="0">
                  <c:v>Manufacturing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6-BADF-4511-BFD6-153D56E9CF63}"/>
            </c:ext>
          </c:extLst>
        </c:ser>
        <c:ser>
          <c:idx val="7"/>
          <c:order val="7"/>
          <c:tx>
            <c:strRef>
              <c:f>Sheet1!#REF!</c:f>
              <c:strCache>
                <c:ptCount val="1"/>
                <c:pt idx="0">
                  <c:v>#REF!</c:v>
                </c:pt>
              </c:strCache>
            </c:strRef>
          </c:tx>
          <c:spPr>
            <a:ln w="25400" cap="rnd">
              <a:noFill/>
              <a:round/>
            </a:ln>
            <a:effectLst/>
          </c:spPr>
          <c:marker>
            <c:symbol val="circle"/>
            <c:size val="6"/>
            <c:spPr>
              <a:solidFill>
                <a:schemeClr val="lt1"/>
              </a:solidFill>
              <a:ln w="38100">
                <a:solidFill>
                  <a:schemeClr val="accent2">
                    <a:lumMod val="60000"/>
                    <a:alpha val="60000"/>
                  </a:schemeClr>
                </a:solidFill>
              </a:ln>
              <a:effectLst/>
            </c:spPr>
          </c:marker>
          <c:xVal>
            <c:strRef>
              <c:f>Sheet1!$A$2</c:f>
              <c:strCache>
                <c:ptCount val="1"/>
                <c:pt idx="0">
                  <c:v>Manufacturing PMI</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7-BADF-4511-BFD6-153D56E9CF63}"/>
            </c:ext>
          </c:extLst>
        </c:ser>
        <c:dLbls>
          <c:showLegendKey val="0"/>
          <c:showVal val="0"/>
          <c:showCatName val="0"/>
          <c:showSerName val="0"/>
          <c:showPercent val="0"/>
          <c:showBubbleSize val="0"/>
        </c:dLbls>
        <c:axId val="604951631"/>
        <c:axId val="604954991"/>
      </c:scatterChart>
      <c:valAx>
        <c:axId val="604951631"/>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604954991"/>
        <c:crosses val="autoZero"/>
        <c:crossBetween val="midCat"/>
        <c:majorUnit val="1"/>
      </c:valAx>
      <c:valAx>
        <c:axId val="604954991"/>
        <c:scaling>
          <c:orientation val="minMax"/>
          <c:max val="65"/>
          <c:min val="3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solidFill>
              <a:schemeClr val="tx1">
                <a:lumMod val="25000"/>
                <a:lumOff val="75000"/>
              </a:schemeClr>
            </a:solidFill>
          </a:ln>
          <a:effectLst/>
        </c:spPr>
        <c:txPr>
          <a:bodyPr rot="-60000000" spcFirstLastPara="1" vertOverflow="ellipsis" vert="horz" wrap="square" anchor="ctr" anchorCtr="1"/>
          <a:lstStyle/>
          <a:p>
            <a:pPr>
              <a:defRPr sz="1197" b="1" i="0" u="none" strike="noStrike" kern="1200" spc="20" baseline="0">
                <a:solidFill>
                  <a:schemeClr val="tx1">
                    <a:lumMod val="65000"/>
                    <a:lumOff val="35000"/>
                  </a:schemeClr>
                </a:solidFill>
                <a:latin typeface="+mn-lt"/>
                <a:ea typeface="+mn-ea"/>
                <a:cs typeface="+mn-cs"/>
              </a:defRPr>
            </a:pPr>
            <a:endParaRPr lang="en-US"/>
          </a:p>
        </c:txPr>
        <c:crossAx val="604951631"/>
        <c:crosses val="autoZero"/>
        <c:crossBetween val="midCat"/>
        <c:majorUnit val="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Current</c:v>
                </c:pt>
              </c:strCache>
            </c:strRef>
          </c:tx>
          <c:spPr>
            <a:ln w="25400" cap="rnd">
              <a:noFill/>
              <a:round/>
            </a:ln>
            <a:effectLst/>
          </c:spPr>
          <c:marker>
            <c:symbol val="circle"/>
            <c:size val="6"/>
            <c:spPr>
              <a:solidFill>
                <a:schemeClr val="lt1"/>
              </a:solidFill>
              <a:ln w="38100">
                <a:solidFill>
                  <a:schemeClr val="accent1">
                    <a:alpha val="60000"/>
                  </a:schemeClr>
                </a:solidFill>
              </a:ln>
              <a:effectLst/>
            </c:spPr>
          </c:marker>
          <c:dLbls>
            <c:dLbl>
              <c:idx val="0"/>
              <c:layout>
                <c:manualLayout>
                  <c:x val="0.14158931425226717"/>
                  <c:y val="5.0461267629439213E-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D-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7030A0"/>
                    </a:solidFill>
                    <a:latin typeface="+mn-lt"/>
                    <a:ea typeface="+mn-ea"/>
                    <a:cs typeface="+mn-cs"/>
                  </a:defRPr>
                </a:pPr>
                <a:endParaRPr lang="en-US"/>
              </a:p>
            </c:txPr>
            <c:showLegendKey val="0"/>
            <c:showVal val="1"/>
            <c:showCatName val="0"/>
            <c:showSerName val="1"/>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GST Collections</c:v>
                </c:pt>
              </c:strCache>
            </c:strRef>
          </c:xVal>
          <c:yVal>
            <c:numRef>
              <c:f>Sheet1!$B$2</c:f>
              <c:numCache>
                <c:formatCode>#,##0</c:formatCode>
                <c:ptCount val="1"/>
                <c:pt idx="0">
                  <c:v>201050</c:v>
                </c:pt>
              </c:numCache>
            </c:numRef>
          </c:yVal>
          <c:smooth val="0"/>
          <c:extLst>
            <c:ext xmlns:c16="http://schemas.microsoft.com/office/drawing/2014/chart" uri="{C3380CC4-5D6E-409C-BE32-E72D297353CC}">
              <c16:uniqueId val="{00000000-BADF-4511-BFD6-153D56E9CF63}"/>
            </c:ext>
          </c:extLst>
        </c:ser>
        <c:ser>
          <c:idx val="1"/>
          <c:order val="1"/>
          <c:tx>
            <c:strRef>
              <c:f>Sheet1!$C$1</c:f>
              <c:strCache>
                <c:ptCount val="1"/>
                <c:pt idx="0">
                  <c:v>1 Yr Avg</c:v>
                </c:pt>
              </c:strCache>
            </c:strRef>
          </c:tx>
          <c:spPr>
            <a:ln w="25400" cap="rnd">
              <a:noFill/>
              <a:round/>
            </a:ln>
            <a:effectLst/>
          </c:spPr>
          <c:marker>
            <c:symbol val="circle"/>
            <c:size val="6"/>
            <c:spPr>
              <a:solidFill>
                <a:schemeClr val="lt1"/>
              </a:solidFill>
              <a:ln w="38100">
                <a:solidFill>
                  <a:schemeClr val="accent2">
                    <a:alpha val="60000"/>
                  </a:schemeClr>
                </a:solidFill>
              </a:ln>
              <a:effectLst/>
            </c:spPr>
          </c:marker>
          <c:dLbls>
            <c:dLbl>
              <c:idx val="0"/>
              <c:layout>
                <c:manualLayout>
                  <c:x val="-0.30393639060064581"/>
                  <c:y val="-1.4345847457276214E-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C-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GST Collections</c:v>
                </c:pt>
              </c:strCache>
            </c:strRef>
          </c:xVal>
          <c:yVal>
            <c:numRef>
              <c:f>Sheet1!$C$2</c:f>
              <c:numCache>
                <c:formatCode>#,##0</c:formatCode>
                <c:ptCount val="1"/>
                <c:pt idx="0">
                  <c:v>188615.58333333334</c:v>
                </c:pt>
              </c:numCache>
            </c:numRef>
          </c:yVal>
          <c:smooth val="0"/>
          <c:extLst>
            <c:ext xmlns:c16="http://schemas.microsoft.com/office/drawing/2014/chart" uri="{C3380CC4-5D6E-409C-BE32-E72D297353CC}">
              <c16:uniqueId val="{00000001-BADF-4511-BFD6-153D56E9CF63}"/>
            </c:ext>
          </c:extLst>
        </c:ser>
        <c:ser>
          <c:idx val="2"/>
          <c:order val="2"/>
          <c:tx>
            <c:strRef>
              <c:f>Sheet1!$D$1</c:f>
              <c:strCache>
                <c:ptCount val="1"/>
                <c:pt idx="0">
                  <c:v>2 Yr Avg</c:v>
                </c:pt>
              </c:strCache>
            </c:strRef>
          </c:tx>
          <c:spPr>
            <a:ln w="25400" cap="rnd">
              <a:noFill/>
              <a:round/>
            </a:ln>
            <a:effectLst/>
          </c:spPr>
          <c:marker>
            <c:symbol val="circle"/>
            <c:size val="6"/>
            <c:spPr>
              <a:solidFill>
                <a:schemeClr val="lt1"/>
              </a:solidFill>
              <a:ln w="38100">
                <a:solidFill>
                  <a:schemeClr val="accent3">
                    <a:alpha val="60000"/>
                  </a:schemeClr>
                </a:solidFill>
              </a:ln>
              <a:effectLst/>
            </c:spPr>
          </c:marker>
          <c:dLbls>
            <c:dLbl>
              <c:idx val="0"/>
              <c:layout>
                <c:manualLayout>
                  <c:x val="0.12215161818576417"/>
                  <c:y val="1.7093759861679431E-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B-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GST Collections</c:v>
                </c:pt>
              </c:strCache>
            </c:strRef>
          </c:xVal>
          <c:yVal>
            <c:numRef>
              <c:f>Sheet1!$D$2</c:f>
              <c:numCache>
                <c:formatCode>#,##0</c:formatCode>
                <c:ptCount val="1"/>
                <c:pt idx="0">
                  <c:v>179939.16666666666</c:v>
                </c:pt>
              </c:numCache>
            </c:numRef>
          </c:yVal>
          <c:smooth val="0"/>
          <c:extLst>
            <c:ext xmlns:c16="http://schemas.microsoft.com/office/drawing/2014/chart" uri="{C3380CC4-5D6E-409C-BE32-E72D297353CC}">
              <c16:uniqueId val="{00000002-BADF-4511-BFD6-153D56E9CF63}"/>
            </c:ext>
          </c:extLst>
        </c:ser>
        <c:ser>
          <c:idx val="3"/>
          <c:order val="3"/>
          <c:tx>
            <c:strRef>
              <c:f>Sheet1!$E$1</c:f>
              <c:strCache>
                <c:ptCount val="1"/>
                <c:pt idx="0">
                  <c:v>3 Yr Avg</c:v>
                </c:pt>
              </c:strCache>
            </c:strRef>
          </c:tx>
          <c:spPr>
            <a:ln w="25400" cap="rnd">
              <a:noFill/>
              <a:round/>
            </a:ln>
            <a:effectLst/>
          </c:spPr>
          <c:marker>
            <c:symbol val="circle"/>
            <c:size val="6"/>
            <c:spPr>
              <a:solidFill>
                <a:schemeClr val="lt1"/>
              </a:solidFill>
              <a:ln w="38100">
                <a:solidFill>
                  <a:schemeClr val="accent4">
                    <a:alpha val="60000"/>
                  </a:schemeClr>
                </a:solidFill>
              </a:ln>
              <a:effectLst/>
            </c:spPr>
          </c:marker>
          <c:dLbls>
            <c:dLbl>
              <c:idx val="0"/>
              <c:layout>
                <c:manualLayout>
                  <c:x val="-0.30158878811993184"/>
                  <c:y val="5.5394424660201586E-3"/>
                </c:manualLayout>
              </c:layout>
              <c:showLegendKey val="0"/>
              <c:showVal val="1"/>
              <c:showCatName val="0"/>
              <c:showSerName val="1"/>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E-BADF-4511-BFD6-153D56E9CF63}"/>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xVal>
            <c:strRef>
              <c:f>Sheet1!$A$2</c:f>
              <c:strCache>
                <c:ptCount val="1"/>
                <c:pt idx="0">
                  <c:v>GST Collections</c:v>
                </c:pt>
              </c:strCache>
            </c:strRef>
          </c:xVal>
          <c:yVal>
            <c:numRef>
              <c:f>Sheet1!$E$2</c:f>
              <c:numCache>
                <c:formatCode>#,##0</c:formatCode>
                <c:ptCount val="1"/>
                <c:pt idx="0">
                  <c:v>171148.69444444444</c:v>
                </c:pt>
              </c:numCache>
            </c:numRef>
          </c:yVal>
          <c:smooth val="0"/>
          <c:extLst>
            <c:ext xmlns:c16="http://schemas.microsoft.com/office/drawing/2014/chart" uri="{C3380CC4-5D6E-409C-BE32-E72D297353CC}">
              <c16:uniqueId val="{00000003-BADF-4511-BFD6-153D56E9CF63}"/>
            </c:ext>
          </c:extLst>
        </c:ser>
        <c:ser>
          <c:idx val="4"/>
          <c:order val="4"/>
          <c:tx>
            <c:strRef>
              <c:f>Sheet1!$A$1:$F$1</c:f>
              <c:strCache>
                <c:ptCount val="1"/>
                <c:pt idx="0">
                  <c:v>Column1 Current 1 Yr Avg 2 Yr Avg 3 Yr Avg 5 Yr Avg</c:v>
                </c:pt>
              </c:strCache>
            </c:strRef>
          </c:tx>
          <c:spPr>
            <a:ln w="25400" cap="rnd">
              <a:noFill/>
              <a:round/>
            </a:ln>
            <a:effectLst/>
          </c:spPr>
          <c:marker>
            <c:symbol val="circle"/>
            <c:size val="6"/>
            <c:spPr>
              <a:solidFill>
                <a:schemeClr val="lt1"/>
              </a:solidFill>
              <a:ln w="38100">
                <a:solidFill>
                  <a:schemeClr val="accent5">
                    <a:alpha val="60000"/>
                  </a:schemeClr>
                </a:solidFill>
              </a:ln>
              <a:effectLst/>
            </c:spPr>
          </c:marker>
          <c:xVal>
            <c:strRef>
              <c:f>Sheet1!$A$2</c:f>
              <c:strCache>
                <c:ptCount val="1"/>
                <c:pt idx="0">
                  <c:v>GST Collections</c:v>
                </c:pt>
              </c:strCache>
            </c:strRef>
          </c:xVal>
          <c:yVal>
            <c:numRef>
              <c:f>Sheet1!$A$2:$F$2</c:f>
              <c:numCache>
                <c:formatCode>#,##0</c:formatCode>
                <c:ptCount val="6"/>
                <c:pt idx="0" formatCode="General">
                  <c:v>0</c:v>
                </c:pt>
                <c:pt idx="1">
                  <c:v>201050</c:v>
                </c:pt>
                <c:pt idx="2">
                  <c:v>188615.58333333334</c:v>
                </c:pt>
                <c:pt idx="3">
                  <c:v>179939.16666666666</c:v>
                </c:pt>
                <c:pt idx="4">
                  <c:v>171148.69444444444</c:v>
                </c:pt>
                <c:pt idx="5">
                  <c:v>149967.51666666666</c:v>
                </c:pt>
              </c:numCache>
            </c:numRef>
          </c:yVal>
          <c:smooth val="0"/>
          <c:extLst>
            <c:ext xmlns:c16="http://schemas.microsoft.com/office/drawing/2014/chart" uri="{C3380CC4-5D6E-409C-BE32-E72D297353CC}">
              <c16:uniqueId val="{00000004-BADF-4511-BFD6-153D56E9CF63}"/>
            </c:ext>
          </c:extLst>
        </c:ser>
        <c:ser>
          <c:idx val="5"/>
          <c:order val="5"/>
          <c:tx>
            <c:strRef>
              <c:f>Sheet1!#REF!</c:f>
              <c:strCache>
                <c:ptCount val="1"/>
                <c:pt idx="0">
                  <c:v>#REF!</c:v>
                </c:pt>
              </c:strCache>
            </c:strRef>
          </c:tx>
          <c:spPr>
            <a:ln w="25400" cap="rnd">
              <a:noFill/>
              <a:round/>
            </a:ln>
            <a:effectLst/>
          </c:spPr>
          <c:marker>
            <c:symbol val="circle"/>
            <c:size val="6"/>
            <c:spPr>
              <a:solidFill>
                <a:schemeClr val="lt1"/>
              </a:solidFill>
              <a:ln w="38100">
                <a:solidFill>
                  <a:schemeClr val="accent6">
                    <a:alpha val="60000"/>
                  </a:schemeClr>
                </a:solidFill>
              </a:ln>
              <a:effectLst/>
            </c:spPr>
          </c:marker>
          <c:xVal>
            <c:strRef>
              <c:f>Sheet1!$A$2</c:f>
              <c:strCache>
                <c:ptCount val="1"/>
                <c:pt idx="0">
                  <c:v>GST Collections</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5-BADF-4511-BFD6-153D56E9CF63}"/>
            </c:ext>
          </c:extLst>
        </c:ser>
        <c:ser>
          <c:idx val="6"/>
          <c:order val="6"/>
          <c:tx>
            <c:strRef>
              <c:f>Sheet1!#REF!</c:f>
              <c:strCache>
                <c:ptCount val="1"/>
                <c:pt idx="0">
                  <c:v>#REF!</c:v>
                </c:pt>
              </c:strCache>
            </c:strRef>
          </c:tx>
          <c:spPr>
            <a:ln w="25400" cap="rnd">
              <a:noFill/>
              <a:round/>
            </a:ln>
            <a:effectLst/>
          </c:spPr>
          <c:marker>
            <c:symbol val="circle"/>
            <c:size val="6"/>
            <c:spPr>
              <a:solidFill>
                <a:schemeClr val="lt1"/>
              </a:solidFill>
              <a:ln w="38100">
                <a:solidFill>
                  <a:schemeClr val="accent1">
                    <a:lumMod val="60000"/>
                    <a:alpha val="60000"/>
                  </a:schemeClr>
                </a:solidFill>
              </a:ln>
              <a:effectLst/>
            </c:spPr>
          </c:marker>
          <c:trendline>
            <c:spPr>
              <a:ln w="15875" cap="rnd">
                <a:solidFill>
                  <a:schemeClr val="accent1">
                    <a:lumMod val="60000"/>
                  </a:schemeClr>
                </a:solidFill>
              </a:ln>
              <a:effectLst/>
            </c:spPr>
            <c:trendlineType val="linear"/>
            <c:dispRSqr val="0"/>
            <c:dispEq val="0"/>
          </c:trendline>
          <c:xVal>
            <c:strRef>
              <c:f>Sheet1!$A$2</c:f>
              <c:strCache>
                <c:ptCount val="1"/>
                <c:pt idx="0">
                  <c:v>GST Collections</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6-BADF-4511-BFD6-153D56E9CF63}"/>
            </c:ext>
          </c:extLst>
        </c:ser>
        <c:ser>
          <c:idx val="7"/>
          <c:order val="7"/>
          <c:tx>
            <c:strRef>
              <c:f>Sheet1!#REF!</c:f>
              <c:strCache>
                <c:ptCount val="1"/>
                <c:pt idx="0">
                  <c:v>#REF!</c:v>
                </c:pt>
              </c:strCache>
            </c:strRef>
          </c:tx>
          <c:spPr>
            <a:ln w="25400" cap="rnd">
              <a:noFill/>
              <a:round/>
            </a:ln>
            <a:effectLst/>
          </c:spPr>
          <c:marker>
            <c:symbol val="circle"/>
            <c:size val="6"/>
            <c:spPr>
              <a:solidFill>
                <a:schemeClr val="lt1"/>
              </a:solidFill>
              <a:ln w="38100">
                <a:solidFill>
                  <a:schemeClr val="accent2">
                    <a:lumMod val="60000"/>
                    <a:alpha val="60000"/>
                  </a:schemeClr>
                </a:solidFill>
              </a:ln>
              <a:effectLst/>
            </c:spPr>
          </c:marker>
          <c:xVal>
            <c:strRef>
              <c:f>Sheet1!$A$2</c:f>
              <c:strCache>
                <c:ptCount val="1"/>
                <c:pt idx="0">
                  <c:v>GST Collections</c:v>
                </c:pt>
              </c:strCache>
            </c:strRef>
          </c:xVal>
          <c:yVal>
            <c:numRef>
              <c:f>Sheet1!#REF!</c:f>
              <c:numCache>
                <c:formatCode>General</c:formatCode>
                <c:ptCount val="1"/>
                <c:pt idx="0">
                  <c:v>1</c:v>
                </c:pt>
              </c:numCache>
            </c:numRef>
          </c:yVal>
          <c:smooth val="0"/>
          <c:extLst>
            <c:ext xmlns:c16="http://schemas.microsoft.com/office/drawing/2014/chart" uri="{C3380CC4-5D6E-409C-BE32-E72D297353CC}">
              <c16:uniqueId val="{00000007-BADF-4511-BFD6-153D56E9CF63}"/>
            </c:ext>
          </c:extLst>
        </c:ser>
        <c:dLbls>
          <c:showLegendKey val="0"/>
          <c:showVal val="0"/>
          <c:showCatName val="0"/>
          <c:showSerName val="0"/>
          <c:showPercent val="0"/>
          <c:showBubbleSize val="0"/>
        </c:dLbls>
        <c:axId val="604951631"/>
        <c:axId val="604954991"/>
      </c:scatterChart>
      <c:valAx>
        <c:axId val="604951631"/>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604954991"/>
        <c:crosses val="autoZero"/>
        <c:crossBetween val="midCat"/>
        <c:majorUnit val="1"/>
      </c:valAx>
      <c:valAx>
        <c:axId val="604954991"/>
        <c:scaling>
          <c:orientation val="minMax"/>
          <c:max val="250000"/>
          <c:min val="100000"/>
        </c:scaling>
        <c:delete val="0"/>
        <c:axPos val="l"/>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solidFill>
              <a:schemeClr val="tx1">
                <a:lumMod val="25000"/>
                <a:lumOff val="75000"/>
              </a:schemeClr>
            </a:solidFill>
          </a:ln>
          <a:effectLst/>
        </c:spPr>
        <c:txPr>
          <a:bodyPr rot="-60000000" spcFirstLastPara="1" vertOverflow="ellipsis" vert="horz" wrap="square" anchor="ctr" anchorCtr="1"/>
          <a:lstStyle/>
          <a:p>
            <a:pPr>
              <a:defRPr sz="1197" b="1" i="0" u="none" strike="noStrike" kern="1200" spc="20" baseline="0">
                <a:solidFill>
                  <a:schemeClr val="tx1">
                    <a:lumMod val="65000"/>
                    <a:lumOff val="35000"/>
                  </a:schemeClr>
                </a:solidFill>
                <a:latin typeface="+mn-lt"/>
                <a:ea typeface="+mn-ea"/>
                <a:cs typeface="+mn-cs"/>
              </a:defRPr>
            </a:pPr>
            <a:endParaRPr lang="en-US"/>
          </a:p>
        </c:txPr>
        <c:crossAx val="604951631"/>
        <c:crosses val="autoZero"/>
        <c:crossBetween val="midCat"/>
        <c:majorUnit val="250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IN" dirty="0">
                <a:solidFill>
                  <a:schemeClr val="accent1">
                    <a:lumMod val="50000"/>
                  </a:schemeClr>
                </a:solidFill>
              </a:rPr>
              <a:t>Real GDP Growth (%)</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1960192475940513E-2"/>
          <c:y val="0.11860195286330853"/>
          <c:w val="0.95683115993004608"/>
          <c:h val="0.81008447594075483"/>
        </c:manualLayout>
      </c:layout>
      <c:barChart>
        <c:barDir val="col"/>
        <c:grouping val="clustered"/>
        <c:varyColors val="0"/>
        <c:ser>
          <c:idx val="0"/>
          <c:order val="0"/>
          <c:tx>
            <c:strRef>
              <c:f>Sheet1!$B$1</c:f>
              <c:strCache>
                <c:ptCount val="1"/>
                <c:pt idx="0">
                  <c:v>Real GDP Growth (%)</c:v>
                </c:pt>
              </c:strCache>
            </c:strRef>
          </c:tx>
          <c:spPr>
            <a:solidFill>
              <a:srgbClr val="66B6A9"/>
            </a:solidFill>
            <a:ln>
              <a:noFill/>
            </a:ln>
            <a:effectLst/>
          </c:spPr>
          <c:invertIfNegative val="0"/>
          <c:dLbls>
            <c:dLbl>
              <c:idx val="8"/>
              <c:numFmt formatCode="0.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C87F-4AB6-850A-C9B0113B53FE}"/>
                </c:ext>
              </c:extLst>
            </c:dLbl>
            <c:dLbl>
              <c:idx val="9"/>
              <c:numFmt formatCode="0.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0-C87F-4AB6-850A-C9B0113B53FE}"/>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FY'17</c:v>
                </c:pt>
                <c:pt idx="1">
                  <c:v>FY'18</c:v>
                </c:pt>
                <c:pt idx="2">
                  <c:v>FY'19</c:v>
                </c:pt>
                <c:pt idx="3">
                  <c:v>FY'20</c:v>
                </c:pt>
                <c:pt idx="4">
                  <c:v>FY'21</c:v>
                </c:pt>
                <c:pt idx="5">
                  <c:v>FY'22</c:v>
                </c:pt>
                <c:pt idx="6">
                  <c:v>FY'23</c:v>
                </c:pt>
                <c:pt idx="7">
                  <c:v>FY'24</c:v>
                </c:pt>
                <c:pt idx="8">
                  <c:v>FY'25</c:v>
                </c:pt>
                <c:pt idx="9">
                  <c:v>FY'26 E</c:v>
                </c:pt>
              </c:strCache>
            </c:strRef>
          </c:cat>
          <c:val>
            <c:numRef>
              <c:f>Sheet1!$B$2:$B$11</c:f>
              <c:numCache>
                <c:formatCode>0.00%</c:formatCode>
                <c:ptCount val="10"/>
                <c:pt idx="0">
                  <c:v>8.3000000000000004E-2</c:v>
                </c:pt>
                <c:pt idx="1">
                  <c:v>6.8000000000000005E-2</c:v>
                </c:pt>
                <c:pt idx="2">
                  <c:v>6.5000000000000002E-2</c:v>
                </c:pt>
                <c:pt idx="3">
                  <c:v>3.9E-2</c:v>
                </c:pt>
                <c:pt idx="4">
                  <c:v>-5.8000000000000003E-2</c:v>
                </c:pt>
                <c:pt idx="5">
                  <c:v>9.7000000000000003E-2</c:v>
                </c:pt>
                <c:pt idx="6">
                  <c:v>7.5999999999999998E-2</c:v>
                </c:pt>
                <c:pt idx="7">
                  <c:v>9.1999999999999998E-2</c:v>
                </c:pt>
                <c:pt idx="8">
                  <c:v>6.3E-2</c:v>
                </c:pt>
                <c:pt idx="9">
                  <c:v>6.3E-2</c:v>
                </c:pt>
              </c:numCache>
            </c:numRef>
          </c:val>
          <c:extLst>
            <c:ext xmlns:c16="http://schemas.microsoft.com/office/drawing/2014/chart" uri="{C3380CC4-5D6E-409C-BE32-E72D297353CC}">
              <c16:uniqueId val="{00000001-1B96-4407-AF3A-36F2C8AABB62}"/>
            </c:ext>
          </c:extLst>
        </c:ser>
        <c:dLbls>
          <c:dLblPos val="outEnd"/>
          <c:showLegendKey val="0"/>
          <c:showVal val="1"/>
          <c:showCatName val="0"/>
          <c:showSerName val="0"/>
          <c:showPercent val="0"/>
          <c:showBubbleSize val="0"/>
        </c:dLbls>
        <c:gapWidth val="219"/>
        <c:overlap val="-27"/>
        <c:axId val="1564293392"/>
        <c:axId val="1564295312"/>
      </c:barChart>
      <c:catAx>
        <c:axId val="1564293392"/>
        <c:scaling>
          <c:orientation val="minMax"/>
        </c:scaling>
        <c:delete val="0"/>
        <c:axPos val="b"/>
        <c:numFmt formatCode="General"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564295312"/>
        <c:crosses val="autoZero"/>
        <c:auto val="1"/>
        <c:lblAlgn val="ctr"/>
        <c:lblOffset val="100"/>
        <c:noMultiLvlLbl val="0"/>
      </c:catAx>
      <c:valAx>
        <c:axId val="1564295312"/>
        <c:scaling>
          <c:orientation val="minMax"/>
        </c:scaling>
        <c:delete val="0"/>
        <c:axPos val="l"/>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5642933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US" sz="1080" b="1" i="0" u="none" strike="noStrike" kern="1200" spc="0" baseline="0">
                <a:solidFill>
                  <a:schemeClr val="tx1">
                    <a:lumMod val="65000"/>
                    <a:lumOff val="35000"/>
                  </a:schemeClr>
                </a:solidFill>
                <a:latin typeface="+mn-lt"/>
                <a:ea typeface="+mn-ea"/>
                <a:cs typeface="+mn-cs"/>
              </a:defRPr>
            </a:pPr>
            <a:r>
              <a:rPr lang="en-US" sz="1400" dirty="0"/>
              <a:t>Sensex EPS</a:t>
            </a:r>
          </a:p>
        </c:rich>
      </c:tx>
      <c:overlay val="0"/>
      <c:spPr>
        <a:noFill/>
        <a:ln>
          <a:noFill/>
        </a:ln>
        <a:effectLst/>
      </c:spPr>
      <c:txPr>
        <a:bodyPr rot="0" spcFirstLastPara="1" vertOverflow="ellipsis" vert="horz" wrap="square" anchor="ctr" anchorCtr="1"/>
        <a:lstStyle/>
        <a:p>
          <a:pPr algn="ctr" rtl="0">
            <a:defRPr lang="en-US" sz="108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EPS</c:v>
                </c:pt>
              </c:strCache>
            </c:strRef>
          </c:tx>
          <c:spPr>
            <a:solidFill>
              <a:schemeClr val="bg1">
                <a:lumMod val="95000"/>
              </a:schemeClr>
            </a:solidFill>
            <a:ln>
              <a:noFill/>
            </a:ln>
            <a:effectLst/>
          </c:spPr>
          <c:invertIfNegative val="0"/>
          <c:dPt>
            <c:idx val="9"/>
            <c:invertIfNegative val="0"/>
            <c:bubble3D val="0"/>
            <c:spPr>
              <a:solidFill>
                <a:srgbClr val="00A288"/>
              </a:solidFill>
              <a:ln>
                <a:noFill/>
              </a:ln>
              <a:effectLst/>
            </c:spPr>
            <c:extLst>
              <c:ext xmlns:c16="http://schemas.microsoft.com/office/drawing/2014/chart" uri="{C3380CC4-5D6E-409C-BE32-E72D297353CC}">
                <c16:uniqueId val="{00000003-4368-479A-A071-678C52C521E5}"/>
              </c:ext>
            </c:extLst>
          </c:dPt>
          <c:dPt>
            <c:idx val="10"/>
            <c:invertIfNegative val="0"/>
            <c:bubble3D val="0"/>
            <c:spPr>
              <a:solidFill>
                <a:srgbClr val="00A288"/>
              </a:solidFill>
              <a:ln>
                <a:noFill/>
              </a:ln>
              <a:effectLst/>
            </c:spPr>
            <c:extLst>
              <c:ext xmlns:c16="http://schemas.microsoft.com/office/drawing/2014/chart" uri="{C3380CC4-5D6E-409C-BE32-E72D297353CC}">
                <c16:uniqueId val="{00000004-4368-479A-A071-678C52C521E5}"/>
              </c:ext>
            </c:extLst>
          </c:dPt>
          <c:dLbls>
            <c:dLbl>
              <c:idx val="2"/>
              <c:layout>
                <c:manualLayout>
                  <c:x val="2.8645502418044985E-17"/>
                  <c:y val="3.28124979815146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368-479A-A071-678C52C521E5}"/>
                </c:ext>
              </c:extLst>
            </c:dLbl>
            <c:dLbl>
              <c:idx val="9"/>
              <c:numFmt formatCode="#,##0.0" sourceLinked="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4368-479A-A071-678C52C521E5}"/>
                </c:ext>
              </c:extLst>
            </c:dLbl>
            <c:dLbl>
              <c:idx val="10"/>
              <c:numFmt formatCode="#,##0.0" sourceLinked="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4-4368-479A-A071-678C52C521E5}"/>
                </c:ext>
              </c:extLst>
            </c:dLbl>
            <c:numFmt formatCode="#,##0.0" sourceLinked="0"/>
            <c:spPr>
              <a:noFill/>
              <a:ln>
                <a:noFill/>
              </a:ln>
              <a:effectLst/>
            </c:spPr>
            <c:txPr>
              <a:bodyPr rot="0" spcFirstLastPara="1" vertOverflow="ellipsis" vert="horz" wrap="square" anchor="ctr" anchorCtr="1"/>
              <a:lstStyle/>
              <a:p>
                <a:pPr algn="ctr">
                  <a:defRPr lang="en-US" sz="900" b="0"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FY 2016</c:v>
                </c:pt>
                <c:pt idx="1">
                  <c:v>FY 2017</c:v>
                </c:pt>
                <c:pt idx="2">
                  <c:v>FY 2018</c:v>
                </c:pt>
                <c:pt idx="3">
                  <c:v>FY 2019</c:v>
                </c:pt>
                <c:pt idx="4">
                  <c:v>FY 2020</c:v>
                </c:pt>
                <c:pt idx="5">
                  <c:v>FY 2021</c:v>
                </c:pt>
                <c:pt idx="6">
                  <c:v>FY 2022</c:v>
                </c:pt>
                <c:pt idx="7">
                  <c:v>FY 2023</c:v>
                </c:pt>
                <c:pt idx="8">
                  <c:v>FY 2024</c:v>
                </c:pt>
                <c:pt idx="9">
                  <c:v>FY 2025 E</c:v>
                </c:pt>
                <c:pt idx="10">
                  <c:v>FY 2026 E</c:v>
                </c:pt>
              </c:strCache>
            </c:strRef>
          </c:cat>
          <c:val>
            <c:numRef>
              <c:f>Sheet1!$B$2:$B$12</c:f>
              <c:numCache>
                <c:formatCode>#,##0.00</c:formatCode>
                <c:ptCount val="11"/>
                <c:pt idx="0">
                  <c:v>1388.1</c:v>
                </c:pt>
                <c:pt idx="1">
                  <c:v>1373.3</c:v>
                </c:pt>
                <c:pt idx="2">
                  <c:v>1516.7</c:v>
                </c:pt>
                <c:pt idx="3">
                  <c:v>1621.5</c:v>
                </c:pt>
                <c:pt idx="4">
                  <c:v>1787</c:v>
                </c:pt>
                <c:pt idx="5">
                  <c:v>1589.5</c:v>
                </c:pt>
                <c:pt idx="6">
                  <c:v>2329.4</c:v>
                </c:pt>
                <c:pt idx="7">
                  <c:v>2611.3000000000002</c:v>
                </c:pt>
                <c:pt idx="8">
                  <c:v>3136.1</c:v>
                </c:pt>
                <c:pt idx="9">
                  <c:v>3240.4980266705575</c:v>
                </c:pt>
                <c:pt idx="10">
                  <c:v>3658.2464760278358</c:v>
                </c:pt>
              </c:numCache>
            </c:numRef>
          </c:val>
          <c:extLst>
            <c:ext xmlns:c16="http://schemas.microsoft.com/office/drawing/2014/chart" uri="{C3380CC4-5D6E-409C-BE32-E72D297353CC}">
              <c16:uniqueId val="{00000000-4368-479A-A071-678C52C521E5}"/>
            </c:ext>
          </c:extLst>
        </c:ser>
        <c:dLbls>
          <c:showLegendKey val="0"/>
          <c:showVal val="0"/>
          <c:showCatName val="0"/>
          <c:showSerName val="0"/>
          <c:showPercent val="0"/>
          <c:showBubbleSize val="0"/>
        </c:dLbls>
        <c:gapWidth val="219"/>
        <c:axId val="853340271"/>
        <c:axId val="853341711"/>
      </c:barChart>
      <c:lineChart>
        <c:grouping val="standard"/>
        <c:varyColors val="0"/>
        <c:ser>
          <c:idx val="1"/>
          <c:order val="1"/>
          <c:tx>
            <c:strRef>
              <c:f>Sheet1!$C$1</c:f>
              <c:strCache>
                <c:ptCount val="1"/>
                <c:pt idx="0">
                  <c:v>% Change</c:v>
                </c:pt>
              </c:strCache>
            </c:strRef>
          </c:tx>
          <c:spPr>
            <a:ln w="28575" cap="rnd">
              <a:solidFill>
                <a:schemeClr val="accent2"/>
              </a:solidFill>
              <a:round/>
            </a:ln>
            <a:effectLst/>
          </c:spPr>
          <c:marker>
            <c:symbol val="none"/>
          </c:marker>
          <c:dLbls>
            <c:dLbl>
              <c:idx val="0"/>
              <c:layout>
                <c:manualLayout>
                  <c:x val="-3.1759459480541978E-2"/>
                  <c:y val="5.93511247532899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368-479A-A071-678C52C521E5}"/>
                </c:ext>
              </c:extLst>
            </c:dLbl>
            <c:dLbl>
              <c:idx val="1"/>
              <c:layout>
                <c:manualLayout>
                  <c:x val="-2.9160958250315817E-2"/>
                  <c:y val="3.77524739831262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368-479A-A071-678C52C521E5}"/>
                </c:ext>
              </c:extLst>
            </c:dLbl>
            <c:dLbl>
              <c:idx val="2"/>
              <c:layout>
                <c:manualLayout>
                  <c:x val="-3.1759459480541978E-2"/>
                  <c:y val="-2.59495805259426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368-479A-A071-678C52C521E5}"/>
                </c:ext>
              </c:extLst>
            </c:dLbl>
            <c:dLbl>
              <c:idx val="3"/>
              <c:layout>
                <c:manualLayout>
                  <c:x val="-3.125E-2"/>
                  <c:y val="3.28124979815145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368-479A-A071-678C52C521E5}"/>
                </c:ext>
              </c:extLst>
            </c:dLbl>
            <c:dLbl>
              <c:idx val="4"/>
              <c:layout>
                <c:manualLayout>
                  <c:x val="-3.125E-2"/>
                  <c:y val="9.60937440887214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368-479A-A071-678C52C521E5}"/>
                </c:ext>
              </c:extLst>
            </c:dLbl>
            <c:dLbl>
              <c:idx val="5"/>
              <c:layout>
                <c:manualLayout>
                  <c:x val="-3.7499999999999943E-2"/>
                  <c:y val="2.5781248414047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368-479A-A071-678C52C521E5}"/>
                </c:ext>
              </c:extLst>
            </c:dLbl>
            <c:dLbl>
              <c:idx val="6"/>
              <c:layout>
                <c:manualLayout>
                  <c:x val="-3.125E-2"/>
                  <c:y val="-1.64062489907573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368-479A-A071-678C52C521E5}"/>
                </c:ext>
              </c:extLst>
            </c:dLbl>
            <c:dLbl>
              <c:idx val="7"/>
              <c:layout>
                <c:manualLayout>
                  <c:x val="-1.955265175013159E-2"/>
                  <c:y val="3.15628324038451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4368-479A-A071-678C52C521E5}"/>
                </c:ext>
              </c:extLst>
            </c:dLbl>
            <c:dLbl>
              <c:idx val="8"/>
              <c:layout>
                <c:manualLayout>
                  <c:x val="-2.0856161866807228E-2"/>
                  <c:y val="-1.94232814792893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368-479A-A071-678C52C521E5}"/>
                </c:ext>
              </c:extLst>
            </c:dLbl>
            <c:dLbl>
              <c:idx val="9"/>
              <c:layout>
                <c:manualLayout>
                  <c:x val="1.1731591050079012E-2"/>
                  <c:y val="2.9134922218933851E-2"/>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368-479A-A071-678C52C521E5}"/>
                </c:ext>
              </c:extLst>
            </c:dLbl>
            <c:dLbl>
              <c:idx val="10"/>
              <c:layout>
                <c:manualLayout>
                  <c:x val="1.5642121400105347E-2"/>
                  <c:y val="-4.1274473143489872E-2"/>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4368-479A-A071-678C52C521E5}"/>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FY 2016</c:v>
                </c:pt>
                <c:pt idx="1">
                  <c:v>FY 2017</c:v>
                </c:pt>
                <c:pt idx="2">
                  <c:v>FY 2018</c:v>
                </c:pt>
                <c:pt idx="3">
                  <c:v>FY 2019</c:v>
                </c:pt>
                <c:pt idx="4">
                  <c:v>FY 2020</c:v>
                </c:pt>
                <c:pt idx="5">
                  <c:v>FY 2021</c:v>
                </c:pt>
                <c:pt idx="6">
                  <c:v>FY 2022</c:v>
                </c:pt>
                <c:pt idx="7">
                  <c:v>FY 2023</c:v>
                </c:pt>
                <c:pt idx="8">
                  <c:v>FY 2024</c:v>
                </c:pt>
                <c:pt idx="9">
                  <c:v>FY 2025 E</c:v>
                </c:pt>
                <c:pt idx="10">
                  <c:v>FY 2026 E</c:v>
                </c:pt>
              </c:strCache>
            </c:strRef>
          </c:cat>
          <c:val>
            <c:numRef>
              <c:f>Sheet1!$C$2:$C$12</c:f>
              <c:numCache>
                <c:formatCode>0.00%</c:formatCode>
                <c:ptCount val="11"/>
                <c:pt idx="0">
                  <c:v>-0.03</c:v>
                </c:pt>
                <c:pt idx="1">
                  <c:v>-1.0999999999999999E-2</c:v>
                </c:pt>
                <c:pt idx="2">
                  <c:v>0.128</c:v>
                </c:pt>
                <c:pt idx="3">
                  <c:v>6.9000000000000006E-2</c:v>
                </c:pt>
                <c:pt idx="4">
                  <c:v>0.10199999999999999</c:v>
                </c:pt>
                <c:pt idx="5">
                  <c:v>-0.111</c:v>
                </c:pt>
                <c:pt idx="6">
                  <c:v>0.46600000000000003</c:v>
                </c:pt>
                <c:pt idx="7">
                  <c:v>0.129</c:v>
                </c:pt>
                <c:pt idx="8">
                  <c:v>0.20100000000000001</c:v>
                </c:pt>
                <c:pt idx="9">
                  <c:v>3.3289125560587163E-2</c:v>
                </c:pt>
                <c:pt idx="10">
                  <c:v>0.12891489083438601</c:v>
                </c:pt>
              </c:numCache>
            </c:numRef>
          </c:val>
          <c:smooth val="0"/>
          <c:extLst>
            <c:ext xmlns:c16="http://schemas.microsoft.com/office/drawing/2014/chart" uri="{C3380CC4-5D6E-409C-BE32-E72D297353CC}">
              <c16:uniqueId val="{00000001-4368-479A-A071-678C52C521E5}"/>
            </c:ext>
          </c:extLst>
        </c:ser>
        <c:dLbls>
          <c:showLegendKey val="0"/>
          <c:showVal val="0"/>
          <c:showCatName val="0"/>
          <c:showSerName val="0"/>
          <c:showPercent val="0"/>
          <c:showBubbleSize val="0"/>
        </c:dLbls>
        <c:marker val="1"/>
        <c:smooth val="0"/>
        <c:axId val="574283311"/>
        <c:axId val="574283791"/>
      </c:lineChart>
      <c:catAx>
        <c:axId val="8533402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endParaRPr lang="en-US"/>
          </a:p>
        </c:txPr>
        <c:crossAx val="853341711"/>
        <c:crosses val="autoZero"/>
        <c:auto val="1"/>
        <c:lblAlgn val="ctr"/>
        <c:lblOffset val="100"/>
        <c:noMultiLvlLbl val="0"/>
      </c:catAx>
      <c:valAx>
        <c:axId val="853341711"/>
        <c:scaling>
          <c:orientation val="minMax"/>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853340271"/>
        <c:crosses val="autoZero"/>
        <c:crossBetween val="between"/>
      </c:valAx>
      <c:valAx>
        <c:axId val="574283791"/>
        <c:scaling>
          <c:orientation val="minMax"/>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574283311"/>
        <c:crosses val="max"/>
        <c:crossBetween val="between"/>
      </c:valAx>
      <c:catAx>
        <c:axId val="574283311"/>
        <c:scaling>
          <c:orientation val="minMax"/>
        </c:scaling>
        <c:delete val="1"/>
        <c:axPos val="b"/>
        <c:numFmt formatCode="General" sourceLinked="1"/>
        <c:majorTickMark val="out"/>
        <c:minorTickMark val="none"/>
        <c:tickLblPos val="nextTo"/>
        <c:crossAx val="574283791"/>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gn="ctr">
        <a:defRPr lang="en-US" sz="900" b="1" i="0" u="none" strike="noStrike" kern="1200" baseline="0">
          <a:solidFill>
            <a:schemeClr val="tx1">
              <a:lumMod val="65000"/>
              <a:lumOff val="35000"/>
            </a:schemeClr>
          </a:solidFill>
          <a:latin typeface="+mn-lt"/>
          <a:ea typeface="+mn-ea"/>
          <a:cs typeface="+mn-cs"/>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US" sz="1080" b="1" i="0" u="none" strike="noStrike" kern="1200" spc="0" baseline="0">
                <a:solidFill>
                  <a:schemeClr val="tx1">
                    <a:lumMod val="65000"/>
                    <a:lumOff val="35000"/>
                  </a:schemeClr>
                </a:solidFill>
                <a:latin typeface="+mn-lt"/>
                <a:ea typeface="+mn-ea"/>
                <a:cs typeface="+mn-cs"/>
              </a:defRPr>
            </a:pPr>
            <a:r>
              <a:rPr lang="en-US" sz="1400" dirty="0"/>
              <a:t>BSE 500 EPS</a:t>
            </a:r>
          </a:p>
        </c:rich>
      </c:tx>
      <c:overlay val="0"/>
      <c:spPr>
        <a:noFill/>
        <a:ln>
          <a:noFill/>
        </a:ln>
        <a:effectLst/>
      </c:spPr>
      <c:txPr>
        <a:bodyPr rot="0" spcFirstLastPara="1" vertOverflow="ellipsis" vert="horz" wrap="square" anchor="ctr" anchorCtr="1"/>
        <a:lstStyle/>
        <a:p>
          <a:pPr algn="ctr" rtl="0">
            <a:defRPr lang="en-US" sz="108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EPS</c:v>
                </c:pt>
              </c:strCache>
            </c:strRef>
          </c:tx>
          <c:spPr>
            <a:solidFill>
              <a:schemeClr val="bg1">
                <a:lumMod val="95000"/>
              </a:schemeClr>
            </a:solidFill>
            <a:ln>
              <a:noFill/>
            </a:ln>
            <a:effectLst/>
          </c:spPr>
          <c:invertIfNegative val="0"/>
          <c:dPt>
            <c:idx val="9"/>
            <c:invertIfNegative val="0"/>
            <c:bubble3D val="0"/>
            <c:spPr>
              <a:solidFill>
                <a:srgbClr val="00A288"/>
              </a:solidFill>
              <a:ln>
                <a:noFill/>
              </a:ln>
              <a:effectLst/>
            </c:spPr>
            <c:extLst>
              <c:ext xmlns:c16="http://schemas.microsoft.com/office/drawing/2014/chart" uri="{C3380CC4-5D6E-409C-BE32-E72D297353CC}">
                <c16:uniqueId val="{00000003-4368-479A-A071-678C52C521E5}"/>
              </c:ext>
            </c:extLst>
          </c:dPt>
          <c:dPt>
            <c:idx val="10"/>
            <c:invertIfNegative val="0"/>
            <c:bubble3D val="0"/>
            <c:spPr>
              <a:solidFill>
                <a:srgbClr val="00A288"/>
              </a:solidFill>
              <a:ln>
                <a:noFill/>
              </a:ln>
              <a:effectLst/>
            </c:spPr>
            <c:extLst>
              <c:ext xmlns:c16="http://schemas.microsoft.com/office/drawing/2014/chart" uri="{C3380CC4-5D6E-409C-BE32-E72D297353CC}">
                <c16:uniqueId val="{00000004-4368-479A-A071-678C52C521E5}"/>
              </c:ext>
            </c:extLst>
          </c:dPt>
          <c:dLbls>
            <c:dLbl>
              <c:idx val="2"/>
              <c:layout>
                <c:manualLayout>
                  <c:x val="2.8645502418044985E-17"/>
                  <c:y val="3.28124979815146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368-479A-A071-678C52C521E5}"/>
                </c:ext>
              </c:extLst>
            </c:dLbl>
            <c:dLbl>
              <c:idx val="9"/>
              <c:numFmt formatCode="#,##0.0" sourceLinked="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4368-479A-A071-678C52C521E5}"/>
                </c:ext>
              </c:extLst>
            </c:dLbl>
            <c:dLbl>
              <c:idx val="10"/>
              <c:numFmt formatCode="#,##0.0" sourceLinked="0"/>
              <c:spPr>
                <a:noFill/>
                <a:ln>
                  <a:noFill/>
                </a:ln>
                <a:effectLst/>
              </c:spPr>
              <c:txPr>
                <a:bodyPr rot="0" spcFirstLastPara="1" vertOverflow="ellipsis" vert="horz" wrap="square" anchor="ctr" anchorCtr="1"/>
                <a:lstStyle/>
                <a:p>
                  <a:pPr algn="ct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4-4368-479A-A071-678C52C521E5}"/>
                </c:ext>
              </c:extLst>
            </c:dLbl>
            <c:numFmt formatCode="#,##0.0" sourceLinked="0"/>
            <c:spPr>
              <a:noFill/>
              <a:ln>
                <a:noFill/>
              </a:ln>
              <a:effectLst/>
            </c:spPr>
            <c:txPr>
              <a:bodyPr rot="0" spcFirstLastPara="1" vertOverflow="ellipsis" vert="horz" wrap="square" anchor="ctr" anchorCtr="1"/>
              <a:lstStyle/>
              <a:p>
                <a:pPr algn="ctr">
                  <a:defRPr lang="en-US" sz="900" b="0"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FY 2016</c:v>
                </c:pt>
                <c:pt idx="1">
                  <c:v>FY 2017</c:v>
                </c:pt>
                <c:pt idx="2">
                  <c:v>FY 2018</c:v>
                </c:pt>
                <c:pt idx="3">
                  <c:v>FY 2019</c:v>
                </c:pt>
                <c:pt idx="4">
                  <c:v>FY 2020</c:v>
                </c:pt>
                <c:pt idx="5">
                  <c:v>FY 2021</c:v>
                </c:pt>
                <c:pt idx="6">
                  <c:v>FY 2022</c:v>
                </c:pt>
                <c:pt idx="7">
                  <c:v>FY 2023</c:v>
                </c:pt>
                <c:pt idx="8">
                  <c:v>FY 2024</c:v>
                </c:pt>
                <c:pt idx="9">
                  <c:v>FY 2025 E</c:v>
                </c:pt>
                <c:pt idx="10">
                  <c:v>FY 2026 E</c:v>
                </c:pt>
              </c:strCache>
            </c:strRef>
          </c:cat>
          <c:val>
            <c:numRef>
              <c:f>Sheet1!$B$2:$B$12</c:f>
              <c:numCache>
                <c:formatCode>#,##0.00</c:formatCode>
                <c:ptCount val="11"/>
                <c:pt idx="0">
                  <c:v>1017.2000000000002</c:v>
                </c:pt>
                <c:pt idx="1">
                  <c:v>1115.4615200000003</c:v>
                </c:pt>
                <c:pt idx="2">
                  <c:v>1313.3443936480003</c:v>
                </c:pt>
                <c:pt idx="3">
                  <c:v>1368.6361926205811</c:v>
                </c:pt>
                <c:pt idx="4">
                  <c:v>1317.7229262550954</c:v>
                </c:pt>
                <c:pt idx="5">
                  <c:v>1564.6642026353004</c:v>
                </c:pt>
                <c:pt idx="6">
                  <c:v>2067.0778781014951</c:v>
                </c:pt>
                <c:pt idx="7">
                  <c:v>2225.2093357762596</c:v>
                </c:pt>
                <c:pt idx="8">
                  <c:v>2734.5597527354453</c:v>
                </c:pt>
                <c:pt idx="9">
                  <c:v>2929.5338631054824</c:v>
                </c:pt>
                <c:pt idx="10">
                  <c:v>3272.2893250888237</c:v>
                </c:pt>
              </c:numCache>
            </c:numRef>
          </c:val>
          <c:extLst>
            <c:ext xmlns:c16="http://schemas.microsoft.com/office/drawing/2014/chart" uri="{C3380CC4-5D6E-409C-BE32-E72D297353CC}">
              <c16:uniqueId val="{00000000-4368-479A-A071-678C52C521E5}"/>
            </c:ext>
          </c:extLst>
        </c:ser>
        <c:dLbls>
          <c:showLegendKey val="0"/>
          <c:showVal val="0"/>
          <c:showCatName val="0"/>
          <c:showSerName val="0"/>
          <c:showPercent val="0"/>
          <c:showBubbleSize val="0"/>
        </c:dLbls>
        <c:gapWidth val="219"/>
        <c:axId val="853340271"/>
        <c:axId val="853341711"/>
      </c:barChart>
      <c:lineChart>
        <c:grouping val="standard"/>
        <c:varyColors val="0"/>
        <c:ser>
          <c:idx val="1"/>
          <c:order val="1"/>
          <c:tx>
            <c:strRef>
              <c:f>Sheet1!$C$1</c:f>
              <c:strCache>
                <c:ptCount val="1"/>
                <c:pt idx="0">
                  <c:v>% Change</c:v>
                </c:pt>
              </c:strCache>
            </c:strRef>
          </c:tx>
          <c:spPr>
            <a:ln w="28575" cap="rnd">
              <a:solidFill>
                <a:schemeClr val="accent2"/>
              </a:solidFill>
              <a:round/>
            </a:ln>
            <a:effectLst/>
          </c:spPr>
          <c:marker>
            <c:symbol val="none"/>
          </c:marker>
          <c:dLbls>
            <c:dLbl>
              <c:idx val="0"/>
              <c:layout>
                <c:manualLayout>
                  <c:x val="-3.1759459480541978E-2"/>
                  <c:y val="5.93511247532899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368-479A-A071-678C52C521E5}"/>
                </c:ext>
              </c:extLst>
            </c:dLbl>
            <c:dLbl>
              <c:idx val="1"/>
              <c:layout>
                <c:manualLayout>
                  <c:x val="-2.9160958250315817E-2"/>
                  <c:y val="3.77524739831262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368-479A-A071-678C52C521E5}"/>
                </c:ext>
              </c:extLst>
            </c:dLbl>
            <c:dLbl>
              <c:idx val="2"/>
              <c:layout>
                <c:manualLayout>
                  <c:x val="-3.1759459480541978E-2"/>
                  <c:y val="-2.59495805259426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368-479A-A071-678C52C521E5}"/>
                </c:ext>
              </c:extLst>
            </c:dLbl>
            <c:dLbl>
              <c:idx val="3"/>
              <c:layout>
                <c:manualLayout>
                  <c:x val="-3.125E-2"/>
                  <c:y val="3.28124979815145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368-479A-A071-678C52C521E5}"/>
                </c:ext>
              </c:extLst>
            </c:dLbl>
            <c:dLbl>
              <c:idx val="4"/>
              <c:layout>
                <c:manualLayout>
                  <c:x val="-3.1249961510528002E-2"/>
                  <c:y val="4.26797934402837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368-479A-A071-678C52C521E5}"/>
                </c:ext>
              </c:extLst>
            </c:dLbl>
            <c:dLbl>
              <c:idx val="5"/>
              <c:layout>
                <c:manualLayout>
                  <c:x val="-5.5749177556963389E-2"/>
                  <c:y val="8.785784910863151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368-479A-A071-678C52C521E5}"/>
                </c:ext>
              </c:extLst>
            </c:dLbl>
            <c:dLbl>
              <c:idx val="6"/>
              <c:layout>
                <c:manualLayout>
                  <c:x val="-3.125E-2"/>
                  <c:y val="-1.64062489907573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368-479A-A071-678C52C521E5}"/>
                </c:ext>
              </c:extLst>
            </c:dLbl>
            <c:dLbl>
              <c:idx val="7"/>
              <c:layout>
                <c:manualLayout>
                  <c:x val="-1.955265175013159E-2"/>
                  <c:y val="3.15628324038451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4368-479A-A071-678C52C521E5}"/>
                </c:ext>
              </c:extLst>
            </c:dLbl>
            <c:dLbl>
              <c:idx val="8"/>
              <c:layout>
                <c:manualLayout>
                  <c:x val="-2.0856161866807228E-2"/>
                  <c:y val="-1.94232814792893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368-479A-A071-678C52C521E5}"/>
                </c:ext>
              </c:extLst>
            </c:dLbl>
            <c:dLbl>
              <c:idx val="9"/>
              <c:layout>
                <c:manualLayout>
                  <c:x val="1.1731591050079012E-2"/>
                  <c:y val="2.9134922218933851E-2"/>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368-479A-A071-678C52C521E5}"/>
                </c:ext>
              </c:extLst>
            </c:dLbl>
            <c:dLbl>
              <c:idx val="10"/>
              <c:layout>
                <c:manualLayout>
                  <c:x val="1.8249141633456239E-2"/>
                  <c:y val="-1.4567461109467014E-2"/>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4368-479A-A071-678C52C521E5}"/>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FY 2016</c:v>
                </c:pt>
                <c:pt idx="1">
                  <c:v>FY 2017</c:v>
                </c:pt>
                <c:pt idx="2">
                  <c:v>FY 2018</c:v>
                </c:pt>
                <c:pt idx="3">
                  <c:v>FY 2019</c:v>
                </c:pt>
                <c:pt idx="4">
                  <c:v>FY 2020</c:v>
                </c:pt>
                <c:pt idx="5">
                  <c:v>FY 2021</c:v>
                </c:pt>
                <c:pt idx="6">
                  <c:v>FY 2022</c:v>
                </c:pt>
                <c:pt idx="7">
                  <c:v>FY 2023</c:v>
                </c:pt>
                <c:pt idx="8">
                  <c:v>FY 2024</c:v>
                </c:pt>
                <c:pt idx="9">
                  <c:v>FY 2025 E</c:v>
                </c:pt>
                <c:pt idx="10">
                  <c:v>FY 2026 E</c:v>
                </c:pt>
              </c:strCache>
            </c:strRef>
          </c:cat>
          <c:val>
            <c:numRef>
              <c:f>Sheet1!$C$2:$C$12</c:f>
              <c:numCache>
                <c:formatCode>0.00%</c:formatCode>
                <c:ptCount val="11"/>
                <c:pt idx="0">
                  <c:v>1.72E-2</c:v>
                </c:pt>
                <c:pt idx="1">
                  <c:v>9.6600000000000005E-2</c:v>
                </c:pt>
                <c:pt idx="2">
                  <c:v>0.17739999999999997</c:v>
                </c:pt>
                <c:pt idx="3">
                  <c:v>4.2099999999999999E-2</c:v>
                </c:pt>
                <c:pt idx="4">
                  <c:v>-3.7200000000000004E-2</c:v>
                </c:pt>
                <c:pt idx="5">
                  <c:v>0.18739999999999998</c:v>
                </c:pt>
                <c:pt idx="6">
                  <c:v>0.3211</c:v>
                </c:pt>
                <c:pt idx="7">
                  <c:v>7.6499999999999999E-2</c:v>
                </c:pt>
                <c:pt idx="8">
                  <c:v>0.22889999999999999</c:v>
                </c:pt>
                <c:pt idx="9">
                  <c:v>7.1300000000000002E-2</c:v>
                </c:pt>
                <c:pt idx="10">
                  <c:v>0.11699999999999999</c:v>
                </c:pt>
              </c:numCache>
            </c:numRef>
          </c:val>
          <c:smooth val="0"/>
          <c:extLst>
            <c:ext xmlns:c16="http://schemas.microsoft.com/office/drawing/2014/chart" uri="{C3380CC4-5D6E-409C-BE32-E72D297353CC}">
              <c16:uniqueId val="{00000001-4368-479A-A071-678C52C521E5}"/>
            </c:ext>
          </c:extLst>
        </c:ser>
        <c:dLbls>
          <c:showLegendKey val="0"/>
          <c:showVal val="0"/>
          <c:showCatName val="0"/>
          <c:showSerName val="0"/>
          <c:showPercent val="0"/>
          <c:showBubbleSize val="0"/>
        </c:dLbls>
        <c:marker val="1"/>
        <c:smooth val="0"/>
        <c:axId val="574283311"/>
        <c:axId val="574283791"/>
      </c:lineChart>
      <c:catAx>
        <c:axId val="8533402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endParaRPr lang="en-US"/>
          </a:p>
        </c:txPr>
        <c:crossAx val="853341711"/>
        <c:crosses val="autoZero"/>
        <c:auto val="1"/>
        <c:lblAlgn val="ctr"/>
        <c:lblOffset val="100"/>
        <c:noMultiLvlLbl val="0"/>
      </c:catAx>
      <c:valAx>
        <c:axId val="853341711"/>
        <c:scaling>
          <c:orientation val="minMax"/>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853340271"/>
        <c:crosses val="autoZero"/>
        <c:crossBetween val="between"/>
      </c:valAx>
      <c:valAx>
        <c:axId val="574283791"/>
        <c:scaling>
          <c:orientation val="minMax"/>
        </c:scaling>
        <c:delete val="0"/>
        <c:axPos val="r"/>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574283311"/>
        <c:crosses val="max"/>
        <c:crossBetween val="between"/>
      </c:valAx>
      <c:catAx>
        <c:axId val="574283311"/>
        <c:scaling>
          <c:orientation val="minMax"/>
        </c:scaling>
        <c:delete val="1"/>
        <c:axPos val="b"/>
        <c:numFmt formatCode="General" sourceLinked="1"/>
        <c:majorTickMark val="out"/>
        <c:minorTickMark val="none"/>
        <c:tickLblPos val="nextTo"/>
        <c:crossAx val="574283791"/>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lgn="ctr">
        <a:defRPr lang="en-US" sz="900" b="1" i="0" u="none" strike="noStrike" kern="1200" baseline="0">
          <a:solidFill>
            <a:schemeClr val="tx1">
              <a:lumMod val="65000"/>
              <a:lumOff val="35000"/>
            </a:schemeClr>
          </a:solidFill>
          <a:latin typeface="+mn-lt"/>
          <a:ea typeface="+mn-ea"/>
          <a:cs typeface="+mn-cs"/>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960" b="1" i="0" u="none" strike="noStrike" kern="1200" spc="0" baseline="0">
                <a:solidFill>
                  <a:schemeClr val="tx1">
                    <a:lumMod val="65000"/>
                    <a:lumOff val="35000"/>
                  </a:schemeClr>
                </a:solidFill>
                <a:latin typeface="+mn-lt"/>
                <a:ea typeface="+mn-ea"/>
                <a:cs typeface="+mn-cs"/>
              </a:defRPr>
            </a:pPr>
            <a:r>
              <a:rPr lang="en-IN" b="1"/>
              <a:t>Production – GVA Growth</a:t>
            </a:r>
          </a:p>
        </c:rich>
      </c:tx>
      <c:overlay val="0"/>
      <c:spPr>
        <a:noFill/>
        <a:ln>
          <a:noFill/>
        </a:ln>
        <a:effectLst/>
      </c:spPr>
      <c:txPr>
        <a:bodyPr rot="0" spcFirstLastPara="1" vertOverflow="ellipsis" vert="horz" wrap="square" anchor="ctr" anchorCtr="1"/>
        <a:lstStyle/>
        <a:p>
          <a:pPr>
            <a:defRPr sz="96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5058731630032497E-2"/>
          <c:y val="0.12145158511687236"/>
          <c:w val="0.89010605719600688"/>
          <c:h val="0.71099556849046441"/>
        </c:manualLayout>
      </c:layout>
      <c:barChart>
        <c:barDir val="col"/>
        <c:grouping val="clustered"/>
        <c:varyColors val="0"/>
        <c:ser>
          <c:idx val="0"/>
          <c:order val="0"/>
          <c:tx>
            <c:strRef>
              <c:f>Sheet1!$B$11</c:f>
              <c:strCache>
                <c:ptCount val="1"/>
                <c:pt idx="0">
                  <c:v>Industry</c:v>
                </c:pt>
              </c:strCache>
            </c:strRef>
          </c:tx>
          <c:spPr>
            <a:solidFill>
              <a:schemeClr val="accent4">
                <a:tint val="65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Sheet1!$C$10:$F$10</c:f>
              <c:strCache>
                <c:ptCount val="4"/>
                <c:pt idx="0">
                  <c:v>Q1</c:v>
                </c:pt>
                <c:pt idx="1">
                  <c:v>Q2</c:v>
                </c:pt>
                <c:pt idx="2">
                  <c:v>Q3</c:v>
                </c:pt>
                <c:pt idx="3">
                  <c:v>Q4</c:v>
                </c:pt>
              </c:strCache>
            </c:strRef>
          </c:cat>
          <c:val>
            <c:numRef>
              <c:f>Sheet1!$C$11:$F$11</c:f>
              <c:numCache>
                <c:formatCode>0.00%</c:formatCode>
                <c:ptCount val="4"/>
                <c:pt idx="0">
                  <c:v>8.5000000000000006E-2</c:v>
                </c:pt>
                <c:pt idx="1">
                  <c:v>3.7999999999999999E-2</c:v>
                </c:pt>
                <c:pt idx="2">
                  <c:v>4.8000000000000001E-2</c:v>
                </c:pt>
                <c:pt idx="3">
                  <c:v>6.5000000000000002E-2</c:v>
                </c:pt>
              </c:numCache>
            </c:numRef>
          </c:val>
          <c:extLst>
            <c:ext xmlns:c16="http://schemas.microsoft.com/office/drawing/2014/chart" uri="{C3380CC4-5D6E-409C-BE32-E72D297353CC}">
              <c16:uniqueId val="{00000000-825E-417B-BE5B-60442CDD79B2}"/>
            </c:ext>
          </c:extLst>
        </c:ser>
        <c:ser>
          <c:idx val="1"/>
          <c:order val="1"/>
          <c:tx>
            <c:strRef>
              <c:f>Sheet1!$B$12</c:f>
              <c:strCache>
                <c:ptCount val="1"/>
                <c:pt idx="0">
                  <c:v>Agri</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Sheet1!$C$10:$F$10</c:f>
              <c:strCache>
                <c:ptCount val="4"/>
                <c:pt idx="0">
                  <c:v>Q1</c:v>
                </c:pt>
                <c:pt idx="1">
                  <c:v>Q2</c:v>
                </c:pt>
                <c:pt idx="2">
                  <c:v>Q3</c:v>
                </c:pt>
                <c:pt idx="3">
                  <c:v>Q4</c:v>
                </c:pt>
              </c:strCache>
            </c:strRef>
          </c:cat>
          <c:val>
            <c:numRef>
              <c:f>Sheet1!$C$12:$F$12</c:f>
              <c:numCache>
                <c:formatCode>0.00%</c:formatCode>
                <c:ptCount val="4"/>
                <c:pt idx="0">
                  <c:v>1.4999999999999999E-2</c:v>
                </c:pt>
                <c:pt idx="1">
                  <c:v>4.1000000000000002E-2</c:v>
                </c:pt>
                <c:pt idx="2">
                  <c:v>6.6000000000000003E-2</c:v>
                </c:pt>
                <c:pt idx="3">
                  <c:v>5.3999999999999999E-2</c:v>
                </c:pt>
              </c:numCache>
            </c:numRef>
          </c:val>
          <c:extLst>
            <c:ext xmlns:c16="http://schemas.microsoft.com/office/drawing/2014/chart" uri="{C3380CC4-5D6E-409C-BE32-E72D297353CC}">
              <c16:uniqueId val="{00000001-825E-417B-BE5B-60442CDD79B2}"/>
            </c:ext>
          </c:extLst>
        </c:ser>
        <c:ser>
          <c:idx val="2"/>
          <c:order val="2"/>
          <c:tx>
            <c:strRef>
              <c:f>Sheet1!$B$13</c:f>
              <c:strCache>
                <c:ptCount val="1"/>
                <c:pt idx="0">
                  <c:v>Services</c:v>
                </c:pt>
              </c:strCache>
            </c:strRef>
          </c:tx>
          <c:spPr>
            <a:solidFill>
              <a:schemeClr val="accent4">
                <a:shade val="65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Sheet1!$C$10:$F$10</c:f>
              <c:strCache>
                <c:ptCount val="4"/>
                <c:pt idx="0">
                  <c:v>Q1</c:v>
                </c:pt>
                <c:pt idx="1">
                  <c:v>Q2</c:v>
                </c:pt>
                <c:pt idx="2">
                  <c:v>Q3</c:v>
                </c:pt>
                <c:pt idx="3">
                  <c:v>Q4</c:v>
                </c:pt>
              </c:strCache>
            </c:strRef>
          </c:cat>
          <c:val>
            <c:numRef>
              <c:f>Sheet1!$C$13:$F$13</c:f>
              <c:numCache>
                <c:formatCode>0.00%</c:formatCode>
                <c:ptCount val="4"/>
                <c:pt idx="0">
                  <c:v>6.8000000000000005E-2</c:v>
                </c:pt>
                <c:pt idx="1">
                  <c:v>7.1999999999999995E-2</c:v>
                </c:pt>
                <c:pt idx="2">
                  <c:v>7.3999999999999996E-2</c:v>
                </c:pt>
                <c:pt idx="3">
                  <c:v>7.2999999999999995E-2</c:v>
                </c:pt>
              </c:numCache>
            </c:numRef>
          </c:val>
          <c:extLst>
            <c:ext xmlns:c16="http://schemas.microsoft.com/office/drawing/2014/chart" uri="{C3380CC4-5D6E-409C-BE32-E72D297353CC}">
              <c16:uniqueId val="{00000002-825E-417B-BE5B-60442CDD79B2}"/>
            </c:ext>
          </c:extLst>
        </c:ser>
        <c:dLbls>
          <c:showLegendKey val="0"/>
          <c:showVal val="0"/>
          <c:showCatName val="0"/>
          <c:showSerName val="0"/>
          <c:showPercent val="0"/>
          <c:showBubbleSize val="0"/>
        </c:dLbls>
        <c:gapWidth val="219"/>
        <c:overlap val="-27"/>
        <c:axId val="857473279"/>
        <c:axId val="857474719"/>
      </c:barChart>
      <c:catAx>
        <c:axId val="857473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857474719"/>
        <c:crosses val="autoZero"/>
        <c:auto val="1"/>
        <c:lblAlgn val="ctr"/>
        <c:lblOffset val="100"/>
        <c:noMultiLvlLbl val="0"/>
      </c:catAx>
      <c:valAx>
        <c:axId val="857474719"/>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857473279"/>
        <c:crosses val="autoZero"/>
        <c:crossBetween val="between"/>
      </c:valAx>
      <c:spPr>
        <a:noFill/>
        <a:ln>
          <a:noFill/>
        </a:ln>
        <a:effectLst/>
      </c:spPr>
    </c:plotArea>
    <c:legend>
      <c:legendPos val="b"/>
      <c:layout>
        <c:manualLayout>
          <c:xMode val="edge"/>
          <c:yMode val="edge"/>
          <c:x val="0.36770512337784472"/>
          <c:y val="0.91678951979151013"/>
          <c:w val="0.27813623206647092"/>
          <c:h val="7.8555379207459891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pPr>
      <a:endParaRPr lang="en-US"/>
    </a:p>
  </c:txPr>
  <c:externalData r:id="rId4">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960" b="1" i="0" u="none" strike="noStrike" kern="1200" spc="0" baseline="0">
                <a:solidFill>
                  <a:schemeClr val="tx1">
                    <a:lumMod val="65000"/>
                    <a:lumOff val="35000"/>
                  </a:schemeClr>
                </a:solidFill>
                <a:latin typeface="+mn-lt"/>
                <a:ea typeface="+mn-ea"/>
                <a:cs typeface="+mn-cs"/>
              </a:defRPr>
            </a:pPr>
            <a:r>
              <a:rPr lang="en-IN" b="1"/>
              <a:t>Expenditure – GDP Growth</a:t>
            </a:r>
          </a:p>
        </c:rich>
      </c:tx>
      <c:overlay val="0"/>
      <c:spPr>
        <a:noFill/>
        <a:ln>
          <a:noFill/>
        </a:ln>
        <a:effectLst/>
      </c:spPr>
      <c:txPr>
        <a:bodyPr rot="0" spcFirstLastPara="1" vertOverflow="ellipsis" vert="horz" wrap="square" anchor="ctr" anchorCtr="1"/>
        <a:lstStyle/>
        <a:p>
          <a:pPr>
            <a:defRPr sz="96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4346054448657559E-2"/>
          <c:y val="5.0044788492075762E-2"/>
          <c:w val="0.90120371894950635"/>
          <c:h val="0.91893051974193585"/>
        </c:manualLayout>
      </c:layout>
      <c:barChart>
        <c:barDir val="col"/>
        <c:grouping val="clustered"/>
        <c:varyColors val="0"/>
        <c:ser>
          <c:idx val="0"/>
          <c:order val="0"/>
          <c:tx>
            <c:strRef>
              <c:f>Sheet1!$B$17</c:f>
              <c:strCache>
                <c:ptCount val="1"/>
                <c:pt idx="0">
                  <c:v>PFCE</c:v>
                </c:pt>
              </c:strCache>
            </c:strRef>
          </c:tx>
          <c:spPr>
            <a:solidFill>
              <a:schemeClr val="accent6">
                <a:tint val="54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Sheet1!$C$16:$F$16</c:f>
              <c:strCache>
                <c:ptCount val="4"/>
                <c:pt idx="0">
                  <c:v>Q1</c:v>
                </c:pt>
                <c:pt idx="1">
                  <c:v>Q2</c:v>
                </c:pt>
                <c:pt idx="2">
                  <c:v>Q3</c:v>
                </c:pt>
                <c:pt idx="3">
                  <c:v>Q4</c:v>
                </c:pt>
              </c:strCache>
            </c:strRef>
          </c:cat>
          <c:val>
            <c:numRef>
              <c:f>Sheet1!$C$17:$F$17</c:f>
              <c:numCache>
                <c:formatCode>0.00%</c:formatCode>
                <c:ptCount val="4"/>
                <c:pt idx="0">
                  <c:v>8.3000000000000004E-2</c:v>
                </c:pt>
                <c:pt idx="1">
                  <c:v>6.4000000000000001E-2</c:v>
                </c:pt>
                <c:pt idx="2">
                  <c:v>8.1000000000000003E-2</c:v>
                </c:pt>
                <c:pt idx="3">
                  <c:v>0.06</c:v>
                </c:pt>
              </c:numCache>
            </c:numRef>
          </c:val>
          <c:extLst>
            <c:ext xmlns:c16="http://schemas.microsoft.com/office/drawing/2014/chart" uri="{C3380CC4-5D6E-409C-BE32-E72D297353CC}">
              <c16:uniqueId val="{00000000-E712-496F-9AC3-68D47EF66E11}"/>
            </c:ext>
          </c:extLst>
        </c:ser>
        <c:ser>
          <c:idx val="1"/>
          <c:order val="1"/>
          <c:tx>
            <c:strRef>
              <c:f>Sheet1!$B$18</c:f>
              <c:strCache>
                <c:ptCount val="1"/>
                <c:pt idx="0">
                  <c:v>GFCE</c:v>
                </c:pt>
              </c:strCache>
            </c:strRef>
          </c:tx>
          <c:spPr>
            <a:solidFill>
              <a:schemeClr val="accent6">
                <a:tint val="77000"/>
              </a:schemeClr>
            </a:solidFill>
            <a:ln>
              <a:noFill/>
            </a:ln>
            <a:effectLst/>
          </c:spPr>
          <c:invertIfNegative val="0"/>
          <c:dLbls>
            <c:dLbl>
              <c:idx val="0"/>
              <c:layout>
                <c:manualLayout>
                  <c:x val="-2.1063132378826451E-17"/>
                  <c:y val="-5.41509036402508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712-496F-9AC3-68D47EF66E11}"/>
                </c:ext>
              </c:extLst>
            </c:dLbl>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Sheet1!$C$16:$F$16</c:f>
              <c:strCache>
                <c:ptCount val="4"/>
                <c:pt idx="0">
                  <c:v>Q1</c:v>
                </c:pt>
                <c:pt idx="1">
                  <c:v>Q2</c:v>
                </c:pt>
                <c:pt idx="2">
                  <c:v>Q3</c:v>
                </c:pt>
                <c:pt idx="3">
                  <c:v>Q4</c:v>
                </c:pt>
              </c:strCache>
            </c:strRef>
          </c:cat>
          <c:val>
            <c:numRef>
              <c:f>Sheet1!$C$18:$F$18</c:f>
              <c:numCache>
                <c:formatCode>0.00%</c:formatCode>
                <c:ptCount val="4"/>
                <c:pt idx="0">
                  <c:v>-3.0000000000000001E-3</c:v>
                </c:pt>
                <c:pt idx="1">
                  <c:v>4.2999999999999997E-2</c:v>
                </c:pt>
                <c:pt idx="2">
                  <c:v>9.2999999999999999E-2</c:v>
                </c:pt>
                <c:pt idx="3">
                  <c:v>-1.7999999999999999E-2</c:v>
                </c:pt>
              </c:numCache>
            </c:numRef>
          </c:val>
          <c:extLst>
            <c:ext xmlns:c16="http://schemas.microsoft.com/office/drawing/2014/chart" uri="{C3380CC4-5D6E-409C-BE32-E72D297353CC}">
              <c16:uniqueId val="{00000001-E712-496F-9AC3-68D47EF66E11}"/>
            </c:ext>
          </c:extLst>
        </c:ser>
        <c:ser>
          <c:idx val="2"/>
          <c:order val="2"/>
          <c:tx>
            <c:strRef>
              <c:f>Sheet1!$B$19</c:f>
              <c:strCache>
                <c:ptCount val="1"/>
                <c:pt idx="0">
                  <c:v>GFCF</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Sheet1!$C$16:$F$16</c:f>
              <c:strCache>
                <c:ptCount val="4"/>
                <c:pt idx="0">
                  <c:v>Q1</c:v>
                </c:pt>
                <c:pt idx="1">
                  <c:v>Q2</c:v>
                </c:pt>
                <c:pt idx="2">
                  <c:v>Q3</c:v>
                </c:pt>
                <c:pt idx="3">
                  <c:v>Q4</c:v>
                </c:pt>
              </c:strCache>
            </c:strRef>
          </c:cat>
          <c:val>
            <c:numRef>
              <c:f>Sheet1!$C$19:$F$19</c:f>
              <c:numCache>
                <c:formatCode>0.00%</c:formatCode>
                <c:ptCount val="4"/>
                <c:pt idx="0">
                  <c:v>6.7000000000000004E-2</c:v>
                </c:pt>
                <c:pt idx="1">
                  <c:v>6.7000000000000004E-2</c:v>
                </c:pt>
                <c:pt idx="2">
                  <c:v>5.1999999999999998E-2</c:v>
                </c:pt>
                <c:pt idx="3">
                  <c:v>9.4E-2</c:v>
                </c:pt>
              </c:numCache>
            </c:numRef>
          </c:val>
          <c:extLst>
            <c:ext xmlns:c16="http://schemas.microsoft.com/office/drawing/2014/chart" uri="{C3380CC4-5D6E-409C-BE32-E72D297353CC}">
              <c16:uniqueId val="{00000002-E712-496F-9AC3-68D47EF66E11}"/>
            </c:ext>
          </c:extLst>
        </c:ser>
        <c:ser>
          <c:idx val="3"/>
          <c:order val="3"/>
          <c:tx>
            <c:strRef>
              <c:f>Sheet1!$B$20</c:f>
              <c:strCache>
                <c:ptCount val="1"/>
                <c:pt idx="0">
                  <c:v>Exports</c:v>
                </c:pt>
              </c:strCache>
            </c:strRef>
          </c:tx>
          <c:spPr>
            <a:solidFill>
              <a:schemeClr val="accent6">
                <a:shade val="76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Sheet1!$C$16:$F$16</c:f>
              <c:strCache>
                <c:ptCount val="4"/>
                <c:pt idx="0">
                  <c:v>Q1</c:v>
                </c:pt>
                <c:pt idx="1">
                  <c:v>Q2</c:v>
                </c:pt>
                <c:pt idx="2">
                  <c:v>Q3</c:v>
                </c:pt>
                <c:pt idx="3">
                  <c:v>Q4</c:v>
                </c:pt>
              </c:strCache>
            </c:strRef>
          </c:cat>
          <c:val>
            <c:numRef>
              <c:f>Sheet1!$C$20:$F$20</c:f>
              <c:numCache>
                <c:formatCode>0.00%</c:formatCode>
                <c:ptCount val="4"/>
                <c:pt idx="0">
                  <c:v>8.3000000000000004E-2</c:v>
                </c:pt>
                <c:pt idx="1">
                  <c:v>0.03</c:v>
                </c:pt>
                <c:pt idx="2">
                  <c:v>0.108</c:v>
                </c:pt>
                <c:pt idx="3">
                  <c:v>3.9E-2</c:v>
                </c:pt>
              </c:numCache>
            </c:numRef>
          </c:val>
          <c:extLst>
            <c:ext xmlns:c16="http://schemas.microsoft.com/office/drawing/2014/chart" uri="{C3380CC4-5D6E-409C-BE32-E72D297353CC}">
              <c16:uniqueId val="{00000003-E712-496F-9AC3-68D47EF66E11}"/>
            </c:ext>
          </c:extLst>
        </c:ser>
        <c:ser>
          <c:idx val="4"/>
          <c:order val="4"/>
          <c:tx>
            <c:strRef>
              <c:f>Sheet1!$B$21</c:f>
              <c:strCache>
                <c:ptCount val="1"/>
                <c:pt idx="0">
                  <c:v>Imports</c:v>
                </c:pt>
              </c:strCache>
            </c:strRef>
          </c:tx>
          <c:spPr>
            <a:solidFill>
              <a:schemeClr val="accent6">
                <a:shade val="53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Sheet1!$C$16:$F$16</c:f>
              <c:strCache>
                <c:ptCount val="4"/>
                <c:pt idx="0">
                  <c:v>Q1</c:v>
                </c:pt>
                <c:pt idx="1">
                  <c:v>Q2</c:v>
                </c:pt>
                <c:pt idx="2">
                  <c:v>Q3</c:v>
                </c:pt>
                <c:pt idx="3">
                  <c:v>Q4</c:v>
                </c:pt>
              </c:strCache>
            </c:strRef>
          </c:cat>
          <c:val>
            <c:numRef>
              <c:f>Sheet1!$C$21:$F$21</c:f>
              <c:numCache>
                <c:formatCode>0%</c:formatCode>
                <c:ptCount val="4"/>
                <c:pt idx="0" formatCode="0.00%">
                  <c:v>-1.6E-2</c:v>
                </c:pt>
                <c:pt idx="1">
                  <c:v>0.01</c:v>
                </c:pt>
                <c:pt idx="2" formatCode="0.00%">
                  <c:v>-2.1000000000000001E-2</c:v>
                </c:pt>
                <c:pt idx="3" formatCode="0.00%">
                  <c:v>-0.127</c:v>
                </c:pt>
              </c:numCache>
            </c:numRef>
          </c:val>
          <c:extLst>
            <c:ext xmlns:c16="http://schemas.microsoft.com/office/drawing/2014/chart" uri="{C3380CC4-5D6E-409C-BE32-E72D297353CC}">
              <c16:uniqueId val="{00000004-E712-496F-9AC3-68D47EF66E11}"/>
            </c:ext>
          </c:extLst>
        </c:ser>
        <c:dLbls>
          <c:showLegendKey val="0"/>
          <c:showVal val="0"/>
          <c:showCatName val="0"/>
          <c:showSerName val="0"/>
          <c:showPercent val="0"/>
          <c:showBubbleSize val="0"/>
        </c:dLbls>
        <c:gapWidth val="219"/>
        <c:overlap val="-27"/>
        <c:axId val="1206638751"/>
        <c:axId val="1206642111"/>
      </c:barChart>
      <c:catAx>
        <c:axId val="1206638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206642111"/>
        <c:crosses val="autoZero"/>
        <c:auto val="1"/>
        <c:lblAlgn val="ctr"/>
        <c:lblOffset val="100"/>
        <c:noMultiLvlLbl val="0"/>
      </c:catAx>
      <c:valAx>
        <c:axId val="1206642111"/>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12066387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800"/>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colors2.xml><?xml version="1.0" encoding="utf-8"?>
<cs:colorStyle xmlns:cs="http://schemas.microsoft.com/office/drawing/2012/chartStyle" xmlns:a="http://schemas.openxmlformats.org/drawingml/2006/main" meth="withinLinearReversed" id="24">
  <a:schemeClr val="accent4"/>
</cs:colorStyle>
</file>

<file path=ppt/charts/colors3.xml><?xml version="1.0" encoding="utf-8"?>
<cs:colorStyle xmlns:cs="http://schemas.microsoft.com/office/drawing/2012/chartStyle" xmlns:a="http://schemas.openxmlformats.org/drawingml/2006/main" meth="withinLinearReversed" id="21">
  <a:schemeClr val="accent1"/>
</cs:colorStyle>
</file>

<file path=ppt/charts/colors4.xml><?xml version="1.0" encoding="utf-8"?>
<cs:colorStyle xmlns:cs="http://schemas.microsoft.com/office/drawing/2012/chartStyle" xmlns:a="http://schemas.openxmlformats.org/drawingml/2006/main" meth="withinLinearReversed" id="24">
  <a:schemeClr val="accent4"/>
</cs:colorStyle>
</file>

<file path=ppt/charts/colors5.xml><?xml version="1.0" encoding="utf-8"?>
<cs:colorStyle xmlns:cs="http://schemas.microsoft.com/office/drawing/2012/chartStyle" xmlns:a="http://schemas.openxmlformats.org/drawingml/2006/main" meth="withinLinearReversed" id="24">
  <a:schemeClr val="accent4"/>
</cs:colorStyle>
</file>

<file path=ppt/charts/colors6.xml><?xml version="1.0" encoding="utf-8"?>
<cs:colorStyle xmlns:cs="http://schemas.microsoft.com/office/drawing/2012/chartStyle" xmlns:a="http://schemas.openxmlformats.org/drawingml/2006/main" meth="withinLinearReversed" id="24">
  <a:schemeClr val="accent4"/>
</cs:colorStyle>
</file>

<file path=ppt/charts/colors7.xml><?xml version="1.0" encoding="utf-8"?>
<cs:colorStyle xmlns:cs="http://schemas.microsoft.com/office/drawing/2012/chartStyle" xmlns:a="http://schemas.openxmlformats.org/drawingml/2006/main" meth="withinLinearReversed" id="24">
  <a:schemeClr val="accent4"/>
</cs:colorStyle>
</file>

<file path=ppt/charts/colors8.xml><?xml version="1.0" encoding="utf-8"?>
<cs:colorStyle xmlns:cs="http://schemas.microsoft.com/office/drawing/2012/chartStyle" xmlns:a="http://schemas.openxmlformats.org/drawingml/2006/main" meth="withinLinearReversed" id="24">
  <a:schemeClr val="accent4"/>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withinLinearReversed" id="24">
  <a:schemeClr val="accent4"/>
</cs:colorStyle>
</file>

<file path=ppt/charts/colors19.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4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a:solidFill>
          <a:schemeClr val="tx1">
            <a:lumMod val="15000"/>
            <a:lumOff val="85000"/>
          </a:schemeClr>
        </a:solidFill>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19050" cap="rnd">
        <a:solidFill>
          <a:schemeClr val="phClr">
            <a:alpha val="60000"/>
          </a:schemeClr>
        </a:solidFill>
        <a:round/>
      </a:ln>
    </cs:spPr>
  </cs:dataPointLine>
  <cs:dataPointMarker>
    <cs:lnRef idx="0">
      <cs:styleClr val="auto"/>
    </cs:lnRef>
    <cs:fillRef idx="0">
      <cs:styleClr val="auto"/>
    </cs:fillRef>
    <cs:effectRef idx="0"/>
    <cs:fontRef idx="minor">
      <a:schemeClr val="dk1"/>
    </cs:fontRef>
    <cs:spPr>
      <a:solidFill>
        <a:schemeClr val="lt1"/>
      </a:solidFill>
      <a:ln w="38100">
        <a:solidFill>
          <a:schemeClr val="phClr">
            <a:alpha val="60000"/>
          </a:schemeClr>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15000"/>
            <a:lumOff val="8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a:solidFill>
          <a:schemeClr val="tx1">
            <a:lumMod val="15000"/>
            <a:lumOff val="85000"/>
          </a:schemeClr>
        </a:solidFill>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a:solidFill>
          <a:schemeClr val="tx1">
            <a:lumMod val="25000"/>
            <a:lumOff val="75000"/>
          </a:schemeClr>
        </a:solidFill>
      </a:ln>
    </cs:spPr>
    <cs:defRPr sz="1197" kern="1200" spc="20" baseline="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4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a:solidFill>
          <a:schemeClr val="tx1">
            <a:lumMod val="15000"/>
            <a:lumOff val="85000"/>
          </a:schemeClr>
        </a:solidFill>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19050" cap="rnd">
        <a:solidFill>
          <a:schemeClr val="phClr">
            <a:alpha val="60000"/>
          </a:schemeClr>
        </a:solidFill>
        <a:round/>
      </a:ln>
    </cs:spPr>
  </cs:dataPointLine>
  <cs:dataPointMarker>
    <cs:lnRef idx="0">
      <cs:styleClr val="auto"/>
    </cs:lnRef>
    <cs:fillRef idx="0">
      <cs:styleClr val="auto"/>
    </cs:fillRef>
    <cs:effectRef idx="0"/>
    <cs:fontRef idx="minor">
      <a:schemeClr val="dk1"/>
    </cs:fontRef>
    <cs:spPr>
      <a:solidFill>
        <a:schemeClr val="lt1"/>
      </a:solidFill>
      <a:ln w="38100">
        <a:solidFill>
          <a:schemeClr val="phClr">
            <a:alpha val="60000"/>
          </a:schemeClr>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15000"/>
            <a:lumOff val="8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a:solidFill>
          <a:schemeClr val="tx1">
            <a:lumMod val="15000"/>
            <a:lumOff val="85000"/>
          </a:schemeClr>
        </a:solidFill>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a:solidFill>
          <a:schemeClr val="tx1">
            <a:lumMod val="25000"/>
            <a:lumOff val="75000"/>
          </a:schemeClr>
        </a:solidFill>
      </a:ln>
    </cs:spPr>
    <cs:defRPr sz="1197" kern="1200" spc="20" baseline="0"/>
  </cs:valueAxis>
  <cs:wall>
    <cs:lnRef idx="0"/>
    <cs:fillRef idx="0"/>
    <cs:effectRef idx="0"/>
    <cs:fontRef idx="minor">
      <a:schemeClr val="dk1"/>
    </cs:fontRef>
  </cs:wall>
</cs:chartStyle>
</file>

<file path=ppt/charts/style14.xml><?xml version="1.0" encoding="utf-8"?>
<cs:chartStyle xmlns:cs="http://schemas.microsoft.com/office/drawing/2012/chartStyle" xmlns:a="http://schemas.openxmlformats.org/drawingml/2006/main" id="24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a:solidFill>
          <a:schemeClr val="tx1">
            <a:lumMod val="15000"/>
            <a:lumOff val="85000"/>
          </a:schemeClr>
        </a:solidFill>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19050" cap="rnd">
        <a:solidFill>
          <a:schemeClr val="phClr">
            <a:alpha val="60000"/>
          </a:schemeClr>
        </a:solidFill>
        <a:round/>
      </a:ln>
    </cs:spPr>
  </cs:dataPointLine>
  <cs:dataPointMarker>
    <cs:lnRef idx="0">
      <cs:styleClr val="auto"/>
    </cs:lnRef>
    <cs:fillRef idx="0">
      <cs:styleClr val="auto"/>
    </cs:fillRef>
    <cs:effectRef idx="0"/>
    <cs:fontRef idx="minor">
      <a:schemeClr val="dk1"/>
    </cs:fontRef>
    <cs:spPr>
      <a:solidFill>
        <a:schemeClr val="lt1"/>
      </a:solidFill>
      <a:ln w="38100">
        <a:solidFill>
          <a:schemeClr val="phClr">
            <a:alpha val="60000"/>
          </a:schemeClr>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15000"/>
            <a:lumOff val="8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a:solidFill>
          <a:schemeClr val="tx1">
            <a:lumMod val="15000"/>
            <a:lumOff val="85000"/>
          </a:schemeClr>
        </a:solidFill>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a:solidFill>
          <a:schemeClr val="tx1">
            <a:lumMod val="25000"/>
            <a:lumOff val="75000"/>
          </a:schemeClr>
        </a:solidFill>
      </a:ln>
    </cs:spPr>
    <cs:defRPr sz="1197" kern="1200" spc="20" baseline="0"/>
  </cs:valueAxis>
  <cs:wall>
    <cs:lnRef idx="0"/>
    <cs:fillRef idx="0"/>
    <cs:effectRef idx="0"/>
    <cs:fontRef idx="minor">
      <a:schemeClr val="dk1"/>
    </cs:fontRef>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F72446-8698-42DE-9F75-AD5A45A06E67}" type="datetimeFigureOut">
              <a:rPr lang="en-IN" smtClean="0"/>
              <a:t>09-07-2025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C81A29-9184-40A7-A7A2-5C3B2FF7B19A}" type="slidenum">
              <a:rPr lang="en-IN" smtClean="0"/>
              <a:t>‹#›</a:t>
            </a:fld>
            <a:endParaRPr lang="en-IN"/>
          </a:p>
        </p:txBody>
      </p:sp>
    </p:spTree>
    <p:extLst>
      <p:ext uri="{BB962C8B-B14F-4D97-AF65-F5344CB8AC3E}">
        <p14:creationId xmlns:p14="http://schemas.microsoft.com/office/powerpoint/2010/main" val="3847446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2</a:t>
            </a:fld>
            <a:endParaRPr lang="en-US" dirty="0"/>
          </a:p>
        </p:txBody>
      </p:sp>
    </p:spTree>
    <p:extLst>
      <p:ext uri="{BB962C8B-B14F-4D97-AF65-F5344CB8AC3E}">
        <p14:creationId xmlns:p14="http://schemas.microsoft.com/office/powerpoint/2010/main" val="408853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C81A29-9184-40A7-A7A2-5C3B2FF7B19A}" type="slidenum">
              <a:rPr lang="en-IN" smtClean="0"/>
              <a:t>4</a:t>
            </a:fld>
            <a:endParaRPr lang="en-IN"/>
          </a:p>
        </p:txBody>
      </p:sp>
    </p:spTree>
    <p:extLst>
      <p:ext uri="{BB962C8B-B14F-4D97-AF65-F5344CB8AC3E}">
        <p14:creationId xmlns:p14="http://schemas.microsoft.com/office/powerpoint/2010/main" val="37191015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C629A-4A6E-B7B4-5CA1-E7B594E9A9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47FA8-F0AF-0044-E83B-4A8C8B9504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35F679-D512-9014-BF51-CE5E1251987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737D833-BEDD-4577-B531-6C1981CDF5C8}"/>
              </a:ext>
            </a:extLst>
          </p:cNvPr>
          <p:cNvSpPr>
            <a:spLocks noGrp="1"/>
          </p:cNvSpPr>
          <p:nvPr>
            <p:ph type="sldNum" sz="quarter" idx="5"/>
          </p:nvPr>
        </p:nvSpPr>
        <p:spPr/>
        <p:txBody>
          <a:bodyPr/>
          <a:lstStyle/>
          <a:p>
            <a:fld id="{B6C81A29-9184-40A7-A7A2-5C3B2FF7B19A}" type="slidenum">
              <a:rPr lang="en-IN" smtClean="0"/>
              <a:t>5</a:t>
            </a:fld>
            <a:endParaRPr lang="en-IN"/>
          </a:p>
        </p:txBody>
      </p:sp>
    </p:spTree>
    <p:extLst>
      <p:ext uri="{BB962C8B-B14F-4D97-AF65-F5344CB8AC3E}">
        <p14:creationId xmlns:p14="http://schemas.microsoft.com/office/powerpoint/2010/main" val="1106897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B20EF-9E2F-230E-CAD2-B33063C29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55D85F-350E-67AA-A3CA-907FB18C4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C2C699-EFFB-A1DC-17F0-F0C5D4EE50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FACE00-C1FA-FC3A-D228-E6802463383C}"/>
              </a:ext>
            </a:extLst>
          </p:cNvPr>
          <p:cNvSpPr>
            <a:spLocks noGrp="1"/>
          </p:cNvSpPr>
          <p:nvPr>
            <p:ph type="sldNum" sz="quarter" idx="10"/>
          </p:nvPr>
        </p:nvSpPr>
        <p:spPr/>
        <p:txBody>
          <a:bodyPr/>
          <a:lstStyle/>
          <a:p>
            <a:fld id="{6C33A816-6662-4657-9504-42B5F0CCA12E}" type="slidenum">
              <a:rPr lang="en-US" smtClean="0"/>
              <a:t>7</a:t>
            </a:fld>
            <a:endParaRPr lang="en-US" dirty="0"/>
          </a:p>
        </p:txBody>
      </p:sp>
    </p:spTree>
    <p:extLst>
      <p:ext uri="{BB962C8B-B14F-4D97-AF65-F5344CB8AC3E}">
        <p14:creationId xmlns:p14="http://schemas.microsoft.com/office/powerpoint/2010/main" val="1345180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6C81A29-9184-40A7-A7A2-5C3B2FF7B19A}" type="slidenum">
              <a:rPr lang="en-IN" smtClean="0"/>
              <a:t>8</a:t>
            </a:fld>
            <a:endParaRPr lang="en-IN"/>
          </a:p>
        </p:txBody>
      </p:sp>
    </p:spTree>
    <p:extLst>
      <p:ext uri="{BB962C8B-B14F-4D97-AF65-F5344CB8AC3E}">
        <p14:creationId xmlns:p14="http://schemas.microsoft.com/office/powerpoint/2010/main" val="1741479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6C81A29-9184-40A7-A7A2-5C3B2FF7B19A}" type="slidenum">
              <a:rPr lang="en-IN" smtClean="0"/>
              <a:t>9</a:t>
            </a:fld>
            <a:endParaRPr lang="en-IN"/>
          </a:p>
        </p:txBody>
      </p:sp>
    </p:spTree>
    <p:extLst>
      <p:ext uri="{BB962C8B-B14F-4D97-AF65-F5344CB8AC3E}">
        <p14:creationId xmlns:p14="http://schemas.microsoft.com/office/powerpoint/2010/main" val="338014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11</a:t>
            </a:fld>
            <a:endParaRPr lang="en-US" dirty="0"/>
          </a:p>
        </p:txBody>
      </p:sp>
    </p:spTree>
    <p:extLst>
      <p:ext uri="{BB962C8B-B14F-4D97-AF65-F5344CB8AC3E}">
        <p14:creationId xmlns:p14="http://schemas.microsoft.com/office/powerpoint/2010/main" val="2647767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36161-9789-241F-0315-BA937715F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62CF2-9F73-E592-CA18-A74DE888A0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FE7762-3F3F-CE8A-F85D-86362473EE6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29C63E0-E064-DB0C-1752-D8DCC8A854A6}"/>
              </a:ext>
            </a:extLst>
          </p:cNvPr>
          <p:cNvSpPr>
            <a:spLocks noGrp="1"/>
          </p:cNvSpPr>
          <p:nvPr>
            <p:ph type="sldNum" sz="quarter" idx="5"/>
          </p:nvPr>
        </p:nvSpPr>
        <p:spPr/>
        <p:txBody>
          <a:bodyPr/>
          <a:lstStyle/>
          <a:p>
            <a:fld id="{B6C81A29-9184-40A7-A7A2-5C3B2FF7B19A}" type="slidenum">
              <a:rPr lang="en-IN" smtClean="0"/>
              <a:t>12</a:t>
            </a:fld>
            <a:endParaRPr lang="en-IN"/>
          </a:p>
        </p:txBody>
      </p:sp>
    </p:spTree>
    <p:extLst>
      <p:ext uri="{BB962C8B-B14F-4D97-AF65-F5344CB8AC3E}">
        <p14:creationId xmlns:p14="http://schemas.microsoft.com/office/powerpoint/2010/main" val="301496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15</a:t>
            </a:fld>
            <a:endParaRPr lang="en-US" dirty="0"/>
          </a:p>
        </p:txBody>
      </p:sp>
    </p:spTree>
    <p:extLst>
      <p:ext uri="{BB962C8B-B14F-4D97-AF65-F5344CB8AC3E}">
        <p14:creationId xmlns:p14="http://schemas.microsoft.com/office/powerpoint/2010/main" val="946911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6C81A29-9184-40A7-A7A2-5C3B2FF7B19A}" type="slidenum">
              <a:rPr lang="en-IN" smtClean="0"/>
              <a:t>17</a:t>
            </a:fld>
            <a:endParaRPr lang="en-IN"/>
          </a:p>
        </p:txBody>
      </p:sp>
    </p:spTree>
    <p:extLst>
      <p:ext uri="{BB962C8B-B14F-4D97-AF65-F5344CB8AC3E}">
        <p14:creationId xmlns:p14="http://schemas.microsoft.com/office/powerpoint/2010/main" val="3564618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71228-AFD1-E0DA-22BF-8F706E660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CF6C7-F688-32E4-D456-33D63AA24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B8B76-C278-05B0-1E86-2A113BE9223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675F948-C3F4-FA0F-E0AB-1F1B9898AFAE}"/>
              </a:ext>
            </a:extLst>
          </p:cNvPr>
          <p:cNvSpPr>
            <a:spLocks noGrp="1"/>
          </p:cNvSpPr>
          <p:nvPr>
            <p:ph type="sldNum" sz="quarter" idx="5"/>
          </p:nvPr>
        </p:nvSpPr>
        <p:spPr/>
        <p:txBody>
          <a:bodyPr/>
          <a:lstStyle/>
          <a:p>
            <a:fld id="{B6C81A29-9184-40A7-A7A2-5C3B2FF7B19A}" type="slidenum">
              <a:rPr lang="en-IN" smtClean="0"/>
              <a:t>18</a:t>
            </a:fld>
            <a:endParaRPr lang="en-IN"/>
          </a:p>
        </p:txBody>
      </p:sp>
    </p:spTree>
    <p:extLst>
      <p:ext uri="{BB962C8B-B14F-4D97-AF65-F5344CB8AC3E}">
        <p14:creationId xmlns:p14="http://schemas.microsoft.com/office/powerpoint/2010/main" val="1476099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19</a:t>
            </a:fld>
            <a:endParaRPr lang="en-US" dirty="0"/>
          </a:p>
        </p:txBody>
      </p:sp>
    </p:spTree>
    <p:extLst>
      <p:ext uri="{BB962C8B-B14F-4D97-AF65-F5344CB8AC3E}">
        <p14:creationId xmlns:p14="http://schemas.microsoft.com/office/powerpoint/2010/main" val="3640484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D5532-EB7B-05F3-3AA7-58FC8EC44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9F209-58CC-E2A8-8412-0D5C824324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F0021-97E1-8583-61D6-22A8B33D46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FC5D40-1168-9DA3-55E1-54CCD96E1675}"/>
              </a:ext>
            </a:extLst>
          </p:cNvPr>
          <p:cNvSpPr>
            <a:spLocks noGrp="1"/>
          </p:cNvSpPr>
          <p:nvPr>
            <p:ph type="sldNum" sz="quarter" idx="5"/>
          </p:nvPr>
        </p:nvSpPr>
        <p:spPr/>
        <p:txBody>
          <a:bodyPr/>
          <a:lstStyle/>
          <a:p>
            <a:fld id="{B6C81A29-9184-40A7-A7A2-5C3B2FF7B19A}" type="slidenum">
              <a:rPr lang="en-IN" smtClean="0"/>
              <a:t>20</a:t>
            </a:fld>
            <a:endParaRPr lang="en-IN"/>
          </a:p>
        </p:txBody>
      </p:sp>
    </p:spTree>
    <p:extLst>
      <p:ext uri="{BB962C8B-B14F-4D97-AF65-F5344CB8AC3E}">
        <p14:creationId xmlns:p14="http://schemas.microsoft.com/office/powerpoint/2010/main" val="3064545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F1D44-911E-B4BB-F2EF-40A9F348B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C42D7-7D04-A6A9-B44E-5DBA0F04F7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B42593-F5C4-F3CA-C2AE-56C0CC206A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AE8FA36-D971-8336-6B0E-27E0E366DA0D}"/>
              </a:ext>
            </a:extLst>
          </p:cNvPr>
          <p:cNvSpPr>
            <a:spLocks noGrp="1"/>
          </p:cNvSpPr>
          <p:nvPr>
            <p:ph type="sldNum" sz="quarter" idx="5"/>
          </p:nvPr>
        </p:nvSpPr>
        <p:spPr/>
        <p:txBody>
          <a:bodyPr/>
          <a:lstStyle/>
          <a:p>
            <a:fld id="{B6C81A29-9184-40A7-A7A2-5C3B2FF7B19A}" type="slidenum">
              <a:rPr lang="en-IN" smtClean="0"/>
              <a:t>21</a:t>
            </a:fld>
            <a:endParaRPr lang="en-IN"/>
          </a:p>
        </p:txBody>
      </p:sp>
    </p:spTree>
    <p:extLst>
      <p:ext uri="{BB962C8B-B14F-4D97-AF65-F5344CB8AC3E}">
        <p14:creationId xmlns:p14="http://schemas.microsoft.com/office/powerpoint/2010/main" val="27216067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25A20-4D38-B363-2082-108747E44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2D3B0-C408-9514-7424-BD97F986A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3DEAF5-4F8D-D28B-5F80-A67EA903B1C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9C1C601-630D-6114-D35E-2013ABFE1B73}"/>
              </a:ext>
            </a:extLst>
          </p:cNvPr>
          <p:cNvSpPr>
            <a:spLocks noGrp="1"/>
          </p:cNvSpPr>
          <p:nvPr>
            <p:ph type="sldNum" sz="quarter" idx="5"/>
          </p:nvPr>
        </p:nvSpPr>
        <p:spPr/>
        <p:txBody>
          <a:bodyPr/>
          <a:lstStyle/>
          <a:p>
            <a:fld id="{B6C81A29-9184-40A7-A7A2-5C3B2FF7B19A}" type="slidenum">
              <a:rPr lang="en-IN" smtClean="0"/>
              <a:t>22</a:t>
            </a:fld>
            <a:endParaRPr lang="en-IN"/>
          </a:p>
        </p:txBody>
      </p:sp>
    </p:spTree>
    <p:extLst>
      <p:ext uri="{BB962C8B-B14F-4D97-AF65-F5344CB8AC3E}">
        <p14:creationId xmlns:p14="http://schemas.microsoft.com/office/powerpoint/2010/main" val="1862042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23</a:t>
            </a:fld>
            <a:endParaRPr lang="en-US" dirty="0"/>
          </a:p>
        </p:txBody>
      </p:sp>
    </p:spTree>
    <p:extLst>
      <p:ext uri="{BB962C8B-B14F-4D97-AF65-F5344CB8AC3E}">
        <p14:creationId xmlns:p14="http://schemas.microsoft.com/office/powerpoint/2010/main" val="1400966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C5B50-2660-9CF1-7427-4308EF4BAA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EB3F5-C391-DBE2-5C3B-A78123963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D74EC1-8184-9F2F-7578-118D98345D1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F5A60C7-7770-9D98-7E7D-6CCFC4D83C5D}"/>
              </a:ext>
            </a:extLst>
          </p:cNvPr>
          <p:cNvSpPr>
            <a:spLocks noGrp="1"/>
          </p:cNvSpPr>
          <p:nvPr>
            <p:ph type="sldNum" sz="quarter" idx="5"/>
          </p:nvPr>
        </p:nvSpPr>
        <p:spPr/>
        <p:txBody>
          <a:bodyPr/>
          <a:lstStyle/>
          <a:p>
            <a:fld id="{B6C81A29-9184-40A7-A7A2-5C3B2FF7B19A}" type="slidenum">
              <a:rPr lang="en-IN" smtClean="0"/>
              <a:t>24</a:t>
            </a:fld>
            <a:endParaRPr lang="en-IN"/>
          </a:p>
        </p:txBody>
      </p:sp>
    </p:spTree>
    <p:extLst>
      <p:ext uri="{BB962C8B-B14F-4D97-AF65-F5344CB8AC3E}">
        <p14:creationId xmlns:p14="http://schemas.microsoft.com/office/powerpoint/2010/main" val="4289598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87824-34FA-4765-2CEB-26F78252E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830DC-EC66-8DDD-2C4C-F30554524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30BDA-40E6-67AA-5D56-14EA14FC28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87F273E-92B4-C6D2-3B0F-96F35D11D844}"/>
              </a:ext>
            </a:extLst>
          </p:cNvPr>
          <p:cNvSpPr>
            <a:spLocks noGrp="1"/>
          </p:cNvSpPr>
          <p:nvPr>
            <p:ph type="sldNum" sz="quarter" idx="5"/>
          </p:nvPr>
        </p:nvSpPr>
        <p:spPr/>
        <p:txBody>
          <a:bodyPr/>
          <a:lstStyle/>
          <a:p>
            <a:fld id="{B6C81A29-9184-40A7-A7A2-5C3B2FF7B19A}" type="slidenum">
              <a:rPr lang="en-IN" smtClean="0"/>
              <a:t>25</a:t>
            </a:fld>
            <a:endParaRPr lang="en-IN"/>
          </a:p>
        </p:txBody>
      </p:sp>
    </p:spTree>
    <p:extLst>
      <p:ext uri="{BB962C8B-B14F-4D97-AF65-F5344CB8AC3E}">
        <p14:creationId xmlns:p14="http://schemas.microsoft.com/office/powerpoint/2010/main" val="23730244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26</a:t>
            </a:fld>
            <a:endParaRPr lang="en-US" dirty="0"/>
          </a:p>
        </p:txBody>
      </p:sp>
    </p:spTree>
    <p:extLst>
      <p:ext uri="{BB962C8B-B14F-4D97-AF65-F5344CB8AC3E}">
        <p14:creationId xmlns:p14="http://schemas.microsoft.com/office/powerpoint/2010/main" val="29822352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5A923-A07D-512F-8A85-2ECD1A7B0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E9627-6741-0800-5580-54EF11AE0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AEC38F-8C6C-3369-DCA7-7F989C90A03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8D42179-D57C-2658-AF6E-02248C538215}"/>
              </a:ext>
            </a:extLst>
          </p:cNvPr>
          <p:cNvSpPr>
            <a:spLocks noGrp="1"/>
          </p:cNvSpPr>
          <p:nvPr>
            <p:ph type="sldNum" sz="quarter" idx="5"/>
          </p:nvPr>
        </p:nvSpPr>
        <p:spPr/>
        <p:txBody>
          <a:bodyPr/>
          <a:lstStyle/>
          <a:p>
            <a:fld id="{B6C81A29-9184-40A7-A7A2-5C3B2FF7B19A}" type="slidenum">
              <a:rPr lang="en-IN" smtClean="0"/>
              <a:t>27</a:t>
            </a:fld>
            <a:endParaRPr lang="en-IN"/>
          </a:p>
        </p:txBody>
      </p:sp>
    </p:spTree>
    <p:extLst>
      <p:ext uri="{BB962C8B-B14F-4D97-AF65-F5344CB8AC3E}">
        <p14:creationId xmlns:p14="http://schemas.microsoft.com/office/powerpoint/2010/main" val="7495154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C9E55-C1EE-CB36-5C2C-676527FCA790}"/>
            </a:ext>
          </a:extLst>
        </p:cNvPr>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984434E5-1A7E-A35B-79AE-6E7DD515D2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29D74E53-86DA-8DCF-D36C-06DB9AD941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4756" name="Slide Number Placeholder 3">
            <a:extLst>
              <a:ext uri="{FF2B5EF4-FFF2-40B4-BE49-F238E27FC236}">
                <a16:creationId xmlns:a16="http://schemas.microsoft.com/office/drawing/2014/main" id="{22EA1B1B-2B42-92A2-C014-EC6804AEF7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B16351-E7BF-430B-A6CF-1D69AF40339B}" type="slidenum">
              <a:rPr lang="en-US" altLang="en-US" smtClean="0"/>
              <a:pPr/>
              <a:t>28</a:t>
            </a:fld>
            <a:endParaRPr lang="en-US" altLang="en-US"/>
          </a:p>
        </p:txBody>
      </p:sp>
    </p:spTree>
    <p:extLst>
      <p:ext uri="{BB962C8B-B14F-4D97-AF65-F5344CB8AC3E}">
        <p14:creationId xmlns:p14="http://schemas.microsoft.com/office/powerpoint/2010/main" val="37342762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E5B66-EE6C-D37D-24E9-7973321DD1EB}"/>
            </a:ext>
          </a:extLst>
        </p:cNvPr>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3C2A6D66-80EC-AADE-84E7-2C91A12A7B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E653F795-204C-0785-45AC-47CAC332B8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4756" name="Slide Number Placeholder 3">
            <a:extLst>
              <a:ext uri="{FF2B5EF4-FFF2-40B4-BE49-F238E27FC236}">
                <a16:creationId xmlns:a16="http://schemas.microsoft.com/office/drawing/2014/main" id="{D2F6370B-52F8-7C89-AE3A-F991E977568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B16351-E7BF-430B-A6CF-1D69AF40339B}" type="slidenum">
              <a:rPr lang="en-US" altLang="en-US" smtClean="0"/>
              <a:pPr/>
              <a:t>29</a:t>
            </a:fld>
            <a:endParaRPr lang="en-US" altLang="en-US"/>
          </a:p>
        </p:txBody>
      </p:sp>
    </p:spTree>
    <p:extLst>
      <p:ext uri="{BB962C8B-B14F-4D97-AF65-F5344CB8AC3E}">
        <p14:creationId xmlns:p14="http://schemas.microsoft.com/office/powerpoint/2010/main" val="21673317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62609-5A78-42DB-E5E9-C0F84F042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78389-D798-A0F3-EDD1-1F53958A55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10AC9-33FC-4316-C2A7-479339287C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9292CB2-86EA-0619-4E06-AD6CE84C3602}"/>
              </a:ext>
            </a:extLst>
          </p:cNvPr>
          <p:cNvSpPr>
            <a:spLocks noGrp="1"/>
          </p:cNvSpPr>
          <p:nvPr>
            <p:ph type="sldNum" sz="quarter" idx="5"/>
          </p:nvPr>
        </p:nvSpPr>
        <p:spPr/>
        <p:txBody>
          <a:bodyPr/>
          <a:lstStyle/>
          <a:p>
            <a:fld id="{B6C81A29-9184-40A7-A7A2-5C3B2FF7B19A}" type="slidenum">
              <a:rPr lang="en-IN" smtClean="0"/>
              <a:t>30</a:t>
            </a:fld>
            <a:endParaRPr lang="en-IN"/>
          </a:p>
        </p:txBody>
      </p:sp>
    </p:spTree>
    <p:extLst>
      <p:ext uri="{BB962C8B-B14F-4D97-AF65-F5344CB8AC3E}">
        <p14:creationId xmlns:p14="http://schemas.microsoft.com/office/powerpoint/2010/main" val="16949302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B2794AED-3CBF-423F-8F70-2FCAF163D8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5D39C81B-19E9-42A2-92A4-1809D3EDC2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4756" name="Slide Number Placeholder 3">
            <a:extLst>
              <a:ext uri="{FF2B5EF4-FFF2-40B4-BE49-F238E27FC236}">
                <a16:creationId xmlns:a16="http://schemas.microsoft.com/office/drawing/2014/main" id="{5E16E891-6106-4F93-91F8-9815AD43FB3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B16351-E7BF-430B-A6CF-1D69AF40339B}" type="slidenum">
              <a:rPr lang="en-US" altLang="en-US" smtClean="0"/>
              <a:pPr/>
              <a:t>31</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B2794AED-3CBF-423F-8F70-2FCAF163D8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5D39C81B-19E9-42A2-92A4-1809D3EDC2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4756" name="Slide Number Placeholder 3">
            <a:extLst>
              <a:ext uri="{FF2B5EF4-FFF2-40B4-BE49-F238E27FC236}">
                <a16:creationId xmlns:a16="http://schemas.microsoft.com/office/drawing/2014/main" id="{5E16E891-6106-4F93-91F8-9815AD43FB3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B16351-E7BF-430B-A6CF-1D69AF40339B}" type="slidenum">
              <a:rPr lang="en-US" altLang="en-US" smtClean="0"/>
              <a:pPr/>
              <a:t>33</a:t>
            </a:fld>
            <a:endParaRPr lang="en-US" altLang="en-US"/>
          </a:p>
        </p:txBody>
      </p:sp>
    </p:spTree>
    <p:extLst>
      <p:ext uri="{BB962C8B-B14F-4D97-AF65-F5344CB8AC3E}">
        <p14:creationId xmlns:p14="http://schemas.microsoft.com/office/powerpoint/2010/main" val="2226912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061B6-3B09-8D55-9035-8978A7BBE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E4C38-3E0E-30EE-25AB-83C300B43B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DD0326-3681-F0EB-2E3D-1E8E366EB65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B12ED35-A10D-ED2D-B642-6EFF616E0C33}"/>
              </a:ext>
            </a:extLst>
          </p:cNvPr>
          <p:cNvSpPr>
            <a:spLocks noGrp="1"/>
          </p:cNvSpPr>
          <p:nvPr>
            <p:ph type="sldNum" sz="quarter" idx="5"/>
          </p:nvPr>
        </p:nvSpPr>
        <p:spPr/>
        <p:txBody>
          <a:bodyPr/>
          <a:lstStyle/>
          <a:p>
            <a:fld id="{0D12985F-994D-440D-96D9-3B10A7ED158E}" type="slidenum">
              <a:rPr lang="en-IN" smtClean="0"/>
              <a:t>34</a:t>
            </a:fld>
            <a:endParaRPr lang="en-IN" dirty="0"/>
          </a:p>
        </p:txBody>
      </p:sp>
    </p:spTree>
    <p:extLst>
      <p:ext uri="{BB962C8B-B14F-4D97-AF65-F5344CB8AC3E}">
        <p14:creationId xmlns:p14="http://schemas.microsoft.com/office/powerpoint/2010/main" val="17887764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E970B-67F8-9E3F-C84F-1D23DFBB7C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F32D8-EC8A-5CDC-BCF9-E5E351FCD7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F303E4-8E8A-989D-0EBA-13232728801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8583082-EC24-1CF9-21C2-591F28360732}"/>
              </a:ext>
            </a:extLst>
          </p:cNvPr>
          <p:cNvSpPr>
            <a:spLocks noGrp="1"/>
          </p:cNvSpPr>
          <p:nvPr>
            <p:ph type="sldNum" sz="quarter" idx="5"/>
          </p:nvPr>
        </p:nvSpPr>
        <p:spPr/>
        <p:txBody>
          <a:bodyPr/>
          <a:lstStyle/>
          <a:p>
            <a:fld id="{0D12985F-994D-440D-96D9-3B10A7ED158E}" type="slidenum">
              <a:rPr lang="en-IN" smtClean="0"/>
              <a:t>36</a:t>
            </a:fld>
            <a:endParaRPr lang="en-IN" dirty="0"/>
          </a:p>
        </p:txBody>
      </p:sp>
    </p:spTree>
    <p:extLst>
      <p:ext uri="{BB962C8B-B14F-4D97-AF65-F5344CB8AC3E}">
        <p14:creationId xmlns:p14="http://schemas.microsoft.com/office/powerpoint/2010/main" val="2418585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12985F-994D-440D-96D9-3B10A7ED158E}" type="slidenum">
              <a:rPr lang="en-IN" smtClean="0"/>
              <a:t>37</a:t>
            </a:fld>
            <a:endParaRPr lang="en-IN" dirty="0"/>
          </a:p>
        </p:txBody>
      </p:sp>
    </p:spTree>
    <p:extLst>
      <p:ext uri="{BB962C8B-B14F-4D97-AF65-F5344CB8AC3E}">
        <p14:creationId xmlns:p14="http://schemas.microsoft.com/office/powerpoint/2010/main" val="9689324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D12985F-994D-440D-96D9-3B10A7ED158E}" type="slidenum">
              <a:rPr lang="en-IN" smtClean="0"/>
              <a:t>38</a:t>
            </a:fld>
            <a:endParaRPr lang="en-IN" dirty="0"/>
          </a:p>
        </p:txBody>
      </p:sp>
    </p:spTree>
    <p:extLst>
      <p:ext uri="{BB962C8B-B14F-4D97-AF65-F5344CB8AC3E}">
        <p14:creationId xmlns:p14="http://schemas.microsoft.com/office/powerpoint/2010/main" val="29812827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D12985F-994D-440D-96D9-3B10A7ED158E}" type="slidenum">
              <a:rPr lang="en-IN" smtClean="0"/>
              <a:t>44</a:t>
            </a:fld>
            <a:endParaRPr lang="en-IN" dirty="0"/>
          </a:p>
        </p:txBody>
      </p:sp>
    </p:spTree>
    <p:extLst>
      <p:ext uri="{BB962C8B-B14F-4D97-AF65-F5344CB8AC3E}">
        <p14:creationId xmlns:p14="http://schemas.microsoft.com/office/powerpoint/2010/main" val="25925713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EA89C-C846-4166-55A6-E32B50FB09C0}"/>
            </a:ext>
          </a:extLst>
        </p:cNvPr>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58A84B60-DD31-6007-471B-B919464A35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0A9A4992-F584-FEC7-AFDD-1B992FC0D4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4756" name="Slide Number Placeholder 3">
            <a:extLst>
              <a:ext uri="{FF2B5EF4-FFF2-40B4-BE49-F238E27FC236}">
                <a16:creationId xmlns:a16="http://schemas.microsoft.com/office/drawing/2014/main" id="{1AA27D49-9FA7-B84E-711E-167873F0D14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B16351-E7BF-430B-A6CF-1D69AF40339B}" type="slidenum">
              <a:rPr lang="en-US" altLang="en-US" smtClean="0"/>
              <a:pPr/>
              <a:t>45</a:t>
            </a:fld>
            <a:endParaRPr lang="en-US" altLang="en-US"/>
          </a:p>
        </p:txBody>
      </p:sp>
    </p:spTree>
    <p:extLst>
      <p:ext uri="{BB962C8B-B14F-4D97-AF65-F5344CB8AC3E}">
        <p14:creationId xmlns:p14="http://schemas.microsoft.com/office/powerpoint/2010/main" val="9262755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F659D-E343-0418-3BEA-E966DFBD2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AF584-60E7-AC0E-544A-7532B6728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F1A2C1-1B47-AC50-411C-5DB4DFA7AA9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1CFB09D-E425-C446-FB75-E44C8830A4C4}"/>
              </a:ext>
            </a:extLst>
          </p:cNvPr>
          <p:cNvSpPr>
            <a:spLocks noGrp="1"/>
          </p:cNvSpPr>
          <p:nvPr>
            <p:ph type="sldNum" sz="quarter" idx="5"/>
          </p:nvPr>
        </p:nvSpPr>
        <p:spPr/>
        <p:txBody>
          <a:bodyPr/>
          <a:lstStyle/>
          <a:p>
            <a:fld id="{B6C81A29-9184-40A7-A7A2-5C3B2FF7B19A}" type="slidenum">
              <a:rPr lang="en-IN" smtClean="0"/>
              <a:t>46</a:t>
            </a:fld>
            <a:endParaRPr lang="en-IN"/>
          </a:p>
        </p:txBody>
      </p:sp>
    </p:spTree>
    <p:extLst>
      <p:ext uri="{BB962C8B-B14F-4D97-AF65-F5344CB8AC3E}">
        <p14:creationId xmlns:p14="http://schemas.microsoft.com/office/powerpoint/2010/main" val="32048963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22F28-C824-0346-D044-35DD964B44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261F5-93AB-6A54-9669-AD9D9CAE24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426416-DED3-C442-D187-3FC515A743E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CDF4D4D-A7DD-6B15-250F-1A008E5D02B4}"/>
              </a:ext>
            </a:extLst>
          </p:cNvPr>
          <p:cNvSpPr>
            <a:spLocks noGrp="1"/>
          </p:cNvSpPr>
          <p:nvPr>
            <p:ph type="sldNum" sz="quarter" idx="5"/>
          </p:nvPr>
        </p:nvSpPr>
        <p:spPr/>
        <p:txBody>
          <a:bodyPr/>
          <a:lstStyle/>
          <a:p>
            <a:fld id="{B6C81A29-9184-40A7-A7A2-5C3B2FF7B19A}" type="slidenum">
              <a:rPr lang="en-IN" smtClean="0"/>
              <a:t>47</a:t>
            </a:fld>
            <a:endParaRPr lang="en-IN"/>
          </a:p>
        </p:txBody>
      </p:sp>
    </p:spTree>
    <p:extLst>
      <p:ext uri="{BB962C8B-B14F-4D97-AF65-F5344CB8AC3E}">
        <p14:creationId xmlns:p14="http://schemas.microsoft.com/office/powerpoint/2010/main" val="24908069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1B167-98E6-DC5E-7C33-EC30CBE28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C3A33-C0CE-FE03-B135-4E0868BC6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15342-1739-B893-5950-933AF5CD508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24E1AE6-0A6F-EFC7-1AF4-0E43AA749E9C}"/>
              </a:ext>
            </a:extLst>
          </p:cNvPr>
          <p:cNvSpPr>
            <a:spLocks noGrp="1"/>
          </p:cNvSpPr>
          <p:nvPr>
            <p:ph type="sldNum" sz="quarter" idx="5"/>
          </p:nvPr>
        </p:nvSpPr>
        <p:spPr/>
        <p:txBody>
          <a:bodyPr/>
          <a:lstStyle/>
          <a:p>
            <a:fld id="{B6C81A29-9184-40A7-A7A2-5C3B2FF7B19A}" type="slidenum">
              <a:rPr lang="en-IN" smtClean="0"/>
              <a:t>48</a:t>
            </a:fld>
            <a:endParaRPr lang="en-IN"/>
          </a:p>
        </p:txBody>
      </p:sp>
    </p:spTree>
    <p:extLst>
      <p:ext uri="{BB962C8B-B14F-4D97-AF65-F5344CB8AC3E}">
        <p14:creationId xmlns:p14="http://schemas.microsoft.com/office/powerpoint/2010/main" val="12993123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02C17-590E-3638-6CC5-1A544675F7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EEFFC-5099-647B-6040-AE6201C5A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921F4-182A-B516-FB6A-768C541CBAD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BEF7BC-5C08-1FAE-6D55-EB30E6EF140F}"/>
              </a:ext>
            </a:extLst>
          </p:cNvPr>
          <p:cNvSpPr>
            <a:spLocks noGrp="1"/>
          </p:cNvSpPr>
          <p:nvPr>
            <p:ph type="sldNum" sz="quarter" idx="5"/>
          </p:nvPr>
        </p:nvSpPr>
        <p:spPr/>
        <p:txBody>
          <a:bodyPr/>
          <a:lstStyle/>
          <a:p>
            <a:fld id="{B6C81A29-9184-40A7-A7A2-5C3B2FF7B19A}" type="slidenum">
              <a:rPr lang="en-IN" smtClean="0"/>
              <a:t>49</a:t>
            </a:fld>
            <a:endParaRPr lang="en-IN"/>
          </a:p>
        </p:txBody>
      </p:sp>
    </p:spTree>
    <p:extLst>
      <p:ext uri="{BB962C8B-B14F-4D97-AF65-F5344CB8AC3E}">
        <p14:creationId xmlns:p14="http://schemas.microsoft.com/office/powerpoint/2010/main" val="24682905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33A816-6662-4657-9504-42B5F0CCA12E}" type="slidenum">
              <a:rPr lang="en-US" smtClean="0"/>
              <a:t>50</a:t>
            </a:fld>
            <a:endParaRPr lang="en-US" dirty="0"/>
          </a:p>
        </p:txBody>
      </p:sp>
    </p:spTree>
    <p:extLst>
      <p:ext uri="{BB962C8B-B14F-4D97-AF65-F5344CB8AC3E}">
        <p14:creationId xmlns:p14="http://schemas.microsoft.com/office/powerpoint/2010/main" val="3907656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6D7D0-0E59-5AB3-653B-5E0B680B57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FA82022-3430-DD49-20EC-9C06EC224A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045C01A-7718-3F60-89F8-650B83DFE441}"/>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5" name="Footer Placeholder 4">
            <a:extLst>
              <a:ext uri="{FF2B5EF4-FFF2-40B4-BE49-F238E27FC236}">
                <a16:creationId xmlns:a16="http://schemas.microsoft.com/office/drawing/2014/main" id="{45EBA8BD-657B-5993-2CE3-E0F58FFBE9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CF6D92-0498-11E9-9697-41F3B27B590A}"/>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1951643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5C4E8-0A3D-CCC8-EFDE-D9AB73C963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7A8D97-1C25-D2F2-33F2-5AC7E42762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E5DB2A-2A90-6A83-4B20-B5D93A21324D}"/>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5" name="Footer Placeholder 4">
            <a:extLst>
              <a:ext uri="{FF2B5EF4-FFF2-40B4-BE49-F238E27FC236}">
                <a16:creationId xmlns:a16="http://schemas.microsoft.com/office/drawing/2014/main" id="{C7A73F66-AC8C-EDEF-6865-E16D53FCDC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AF4EDB-6B3D-8ED4-4D37-7C2D8C994E4B}"/>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700788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00749-E7C2-54CE-BF65-863FA5A141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159F08-5FFC-A10D-6458-FE1CFAD34F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57AEC6-97B5-5F90-D391-D78AAB7AA646}"/>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5" name="Footer Placeholder 4">
            <a:extLst>
              <a:ext uri="{FF2B5EF4-FFF2-40B4-BE49-F238E27FC236}">
                <a16:creationId xmlns:a16="http://schemas.microsoft.com/office/drawing/2014/main" id="{0AA0ECA6-C426-06F8-9822-8EDF1C6709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30D89F-A8EB-1CE4-D6B8-434EFBC281F4}"/>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2013688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61EB9-39FB-AB82-AE2F-0A598A979C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BE96A6-1AFB-3567-86C3-DDB7F4ECBC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74E59E2-881D-E25E-5A0C-66DC09BCA7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45D0420-9529-73C1-87AE-EDE834E5D593}"/>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6" name="Footer Placeholder 5">
            <a:extLst>
              <a:ext uri="{FF2B5EF4-FFF2-40B4-BE49-F238E27FC236}">
                <a16:creationId xmlns:a16="http://schemas.microsoft.com/office/drawing/2014/main" id="{04A30251-EC6B-B88A-FAC7-64176A4DFA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F45E6C-A69D-4D6E-AC53-DCC20571FC59}"/>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3541892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8218A-8F07-8075-AA08-FF0C1086050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3FCA05-07CA-972A-83C4-25D657EFC2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926934-5779-B43B-C93A-3CAB91244D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0D33D45-A07E-11A8-900A-73C0C848DC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DE7F38-4B06-CD1B-1AC9-BFCCA5A76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ED65ABD-D76D-8382-E7CB-5E5CF6288D62}"/>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8" name="Footer Placeholder 7">
            <a:extLst>
              <a:ext uri="{FF2B5EF4-FFF2-40B4-BE49-F238E27FC236}">
                <a16:creationId xmlns:a16="http://schemas.microsoft.com/office/drawing/2014/main" id="{0235AF06-3E2F-883B-B71E-590DEDCFC15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9D58B3E-73F5-1F59-6CC1-264F9890C90F}"/>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1985044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1EB2E-DEA6-0679-4D03-8E77BC861C9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6AB3554-F858-1AF0-ABD7-B80D1A1D93A6}"/>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4" name="Footer Placeholder 3">
            <a:extLst>
              <a:ext uri="{FF2B5EF4-FFF2-40B4-BE49-F238E27FC236}">
                <a16:creationId xmlns:a16="http://schemas.microsoft.com/office/drawing/2014/main" id="{B1421761-C44D-09AE-E744-F3783A9668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0126F79-4084-7E93-B912-1EFD6A6A97A3}"/>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3492104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1D0E-5E84-4759-FB13-74C3E2FBF258}"/>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3" name="Footer Placeholder 2">
            <a:extLst>
              <a:ext uri="{FF2B5EF4-FFF2-40B4-BE49-F238E27FC236}">
                <a16:creationId xmlns:a16="http://schemas.microsoft.com/office/drawing/2014/main" id="{D110D38B-FCF6-D130-93FC-BE7995DF936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4C191E0-9ACA-2AD8-CA73-5840DBB6DB7D}"/>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181775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41D30-926D-D2D2-4B65-D6F6869399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25095D-CD51-A077-0E15-0497328332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D796B1-5C2F-5A64-7332-B0CF221D52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0C165E-D773-8DC1-B82F-DD115288BEBC}"/>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6" name="Footer Placeholder 5">
            <a:extLst>
              <a:ext uri="{FF2B5EF4-FFF2-40B4-BE49-F238E27FC236}">
                <a16:creationId xmlns:a16="http://schemas.microsoft.com/office/drawing/2014/main" id="{B073C95D-F484-F898-3E59-FA702BFAAD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D7434B-3596-0652-93AB-9BA52846208B}"/>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247491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7C20B-2764-8374-54EA-4EE9725718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7DE74E1-E225-24D5-9FB1-0C13852518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86580B-FA34-581A-C91E-70005A08D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FE4896-4E0B-7A70-11CA-268A00A03122}"/>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6" name="Footer Placeholder 5">
            <a:extLst>
              <a:ext uri="{FF2B5EF4-FFF2-40B4-BE49-F238E27FC236}">
                <a16:creationId xmlns:a16="http://schemas.microsoft.com/office/drawing/2014/main" id="{95E8253A-5395-BB8D-AF75-0E6ADF7534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6E41CD-9019-36FE-314D-417DB895295C}"/>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537135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2D72F-5D88-1973-2C74-4332661A72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158716-77FE-AC16-4487-5695C2DF3F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591466-E688-A2C5-E06E-D8E9EF8F80E1}"/>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5" name="Footer Placeholder 4">
            <a:extLst>
              <a:ext uri="{FF2B5EF4-FFF2-40B4-BE49-F238E27FC236}">
                <a16:creationId xmlns:a16="http://schemas.microsoft.com/office/drawing/2014/main" id="{F20338D1-216D-40F4-8C00-7A200AF579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0E04A6-41E0-0541-12F0-1697C7E14A3F}"/>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1490252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F37637-03D0-1855-91ED-2E247F5938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85B426-D1B4-31CF-08AB-CCC16DE2C5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258176-3F9D-3823-930F-C3E236440174}"/>
              </a:ext>
            </a:extLst>
          </p:cNvPr>
          <p:cNvSpPr>
            <a:spLocks noGrp="1"/>
          </p:cNvSpPr>
          <p:nvPr>
            <p:ph type="dt" sz="half" idx="10"/>
          </p:nvPr>
        </p:nvSpPr>
        <p:spPr/>
        <p:txBody>
          <a:bodyPr/>
          <a:lstStyle/>
          <a:p>
            <a:fld id="{F3D11841-E870-4EA6-AE2E-B98681D8C40F}" type="datetimeFigureOut">
              <a:rPr lang="en-IN" smtClean="0"/>
              <a:t>09-07-2025</a:t>
            </a:fld>
            <a:endParaRPr lang="en-IN"/>
          </a:p>
        </p:txBody>
      </p:sp>
      <p:sp>
        <p:nvSpPr>
          <p:cNvPr id="5" name="Footer Placeholder 4">
            <a:extLst>
              <a:ext uri="{FF2B5EF4-FFF2-40B4-BE49-F238E27FC236}">
                <a16:creationId xmlns:a16="http://schemas.microsoft.com/office/drawing/2014/main" id="{67C35BBF-F2F7-B24B-84A9-A6212FBFBF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521F9D-059B-3FE0-796F-BD82BA27AE27}"/>
              </a:ext>
            </a:extLst>
          </p:cNvPr>
          <p:cNvSpPr>
            <a:spLocks noGrp="1"/>
          </p:cNvSpPr>
          <p:nvPr>
            <p:ph type="sldNum" sz="quarter" idx="12"/>
          </p:nvPr>
        </p:nvSpPr>
        <p:spPr/>
        <p:txBody>
          <a:bodyPr/>
          <a:lstStyle/>
          <a:p>
            <a:fld id="{9A63D260-2D75-422E-81BF-19B32867163D}" type="slidenum">
              <a:rPr lang="en-IN" smtClean="0"/>
              <a:t>‹#›</a:t>
            </a:fld>
            <a:endParaRPr lang="en-IN"/>
          </a:p>
        </p:txBody>
      </p:sp>
    </p:spTree>
    <p:extLst>
      <p:ext uri="{BB962C8B-B14F-4D97-AF65-F5344CB8AC3E}">
        <p14:creationId xmlns:p14="http://schemas.microsoft.com/office/powerpoint/2010/main" val="287663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7CB790-5531-F352-79A3-08B9FC5085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DD6EA2D-4504-71F8-E075-3B85DA163C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4A6A1E-EBFF-4220-E927-B6AAC82AAE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D11841-E870-4EA6-AE2E-B98681D8C40F}" type="datetimeFigureOut">
              <a:rPr lang="en-IN" smtClean="0"/>
              <a:t>09-07-2025</a:t>
            </a:fld>
            <a:endParaRPr lang="en-IN"/>
          </a:p>
        </p:txBody>
      </p:sp>
      <p:sp>
        <p:nvSpPr>
          <p:cNvPr id="5" name="Footer Placeholder 4">
            <a:extLst>
              <a:ext uri="{FF2B5EF4-FFF2-40B4-BE49-F238E27FC236}">
                <a16:creationId xmlns:a16="http://schemas.microsoft.com/office/drawing/2014/main" id="{1A8C595C-B46F-5F12-2F52-B0D48570A9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043B3DA-9A13-133C-EB0F-39492AED9A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63D260-2D75-422E-81BF-19B32867163D}" type="slidenum">
              <a:rPr lang="en-IN" smtClean="0"/>
              <a:t>‹#›</a:t>
            </a:fld>
            <a:endParaRPr lang="en-IN"/>
          </a:p>
        </p:txBody>
      </p:sp>
    </p:spTree>
    <p:extLst>
      <p:ext uri="{BB962C8B-B14F-4D97-AF65-F5344CB8AC3E}">
        <p14:creationId xmlns:p14="http://schemas.microsoft.com/office/powerpoint/2010/main" val="482805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4.svg"/><Relationship Id="rId5" Type="http://schemas.openxmlformats.org/officeDocument/2006/relationships/image" Target="../media/image8.sv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12.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4.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9.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9" Type="http://schemas.openxmlformats.org/officeDocument/2006/relationships/image" Target="../media/image15.png"/></Relationships>
</file>

<file path=ppt/slides/_rels/slide3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svg"/><Relationship Id="rId7"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chart" Target="../charts/chart10.xml"/></Relationships>
</file>

<file path=ppt/slides/_rels/slide3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chart" Target="../charts/chart11.xml"/><Relationship Id="rId4" Type="http://schemas.openxmlformats.org/officeDocument/2006/relationships/image" Target="../media/image6.svg"/><Relationship Id="rId9" Type="http://schemas.openxmlformats.org/officeDocument/2006/relationships/image" Target="../media/image15.png"/></Relationships>
</file>

<file path=ppt/slides/_rels/slide3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chart" Target="../charts/chart12.xml"/><Relationship Id="rId7"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chart" Target="../charts/chart14.xml"/><Relationship Id="rId4" Type="http://schemas.openxmlformats.org/officeDocument/2006/relationships/chart" Target="../charts/chart13.xml"/><Relationship Id="rId9" Type="http://schemas.openxmlformats.org/officeDocument/2006/relationships/image" Target="../media/image15.png"/></Relationships>
</file>

<file path=ppt/slides/_rels/slide38.xml.rels><?xml version="1.0" encoding="UTF-8" standalone="yes"?>
<Relationships xmlns="http://schemas.openxmlformats.org/package/2006/relationships"><Relationship Id="rId8" Type="http://schemas.openxmlformats.org/officeDocument/2006/relationships/chart" Target="../charts/chart15.xml"/><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8.svg"/><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chart" Target="../charts/chart16.xm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8.svg"/><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chart" Target="../charts/chart17.xm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8.svg"/><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8" Type="http://schemas.openxmlformats.org/officeDocument/2006/relationships/chart" Target="../charts/chart19.xml"/><Relationship Id="rId3" Type="http://schemas.openxmlformats.org/officeDocument/2006/relationships/image" Target="../media/image8.svg"/><Relationship Id="rId7" Type="http://schemas.openxmlformats.org/officeDocument/2006/relationships/chart" Target="../charts/chart18.xm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2.svg"/><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picture containing water, outdoor, sky, lake&#10;&#10;Description automatically generated">
            <a:extLst>
              <a:ext uri="{FF2B5EF4-FFF2-40B4-BE49-F238E27FC236}">
                <a16:creationId xmlns:a16="http://schemas.microsoft.com/office/drawing/2014/main" id="{E5512215-0A47-9F45-8478-5A259E4A2523}"/>
              </a:ext>
            </a:extLst>
          </p:cNvPr>
          <p:cNvPicPr>
            <a:picLocks noChangeAspect="1"/>
          </p:cNvPicPr>
          <p:nvPr/>
        </p:nvPicPr>
        <p:blipFill>
          <a:blip r:embed="rId2"/>
          <a:stretch>
            <a:fillRect/>
          </a:stretch>
        </p:blipFill>
        <p:spPr>
          <a:xfrm>
            <a:off x="11827" y="12030"/>
            <a:ext cx="12190119" cy="6845971"/>
          </a:xfrm>
          <a:prstGeom prst="rect">
            <a:avLst/>
          </a:prstGeom>
        </p:spPr>
      </p:pic>
      <p:sp>
        <p:nvSpPr>
          <p:cNvPr id="19" name="TextBox 18">
            <a:extLst>
              <a:ext uri="{FF2B5EF4-FFF2-40B4-BE49-F238E27FC236}">
                <a16:creationId xmlns:a16="http://schemas.microsoft.com/office/drawing/2014/main" id="{47EF2468-3A07-7F4B-BEAB-1D6D584779C2}"/>
              </a:ext>
            </a:extLst>
          </p:cNvPr>
          <p:cNvSpPr txBox="1"/>
          <p:nvPr/>
        </p:nvSpPr>
        <p:spPr>
          <a:xfrm>
            <a:off x="168909" y="681724"/>
            <a:ext cx="9514184" cy="2113912"/>
          </a:xfrm>
          <a:prstGeom prst="rect">
            <a:avLst/>
          </a:prstGeom>
          <a:noFill/>
        </p:spPr>
        <p:txBody>
          <a:bodyPr wrap="square" rtlCol="0">
            <a:spAutoFit/>
          </a:bodyPr>
          <a:lstStyle/>
          <a:p>
            <a:pPr>
              <a:lnSpc>
                <a:spcPct val="82000"/>
              </a:lnSpc>
            </a:pPr>
            <a:r>
              <a:rPr lang="en-US" sz="5333" spc="-267" dirty="0">
                <a:solidFill>
                  <a:schemeClr val="bg1"/>
                </a:solidFill>
                <a:latin typeface="Roboto"/>
                <a:ea typeface="Roboto Thin" panose="02000000000000000000" pitchFamily="2" charset="0"/>
              </a:rPr>
              <a:t>Wealth is only a means to an end,</a:t>
            </a:r>
          </a:p>
          <a:p>
            <a:pPr>
              <a:lnSpc>
                <a:spcPct val="82000"/>
              </a:lnSpc>
            </a:pPr>
            <a:r>
              <a:rPr lang="en-US" sz="5333" spc="-267" dirty="0">
                <a:solidFill>
                  <a:srgbClr val="6FB7F6"/>
                </a:solidFill>
                <a:latin typeface="Roboto"/>
                <a:ea typeface="Roboto Thin" panose="02000000000000000000" pitchFamily="2" charset="0"/>
              </a:rPr>
              <a:t>celebrate life with Client Associates</a:t>
            </a:r>
            <a:endParaRPr lang="en-US" sz="5333" spc="-267" dirty="0">
              <a:solidFill>
                <a:srgbClr val="6FB7F6"/>
              </a:solidFill>
              <a:latin typeface="Roboto"/>
              <a:ea typeface="Roboto Medium" panose="02000000000000000000" pitchFamily="2" charset="0"/>
            </a:endParaRPr>
          </a:p>
        </p:txBody>
      </p:sp>
      <p:pic>
        <p:nvPicPr>
          <p:cNvPr id="25" name="Picture 24" descr="A picture containing diagram&#10;&#10;Description automatically generated">
            <a:extLst>
              <a:ext uri="{FF2B5EF4-FFF2-40B4-BE49-F238E27FC236}">
                <a16:creationId xmlns:a16="http://schemas.microsoft.com/office/drawing/2014/main" id="{022800D7-E8D0-1C40-95BE-24A328876465}"/>
              </a:ext>
            </a:extLst>
          </p:cNvPr>
          <p:cNvPicPr>
            <a:picLocks noChangeAspect="1"/>
          </p:cNvPicPr>
          <p:nvPr/>
        </p:nvPicPr>
        <p:blipFill>
          <a:blip r:embed="rId3"/>
          <a:stretch>
            <a:fillRect/>
          </a:stretch>
        </p:blipFill>
        <p:spPr>
          <a:xfrm>
            <a:off x="10279426" y="5200945"/>
            <a:ext cx="1501550" cy="1406112"/>
          </a:xfrm>
          <a:prstGeom prst="rect">
            <a:avLst/>
          </a:prstGeom>
        </p:spPr>
      </p:pic>
      <p:sp>
        <p:nvSpPr>
          <p:cNvPr id="2" name="TextBox 1">
            <a:extLst>
              <a:ext uri="{FF2B5EF4-FFF2-40B4-BE49-F238E27FC236}">
                <a16:creationId xmlns:a16="http://schemas.microsoft.com/office/drawing/2014/main" id="{D984CF91-3303-494F-8682-D79B7FB28C6F}"/>
              </a:ext>
            </a:extLst>
          </p:cNvPr>
          <p:cNvSpPr txBox="1"/>
          <p:nvPr/>
        </p:nvSpPr>
        <p:spPr>
          <a:xfrm>
            <a:off x="168909" y="6504480"/>
            <a:ext cx="1253869" cy="235898"/>
          </a:xfrm>
          <a:prstGeom prst="rect">
            <a:avLst/>
          </a:prstGeom>
          <a:noFill/>
        </p:spPr>
        <p:txBody>
          <a:bodyPr wrap="none" rtlCol="0">
            <a:spAutoFit/>
          </a:bodyPr>
          <a:lstStyle/>
          <a:p>
            <a:r>
              <a:rPr lang="en-US" sz="933" dirty="0">
                <a:solidFill>
                  <a:schemeClr val="bg1"/>
                </a:solidFill>
              </a:rPr>
              <a:t>Private &amp; Confidential</a:t>
            </a:r>
          </a:p>
        </p:txBody>
      </p:sp>
      <p:pic>
        <p:nvPicPr>
          <p:cNvPr id="4" name="Picture 22">
            <a:extLst>
              <a:ext uri="{FF2B5EF4-FFF2-40B4-BE49-F238E27FC236}">
                <a16:creationId xmlns:a16="http://schemas.microsoft.com/office/drawing/2014/main" id="{D8E7D7D2-7944-ADF7-CE84-A21FF6C440F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
        <p:nvSpPr>
          <p:cNvPr id="3" name="TextBox 8">
            <a:extLst>
              <a:ext uri="{FF2B5EF4-FFF2-40B4-BE49-F238E27FC236}">
                <a16:creationId xmlns:a16="http://schemas.microsoft.com/office/drawing/2014/main" id="{179A2707-AF86-B01E-1972-57A2A625AEE0}"/>
              </a:ext>
            </a:extLst>
          </p:cNvPr>
          <p:cNvSpPr txBox="1"/>
          <p:nvPr/>
        </p:nvSpPr>
        <p:spPr>
          <a:xfrm>
            <a:off x="0" y="5054781"/>
            <a:ext cx="5892122" cy="875240"/>
          </a:xfrm>
          <a:prstGeom prst="rect">
            <a:avLst/>
          </a:prstGeom>
        </p:spPr>
        <p:txBody>
          <a:bodyPr wrap="squar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2100" b="1" dirty="0">
                <a:solidFill>
                  <a:schemeClr val="bg1"/>
                </a:solidFill>
                <a:latin typeface="Roboto" panose="02000000000000000000" pitchFamily="2" charset="0"/>
                <a:ea typeface="Roboto" panose="02000000000000000000" pitchFamily="2" charset="0"/>
                <a:cs typeface="Roboto" panose="02000000000000000000" pitchFamily="2" charset="0"/>
                <a:sym typeface="Arial"/>
              </a:rPr>
              <a:t>Client Name: ABC</a:t>
            </a:r>
          </a:p>
          <a:p>
            <a:pPr algn="ctr">
              <a:lnSpc>
                <a:spcPts val="3600"/>
              </a:lnSpc>
            </a:pPr>
            <a:r>
              <a:rPr lang="en-US" sz="2100" b="1" dirty="0">
                <a:solidFill>
                  <a:schemeClr val="bg1"/>
                </a:solidFill>
                <a:latin typeface="Roboto" panose="02000000000000000000" pitchFamily="2" charset="0"/>
                <a:ea typeface="Roboto" panose="02000000000000000000" pitchFamily="2" charset="0"/>
                <a:cs typeface="Roboto" panose="02000000000000000000" pitchFamily="2" charset="0"/>
                <a:sym typeface="Arial"/>
              </a:rPr>
              <a:t>Quarterly Portfolio Review: June’25 </a:t>
            </a:r>
          </a:p>
        </p:txBody>
      </p:sp>
    </p:spTree>
    <p:extLst>
      <p:ext uri="{BB962C8B-B14F-4D97-AF65-F5344CB8AC3E}">
        <p14:creationId xmlns:p14="http://schemas.microsoft.com/office/powerpoint/2010/main" val="1374829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cNvSpPr>
            <a:spLocks noGrp="1"/>
          </p:cNvSpPr>
          <p:nvPr/>
        </p:nvSpPr>
        <p:spPr>
          <a:xfrm>
            <a:off x="335200" y="1356330"/>
            <a:ext cx="10804320" cy="4986860"/>
          </a:xfrm>
          <a:prstGeom prst="rect">
            <a:avLst/>
          </a:prstGeom>
          <a:ln>
            <a:solidFill>
              <a:schemeClr val="bg1"/>
            </a:solidFill>
          </a:ln>
        </p:spPr>
        <p:txBody>
          <a:bodyPr wrap="square" lIns="0" tIns="0" rIns="0" bIns="0" rtlCol="0" anchor="t"/>
          <a:lstStyle/>
          <a:p>
            <a:pPr marL="514350" indent="-514350">
              <a:buAutoNum type="romanUcPeriod"/>
            </a:pPr>
            <a:r>
              <a:rPr lang="en-US" sz="2000" b="1" dirty="0">
                <a:solidFill>
                  <a:srgbClr val="1F497D"/>
                </a:solidFill>
                <a:latin typeface="Roboto" panose="02000000000000000000" pitchFamily="2" charset="0"/>
                <a:ea typeface="Roboto" panose="02000000000000000000" pitchFamily="2" charset="0"/>
                <a:cs typeface="SansSerif"/>
              </a:rPr>
              <a:t>Investor Policy Statement (IPS)</a:t>
            </a:r>
            <a:r>
              <a:rPr lang="en-US" sz="2000" dirty="0">
                <a:solidFill>
                  <a:srgbClr val="1F497D"/>
                </a:solidFill>
                <a:latin typeface="Roboto" panose="02000000000000000000" pitchFamily="2" charset="0"/>
                <a:ea typeface="Roboto" panose="02000000000000000000" pitchFamily="2" charset="0"/>
                <a:cs typeface="SansSerif"/>
              </a:rPr>
              <a:t> </a:t>
            </a:r>
          </a:p>
          <a:p>
            <a:pPr marL="514350" indent="-514350">
              <a:buAutoNum type="romanUcPeriod"/>
            </a:pPr>
            <a:endParaRPr lang="en-US" sz="1100" dirty="0">
              <a:solidFill>
                <a:srgbClr val="1F497D"/>
              </a:solidFill>
              <a:latin typeface="Roboto" panose="02000000000000000000" pitchFamily="2" charset="0"/>
              <a:ea typeface="Roboto" panose="02000000000000000000" pitchFamily="2" charset="0"/>
              <a:cs typeface="SansSerif"/>
            </a:endParaRPr>
          </a:p>
          <a:p>
            <a:r>
              <a:rPr lang="en-US" sz="2000" dirty="0">
                <a:solidFill>
                  <a:srgbClr val="1F497D"/>
                </a:solidFill>
                <a:latin typeface="Roboto" panose="02000000000000000000" pitchFamily="2" charset="0"/>
                <a:ea typeface="Roboto" panose="02000000000000000000" pitchFamily="2" charset="0"/>
                <a:cs typeface="SansSerif"/>
              </a:rPr>
              <a:t>        </a:t>
            </a:r>
            <a:r>
              <a:rPr lang="en-US" dirty="0">
                <a:solidFill>
                  <a:srgbClr val="1F497D"/>
                </a:solidFill>
                <a:latin typeface="Roboto" panose="02000000000000000000" pitchFamily="2" charset="0"/>
                <a:ea typeface="Roboto" panose="02000000000000000000" pitchFamily="2" charset="0"/>
                <a:cs typeface="SansSerif"/>
              </a:rPr>
              <a:t>Overview of Client’s IPS </a:t>
            </a:r>
          </a:p>
          <a:p>
            <a:r>
              <a:rPr lang="en-US" dirty="0">
                <a:solidFill>
                  <a:srgbClr val="1F497D"/>
                </a:solidFill>
                <a:latin typeface="Roboto" panose="02000000000000000000" pitchFamily="2" charset="0"/>
                <a:ea typeface="Roboto" panose="02000000000000000000" pitchFamily="2" charset="0"/>
                <a:cs typeface="SansSerif"/>
              </a:rPr>
              <a:t>         IPS Review: Asset Allocation | Target Returns | Compliance </a:t>
            </a:r>
          </a:p>
          <a:p>
            <a:endParaRPr lang="en-US" sz="1200" dirty="0">
              <a:solidFill>
                <a:srgbClr val="1F497D"/>
              </a:solidFill>
              <a:latin typeface="Roboto" panose="02000000000000000000" pitchFamily="2" charset="0"/>
              <a:ea typeface="Roboto" panose="02000000000000000000" pitchFamily="2" charset="0"/>
              <a:cs typeface="SansSerif"/>
            </a:endParaRPr>
          </a:p>
          <a:p>
            <a:r>
              <a:rPr lang="en-US" sz="2000" b="1" dirty="0">
                <a:solidFill>
                  <a:srgbClr val="1F497D"/>
                </a:solidFill>
                <a:latin typeface="Roboto" panose="02000000000000000000" pitchFamily="2" charset="0"/>
                <a:ea typeface="Roboto" panose="02000000000000000000" pitchFamily="2" charset="0"/>
                <a:cs typeface="SansSerif"/>
              </a:rPr>
              <a:t>II.    Performance Update &amp; Portfolio Review </a:t>
            </a:r>
          </a:p>
          <a:p>
            <a:pPr marL="380990" indent="-380990">
              <a:buFont typeface="Arial" panose="020B0604020202020204" pitchFamily="34" charset="0"/>
              <a:buChar char="•"/>
            </a:pPr>
            <a:endParaRPr lang="en-US" sz="1050" dirty="0">
              <a:solidFill>
                <a:srgbClr val="1F497D"/>
              </a:solidFill>
              <a:latin typeface="Roboto" panose="02000000000000000000" pitchFamily="2" charset="0"/>
              <a:ea typeface="Roboto" panose="02000000000000000000" pitchFamily="2" charset="0"/>
              <a:cs typeface="SansSerif"/>
            </a:endParaRPr>
          </a:p>
          <a:p>
            <a:r>
              <a:rPr lang="en-US" sz="2000" dirty="0">
                <a:solidFill>
                  <a:srgbClr val="1F497D"/>
                </a:solidFill>
                <a:latin typeface="Roboto" panose="02000000000000000000" pitchFamily="2" charset="0"/>
                <a:ea typeface="Roboto" panose="02000000000000000000" pitchFamily="2" charset="0"/>
                <a:cs typeface="SansSerif"/>
              </a:rPr>
              <a:t>        </a:t>
            </a:r>
            <a:r>
              <a:rPr lang="en-US" dirty="0">
                <a:solidFill>
                  <a:srgbClr val="1F497D"/>
                </a:solidFill>
                <a:latin typeface="Roboto" panose="02000000000000000000" pitchFamily="2" charset="0"/>
                <a:ea typeface="Roboto" panose="02000000000000000000" pitchFamily="2" charset="0"/>
                <a:cs typeface="SansSerif"/>
              </a:rPr>
              <a:t>Equity</a:t>
            </a:r>
          </a:p>
          <a:p>
            <a:r>
              <a:rPr lang="en-US" dirty="0">
                <a:solidFill>
                  <a:srgbClr val="1F497D"/>
                </a:solidFill>
                <a:latin typeface="Roboto" panose="02000000000000000000" pitchFamily="2" charset="0"/>
                <a:ea typeface="Roboto" panose="02000000000000000000" pitchFamily="2" charset="0"/>
                <a:cs typeface="SansSerif"/>
              </a:rPr>
              <a:t>         Debt</a:t>
            </a:r>
          </a:p>
          <a:p>
            <a:r>
              <a:rPr lang="en-US" dirty="0">
                <a:solidFill>
                  <a:srgbClr val="1F497D"/>
                </a:solidFill>
                <a:latin typeface="Roboto" panose="02000000000000000000" pitchFamily="2" charset="0"/>
                <a:ea typeface="Roboto" panose="02000000000000000000" pitchFamily="2" charset="0"/>
                <a:cs typeface="SansSerif"/>
              </a:rPr>
              <a:t>         Hybrid</a:t>
            </a:r>
          </a:p>
          <a:p>
            <a:r>
              <a:rPr lang="en-US" dirty="0">
                <a:solidFill>
                  <a:srgbClr val="1F497D"/>
                </a:solidFill>
                <a:latin typeface="Roboto" panose="02000000000000000000" pitchFamily="2" charset="0"/>
                <a:ea typeface="Roboto" panose="02000000000000000000" pitchFamily="2" charset="0"/>
                <a:cs typeface="SansSerif"/>
              </a:rPr>
              <a:t>         Alternative</a:t>
            </a:r>
          </a:p>
          <a:p>
            <a:pPr lvl="0"/>
            <a:endParaRPr lang="en-US" sz="2000" dirty="0">
              <a:solidFill>
                <a:srgbClr val="1F497D"/>
              </a:solidFill>
              <a:latin typeface="Roboto" panose="02000000000000000000" pitchFamily="2" charset="0"/>
              <a:ea typeface="Roboto" panose="02000000000000000000" pitchFamily="2" charset="0"/>
              <a:cs typeface="SansSerif"/>
            </a:endParaRPr>
          </a:p>
          <a:p>
            <a:r>
              <a:rPr lang="en-US" sz="2000" b="1" dirty="0">
                <a:solidFill>
                  <a:srgbClr val="1F497D"/>
                </a:solidFill>
                <a:latin typeface="Roboto" panose="02000000000000000000" pitchFamily="2" charset="0"/>
                <a:ea typeface="Roboto" panose="02000000000000000000" pitchFamily="2" charset="0"/>
                <a:cs typeface="SansSerif"/>
              </a:rPr>
              <a:t>III.   Recommendations &amp; Emerging IPS</a:t>
            </a:r>
          </a:p>
          <a:p>
            <a:pPr marL="380990" indent="-380990">
              <a:buFont typeface="Arial" panose="020B0604020202020204" pitchFamily="34" charset="0"/>
              <a:buChar char="•"/>
            </a:pPr>
            <a:endParaRPr lang="en-US" sz="1400" dirty="0">
              <a:solidFill>
                <a:srgbClr val="1F497D"/>
              </a:solidFill>
              <a:latin typeface="Roboto" panose="02000000000000000000" pitchFamily="2" charset="0"/>
              <a:ea typeface="Roboto" panose="02000000000000000000" pitchFamily="2" charset="0"/>
              <a:cs typeface="SansSerif"/>
            </a:endParaRPr>
          </a:p>
          <a:p>
            <a:r>
              <a:rPr lang="en-US" sz="2000" b="1" dirty="0">
                <a:solidFill>
                  <a:srgbClr val="1F497D"/>
                </a:solidFill>
                <a:latin typeface="Roboto" panose="02000000000000000000" pitchFamily="2" charset="0"/>
                <a:ea typeface="Roboto" panose="02000000000000000000" pitchFamily="2" charset="0"/>
                <a:cs typeface="SansSerif"/>
              </a:rPr>
              <a:t>IV.   Annexure Slides</a:t>
            </a:r>
            <a:endParaRPr lang="en-US" sz="2000" dirty="0">
              <a:solidFill>
                <a:srgbClr val="1F497D"/>
              </a:solidFill>
              <a:latin typeface="Roboto" panose="02000000000000000000" pitchFamily="2" charset="0"/>
              <a:ea typeface="Roboto" panose="02000000000000000000" pitchFamily="2" charset="0"/>
              <a:cs typeface="SansSerif"/>
            </a:endParaRPr>
          </a:p>
          <a:p>
            <a:pPr marL="990575" lvl="1" indent="-380990">
              <a:buFont typeface="Arial" panose="020B0604020202020204" pitchFamily="34" charset="0"/>
              <a:buChar char="•"/>
            </a:pPr>
            <a:endParaRPr lang="en-US" sz="1100" dirty="0">
              <a:solidFill>
                <a:srgbClr val="1F497D"/>
              </a:solidFill>
              <a:latin typeface="Roboto" panose="02000000000000000000" pitchFamily="2" charset="0"/>
              <a:ea typeface="Roboto" panose="02000000000000000000" pitchFamily="2" charset="0"/>
              <a:cs typeface="SansSerif"/>
            </a:endParaRPr>
          </a:p>
          <a:p>
            <a:pPr marL="990575" lvl="1" indent="-380990">
              <a:buFont typeface="Arial" panose="020B0604020202020204" pitchFamily="34" charset="0"/>
              <a:buChar char="•"/>
            </a:pPr>
            <a:r>
              <a:rPr lang="en-US" dirty="0">
                <a:solidFill>
                  <a:srgbClr val="1F497D"/>
                </a:solidFill>
                <a:latin typeface="Roboto" panose="02000000000000000000" pitchFamily="2" charset="0"/>
                <a:ea typeface="Roboto" panose="02000000000000000000" pitchFamily="2" charset="0"/>
                <a:cs typeface="SansSerif"/>
              </a:rPr>
              <a:t>Update: Indian and Global Economy &amp; Financial Markets  </a:t>
            </a:r>
          </a:p>
          <a:p>
            <a:pPr marL="990575" lvl="1" indent="-380990">
              <a:buFont typeface="Arial" panose="020B0604020202020204" pitchFamily="34" charset="0"/>
              <a:buChar char="•"/>
            </a:pPr>
            <a:r>
              <a:rPr lang="en-US" dirty="0">
                <a:solidFill>
                  <a:srgbClr val="1F497D"/>
                </a:solidFill>
                <a:latin typeface="Roboto" panose="02000000000000000000" pitchFamily="2" charset="0"/>
                <a:ea typeface="Roboto" panose="02000000000000000000" pitchFamily="2" charset="0"/>
                <a:cs typeface="SansSerif"/>
              </a:rPr>
              <a:t>CA’s View on Asset Classes</a:t>
            </a:r>
          </a:p>
          <a:p>
            <a:pPr marL="380990" indent="-380990">
              <a:buFont typeface="Arial" panose="020B0604020202020204" pitchFamily="34" charset="0"/>
              <a:buChar char="•"/>
            </a:pPr>
            <a:endParaRPr lang="en-US" sz="2000" dirty="0">
              <a:solidFill>
                <a:srgbClr val="1F497D"/>
              </a:solidFill>
              <a:latin typeface="Roboto" panose="02000000000000000000" pitchFamily="2" charset="0"/>
              <a:ea typeface="Roboto" panose="02000000000000000000" pitchFamily="2" charset="0"/>
              <a:cs typeface="SansSerif"/>
            </a:endParaRPr>
          </a:p>
          <a:p>
            <a:pPr lvl="0"/>
            <a:endParaRPr lang="en-US" sz="2000" dirty="0">
              <a:solidFill>
                <a:srgbClr val="1F497D"/>
              </a:solidFill>
              <a:latin typeface="Roboto" panose="02000000000000000000" pitchFamily="2" charset="0"/>
              <a:ea typeface="Roboto" panose="02000000000000000000" pitchFamily="2" charset="0"/>
              <a:cs typeface="SansSerif"/>
            </a:endParaRPr>
          </a:p>
          <a:p>
            <a:pPr lvl="0"/>
            <a:endParaRPr lang="en-US" sz="2000" dirty="0">
              <a:solidFill>
                <a:srgbClr val="1F497D"/>
              </a:solidFill>
              <a:latin typeface="Roboto" panose="02000000000000000000" pitchFamily="2" charset="0"/>
              <a:ea typeface="Roboto" panose="02000000000000000000" pitchFamily="2" charset="0"/>
              <a:cs typeface="SansSerif"/>
            </a:endParaRPr>
          </a:p>
        </p:txBody>
      </p:sp>
      <p:sp>
        <p:nvSpPr>
          <p:cNvPr id="7" name="Text"/>
          <p:cNvSpPr>
            <a:spLocks noGrp="1"/>
          </p:cNvSpPr>
          <p:nvPr/>
        </p:nvSpPr>
        <p:spPr>
          <a:xfrm>
            <a:off x="335200" y="644286"/>
            <a:ext cx="7883819" cy="230521"/>
          </a:xfrm>
          <a:prstGeom prst="rect">
            <a:avLst/>
          </a:prstGeom>
          <a:ln>
            <a:solidFill>
              <a:schemeClr val="bg1"/>
            </a:solidFill>
          </a:ln>
        </p:spPr>
        <p:txBody>
          <a:bodyPr wrap="square" lIns="0" tIns="0" rIns="0" bIns="0" rtlCol="0" anchor="t"/>
          <a:lstStyle/>
          <a:p>
            <a:pPr algn="l">
              <a:lnSpc>
                <a:spcPct val="100000"/>
              </a:lnSpc>
              <a:defRPr sz="1200" b="1">
                <a:solidFill>
                  <a:srgbClr val="1F497D"/>
                </a:solidFill>
                <a:latin typeface="SansSerif"/>
                <a:ea typeface="SansSerif"/>
                <a:cs typeface="SansSerif"/>
              </a:defRPr>
            </a:pPr>
            <a:endParaRPr lang="en-US" sz="2667" b="1" dirty="0">
              <a:solidFill>
                <a:srgbClr val="1F497D"/>
              </a:solidFill>
              <a:latin typeface="Calibri" panose="020F0502020204030204" pitchFamily="34" charset="0"/>
              <a:ea typeface="SansSerif"/>
              <a:cs typeface="SansSerif"/>
            </a:endParaRPr>
          </a:p>
        </p:txBody>
      </p:sp>
      <p:sp>
        <p:nvSpPr>
          <p:cNvPr id="3" name="TextBox 2">
            <a:extLst>
              <a:ext uri="{FF2B5EF4-FFF2-40B4-BE49-F238E27FC236}">
                <a16:creationId xmlns:a16="http://schemas.microsoft.com/office/drawing/2014/main" id="{083920F8-CF25-67ED-3A52-DFD404141B7B}"/>
              </a:ext>
            </a:extLst>
          </p:cNvPr>
          <p:cNvSpPr txBox="1"/>
          <p:nvPr/>
        </p:nvSpPr>
        <p:spPr>
          <a:xfrm>
            <a:off x="10898253" y="6616028"/>
            <a:ext cx="1253869" cy="235898"/>
          </a:xfrm>
          <a:prstGeom prst="rect">
            <a:avLst/>
          </a:prstGeom>
          <a:noFill/>
        </p:spPr>
        <p:txBody>
          <a:bodyPr wrap="none" rtlCol="0">
            <a:spAutoFit/>
          </a:bodyPr>
          <a:lstStyle/>
          <a:p>
            <a:r>
              <a:rPr lang="en-US" sz="933" dirty="0"/>
              <a:t>Private &amp; Confidential</a:t>
            </a:r>
          </a:p>
        </p:txBody>
      </p:sp>
      <p:sp>
        <p:nvSpPr>
          <p:cNvPr id="9" name="TextBox 8">
            <a:extLst>
              <a:ext uri="{FF2B5EF4-FFF2-40B4-BE49-F238E27FC236}">
                <a16:creationId xmlns:a16="http://schemas.microsoft.com/office/drawing/2014/main" id="{2F0F66FB-AF67-4B48-8347-51AAD4005B73}"/>
              </a:ext>
            </a:extLst>
          </p:cNvPr>
          <p:cNvSpPr txBox="1"/>
          <p:nvPr/>
        </p:nvSpPr>
        <p:spPr>
          <a:xfrm>
            <a:off x="76305" y="181389"/>
            <a:ext cx="7353195" cy="584775"/>
          </a:xfrm>
          <a:prstGeom prst="rect">
            <a:avLst/>
          </a:prstGeom>
          <a:noFill/>
        </p:spPr>
        <p:txBody>
          <a:bodyPr wrap="none" rtlCol="0">
            <a:spAutoFit/>
          </a:bodyPr>
          <a:lstStyle/>
          <a:p>
            <a:r>
              <a:rPr lang="en-US" sz="3200" dirty="0">
                <a:solidFill>
                  <a:srgbClr val="084795"/>
                </a:solidFill>
                <a:latin typeface="Roboto" panose="02000000000000000000" pitchFamily="2" charset="0"/>
                <a:ea typeface="Roboto" panose="02000000000000000000" pitchFamily="2" charset="0"/>
              </a:rPr>
              <a:t>RIA Portfolio Review: Table of Contents </a:t>
            </a:r>
          </a:p>
        </p:txBody>
      </p:sp>
      <p:cxnSp>
        <p:nvCxnSpPr>
          <p:cNvPr id="17" name="Straight Connector 16">
            <a:extLst>
              <a:ext uri="{FF2B5EF4-FFF2-40B4-BE49-F238E27FC236}">
                <a16:creationId xmlns:a16="http://schemas.microsoft.com/office/drawing/2014/main" id="{DB73FB0B-2258-472C-8348-6F3E27682621}"/>
              </a:ext>
            </a:extLst>
          </p:cNvPr>
          <p:cNvCxnSpPr>
            <a:cxnSpLocks/>
          </p:cNvCxnSpPr>
          <p:nvPr/>
        </p:nvCxnSpPr>
        <p:spPr>
          <a:xfrm>
            <a:off x="7045" y="797074"/>
            <a:ext cx="7340053" cy="989"/>
          </a:xfrm>
          <a:prstGeom prst="line">
            <a:avLst/>
          </a:prstGeom>
          <a:noFill/>
          <a:ln w="44450" cap="flat" cmpd="sng" algn="ctr">
            <a:solidFill>
              <a:srgbClr val="4472C4"/>
            </a:solidFill>
            <a:prstDash val="solid"/>
            <a:miter lim="800000"/>
          </a:ln>
          <a:effectLst/>
        </p:spPr>
      </p:cxnSp>
      <p:pic>
        <p:nvPicPr>
          <p:cNvPr id="2" name="Picture 22">
            <a:extLst>
              <a:ext uri="{FF2B5EF4-FFF2-40B4-BE49-F238E27FC236}">
                <a16:creationId xmlns:a16="http://schemas.microsoft.com/office/drawing/2014/main" id="{FE78D27A-6BB3-8CF8-C1DB-332D051B20D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443174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679F8DC7-F378-4198-8A9F-92C0EB862367}"/>
              </a:ext>
            </a:extLst>
          </p:cNvPr>
          <p:cNvPicPr>
            <a:picLocks noChangeAspect="1"/>
          </p:cNvPicPr>
          <p:nvPr/>
        </p:nvPicPr>
        <p:blipFill>
          <a:blip r:embed="rId2">
            <a:alphaModFix amt="4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08700E19-E610-42FB-AF6C-69B1BB100E4E}"/>
              </a:ext>
            </a:extLst>
          </p:cNvPr>
          <p:cNvPicPr>
            <a:picLocks noChangeAspect="1"/>
          </p:cNvPicPr>
          <p:nvPr/>
        </p:nvPicPr>
        <p:blipFill>
          <a:blip r:embed="rId4">
            <a:alphaModFix amt="2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68560" y="-243840"/>
            <a:ext cx="2367280" cy="2367280"/>
          </a:xfrm>
          <a:prstGeom prst="rect">
            <a:avLst/>
          </a:prstGeom>
        </p:spPr>
      </p:pic>
      <p:pic>
        <p:nvPicPr>
          <p:cNvPr id="9" name="Graphic 8" descr="Downward trend graph with solid fill">
            <a:extLst>
              <a:ext uri="{FF2B5EF4-FFF2-40B4-BE49-F238E27FC236}">
                <a16:creationId xmlns:a16="http://schemas.microsoft.com/office/drawing/2014/main" id="{AB9135D6-A0D4-47E9-8ADC-9A72A6B5DCA5}"/>
              </a:ext>
            </a:extLst>
          </p:cNvPr>
          <p:cNvPicPr>
            <a:picLocks noChangeAspect="1"/>
          </p:cNvPicPr>
          <p:nvPr/>
        </p:nvPicPr>
        <p:blipFill>
          <a:blip r:embed="rId6">
            <a:alphaModFix amt="4000"/>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525760" y="5217160"/>
            <a:ext cx="1874800" cy="1874800"/>
          </a:xfrm>
          <a:prstGeom prst="rect">
            <a:avLst/>
          </a:prstGeom>
        </p:spPr>
      </p:pic>
      <p:pic>
        <p:nvPicPr>
          <p:cNvPr id="11" name="Graphic 10" descr="Presentation with bar chart with solid fill">
            <a:extLst>
              <a:ext uri="{FF2B5EF4-FFF2-40B4-BE49-F238E27FC236}">
                <a16:creationId xmlns:a16="http://schemas.microsoft.com/office/drawing/2014/main" id="{60C5B285-68F0-4E00-8AE9-417E080AC115}"/>
              </a:ext>
            </a:extLst>
          </p:cNvPr>
          <p:cNvPicPr>
            <a:picLocks noChangeAspect="1"/>
          </p:cNvPicPr>
          <p:nvPr/>
        </p:nvPicPr>
        <p:blipFill>
          <a:blip r:embed="rId8">
            <a:alphaModFix amt="4000"/>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200" y="4734560"/>
            <a:ext cx="2123440" cy="2123440"/>
          </a:xfrm>
          <a:prstGeom prst="rect">
            <a:avLst/>
          </a:prstGeom>
        </p:spPr>
      </p:pic>
      <p:grpSp>
        <p:nvGrpSpPr>
          <p:cNvPr id="13" name="Group 12">
            <a:extLst>
              <a:ext uri="{FF2B5EF4-FFF2-40B4-BE49-F238E27FC236}">
                <a16:creationId xmlns:a16="http://schemas.microsoft.com/office/drawing/2014/main" id="{86ACE3CA-23EA-4837-97BE-D87EA58161B6}"/>
              </a:ext>
            </a:extLst>
          </p:cNvPr>
          <p:cNvGrpSpPr/>
          <p:nvPr/>
        </p:nvGrpSpPr>
        <p:grpSpPr>
          <a:xfrm>
            <a:off x="0" y="2744559"/>
            <a:ext cx="12192001" cy="684441"/>
            <a:chOff x="-2227605" y="284449"/>
            <a:chExt cx="8289933" cy="793270"/>
          </a:xfrm>
        </p:grpSpPr>
        <p:sp>
          <p:nvSpPr>
            <p:cNvPr id="14" name="TextBox 13">
              <a:extLst>
                <a:ext uri="{FF2B5EF4-FFF2-40B4-BE49-F238E27FC236}">
                  <a16:creationId xmlns:a16="http://schemas.microsoft.com/office/drawing/2014/main" id="{031086C6-6DFE-42FF-AC05-E5735FC70B9C}"/>
                </a:ext>
              </a:extLst>
            </p:cNvPr>
            <p:cNvSpPr txBox="1"/>
            <p:nvPr/>
          </p:nvSpPr>
          <p:spPr>
            <a:xfrm>
              <a:off x="-129795" y="284449"/>
              <a:ext cx="4094312" cy="677757"/>
            </a:xfrm>
            <a:prstGeom prst="rect">
              <a:avLst/>
            </a:prstGeom>
            <a:noFill/>
          </p:spPr>
          <p:txBody>
            <a:bodyPr wrap="square" rtlCol="0">
              <a:spAutoFit/>
            </a:bodyPr>
            <a:lstStyle/>
            <a:p>
              <a:pPr algn="ctr"/>
              <a:r>
                <a:rPr lang="en-US" sz="3200" dirty="0">
                  <a:solidFill>
                    <a:srgbClr val="084795"/>
                  </a:solidFill>
                  <a:latin typeface="Roboto" panose="02000000000000000000" pitchFamily="2" charset="0"/>
                  <a:ea typeface="Roboto" panose="02000000000000000000" pitchFamily="2" charset="0"/>
                </a:rPr>
                <a:t>Investor Policy Statement (IPS)</a:t>
              </a:r>
            </a:p>
          </p:txBody>
        </p:sp>
        <p:cxnSp>
          <p:nvCxnSpPr>
            <p:cNvPr id="15" name="Straight Connector 14">
              <a:extLst>
                <a:ext uri="{FF2B5EF4-FFF2-40B4-BE49-F238E27FC236}">
                  <a16:creationId xmlns:a16="http://schemas.microsoft.com/office/drawing/2014/main" id="{49733806-21EE-4AAC-B1E7-135D03D22E0B}"/>
                </a:ext>
              </a:extLst>
            </p:cNvPr>
            <p:cNvCxnSpPr>
              <a:cxnSpLocks/>
            </p:cNvCxnSpPr>
            <p:nvPr/>
          </p:nvCxnSpPr>
          <p:spPr>
            <a:xfrm flipV="1">
              <a:off x="-2227605" y="1077718"/>
              <a:ext cx="8289933" cy="1"/>
            </a:xfrm>
            <a:prstGeom prst="line">
              <a:avLst/>
            </a:prstGeom>
            <a:ln w="44450">
              <a:solidFill>
                <a:srgbClr val="0CA8A4"/>
              </a:solidFill>
            </a:ln>
          </p:spPr>
          <p:style>
            <a:lnRef idx="1">
              <a:schemeClr val="accent1"/>
            </a:lnRef>
            <a:fillRef idx="0">
              <a:schemeClr val="accent1"/>
            </a:fillRef>
            <a:effectRef idx="0">
              <a:schemeClr val="accent1"/>
            </a:effectRef>
            <a:fontRef idx="minor">
              <a:schemeClr val="tx1"/>
            </a:fontRef>
          </p:style>
        </p:cxnSp>
      </p:grpSp>
      <p:pic>
        <p:nvPicPr>
          <p:cNvPr id="2" name="Picture 22">
            <a:extLst>
              <a:ext uri="{FF2B5EF4-FFF2-40B4-BE49-F238E27FC236}">
                <a16:creationId xmlns:a16="http://schemas.microsoft.com/office/drawing/2014/main" id="{6AEEBDF5-D64F-0665-E3A1-257600680DB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640553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B146A8-376D-AD02-3E40-2E2D0F2F6FC4}"/>
              </a:ext>
            </a:extLst>
          </p:cNvPr>
          <p:cNvSpPr txBox="1"/>
          <p:nvPr/>
        </p:nvSpPr>
        <p:spPr>
          <a:xfrm>
            <a:off x="10898253" y="6616028"/>
            <a:ext cx="1332416" cy="235898"/>
          </a:xfrm>
          <a:prstGeom prst="rect">
            <a:avLst/>
          </a:prstGeom>
          <a:noFill/>
        </p:spPr>
        <p:txBody>
          <a:bodyPr wrap="none" rtlCol="0">
            <a:spAutoFit/>
          </a:bodyPr>
          <a:lstStyle/>
          <a:p>
            <a:r>
              <a:rPr lang="en-US" sz="933" dirty="0">
                <a:latin typeface="Roboto" panose="02000000000000000000" pitchFamily="2" charset="0"/>
                <a:ea typeface="Roboto" panose="02000000000000000000" pitchFamily="2" charset="0"/>
              </a:rPr>
              <a:t>Private &amp; Confidential</a:t>
            </a:r>
          </a:p>
        </p:txBody>
      </p:sp>
      <p:graphicFrame>
        <p:nvGraphicFramePr>
          <p:cNvPr id="10" name="Table 3">
            <a:extLst>
              <a:ext uri="{FF2B5EF4-FFF2-40B4-BE49-F238E27FC236}">
                <a16:creationId xmlns:a16="http://schemas.microsoft.com/office/drawing/2014/main" id="{3A0916D8-827F-4F82-9A22-3992A7098A0A}"/>
              </a:ext>
            </a:extLst>
          </p:cNvPr>
          <p:cNvGraphicFramePr>
            <a:graphicFrameLocks noGrp="1"/>
          </p:cNvGraphicFramePr>
          <p:nvPr>
            <p:extLst>
              <p:ext uri="{D42A27DB-BD31-4B8C-83A1-F6EECF244321}">
                <p14:modId xmlns:p14="http://schemas.microsoft.com/office/powerpoint/2010/main" val="3581065706"/>
              </p:ext>
            </p:extLst>
          </p:nvPr>
        </p:nvGraphicFramePr>
        <p:xfrm>
          <a:off x="740231" y="787127"/>
          <a:ext cx="10560249" cy="5662057"/>
        </p:xfrm>
        <a:graphic>
          <a:graphicData uri="http://schemas.openxmlformats.org/drawingml/2006/table">
            <a:tbl>
              <a:tblPr firstRow="1" bandRow="1">
                <a:tableStyleId>{5C22544A-7EE6-4342-B048-85BDC9FD1C3A}</a:tableStyleId>
              </a:tblPr>
              <a:tblGrid>
                <a:gridCol w="2192625">
                  <a:extLst>
                    <a:ext uri="{9D8B030D-6E8A-4147-A177-3AD203B41FA5}">
                      <a16:colId xmlns:a16="http://schemas.microsoft.com/office/drawing/2014/main" val="3024833327"/>
                    </a:ext>
                  </a:extLst>
                </a:gridCol>
                <a:gridCol w="3779146">
                  <a:extLst>
                    <a:ext uri="{9D8B030D-6E8A-4147-A177-3AD203B41FA5}">
                      <a16:colId xmlns:a16="http://schemas.microsoft.com/office/drawing/2014/main" val="1396920697"/>
                    </a:ext>
                  </a:extLst>
                </a:gridCol>
                <a:gridCol w="4588478">
                  <a:extLst>
                    <a:ext uri="{9D8B030D-6E8A-4147-A177-3AD203B41FA5}">
                      <a16:colId xmlns:a16="http://schemas.microsoft.com/office/drawing/2014/main" val="2708327049"/>
                    </a:ext>
                  </a:extLst>
                </a:gridCol>
              </a:tblGrid>
              <a:tr h="330754">
                <a:tc>
                  <a:txBody>
                    <a:bodyPr/>
                    <a:lstStyle/>
                    <a:p>
                      <a:pPr algn="ctr" rtl="0"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Risk Profile</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gridSpan="2">
                  <a:txBody>
                    <a:bodyPr/>
                    <a:lstStyle/>
                    <a:p>
                      <a:pPr algn="ctr" rtl="0"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Moderately Aggressive </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dirty="0"/>
                    </a:p>
                  </a:txBody>
                  <a:tcPr marL="6350" marR="6350" marT="6350" marB="0" anchor="ctr"/>
                </a:tc>
                <a:extLst>
                  <a:ext uri="{0D108BD9-81ED-4DB2-BD59-A6C34878D82A}">
                    <a16:rowId xmlns:a16="http://schemas.microsoft.com/office/drawing/2014/main" val="3208657809"/>
                  </a:ext>
                </a:extLst>
              </a:tr>
              <a:tr h="321622">
                <a:tc rowSpan="5">
                  <a:txBody>
                    <a:bodyPr/>
                    <a:lstStyle/>
                    <a:p>
                      <a:pPr algn="ctr" rtl="0"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Asset Allocation</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Strategic Asset Class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Equity: 70%; Debt: 30%</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1019491"/>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Portfolio Time Horizon</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Overall: 5 Years  | Equity: 3-5 Years ; Debt: 3-5 Years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7672742"/>
                  </a:ext>
                </a:extLst>
              </a:tr>
              <a:tr h="32107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Target  Portfolio Pre-Tax Return Range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11-12% for a holding period of 5 years+*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5776629"/>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Tactical Asset Allocation </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20% +/- strategic allocation based on CA's stance on market valuations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598188"/>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Tactical Asset Allocation Range </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Equity:56%-84%; Debt-16%-44%</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2766915"/>
                  </a:ext>
                </a:extLst>
              </a:tr>
              <a:tr h="191406">
                <a:tc rowSpan="4">
                  <a:txBody>
                    <a:bodyPr/>
                    <a:lstStyle/>
                    <a:p>
                      <a:pPr marL="0" algn="ctr" defTabSz="914400" rtl="0" eaLnBrk="1" fontAlgn="ctr" latinLnBrk="0" hangingPunct="1"/>
                      <a:r>
                        <a:rPr lang="en-US" sz="1000" b="1" u="none" strike="noStrike" kern="1200" dirty="0">
                          <a:solidFill>
                            <a:schemeClr val="bg1"/>
                          </a:solidFill>
                          <a:effectLst/>
                          <a:latin typeface="Roboto" panose="02000000000000000000" pitchFamily="2" charset="0"/>
                          <a:ea typeface="Roboto" panose="02000000000000000000" pitchFamily="2" charset="0"/>
                          <a:cs typeface="Roboto" panose="02000000000000000000" pitchFamily="2" charset="0"/>
                        </a:rPr>
                        <a:t>Overall Portfolio Mix</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Equity</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Long-only MFs &amp; PMS | Long/Short &amp; Index Plus AIFs </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73068"/>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Debt</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Debt Alts: Absolute Return Funds |  Private Credit | Mutli Asset Allocation MFs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8026009"/>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Hybrid</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Balance Advantage MFs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23106"/>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Alternative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PE/VC Funds | Global Funds | Gold ETFs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2712973"/>
                  </a:ext>
                </a:extLst>
              </a:tr>
              <a:tr h="291297">
                <a:tc rowSpan="9">
                  <a:txBody>
                    <a:bodyPr/>
                    <a:lstStyle/>
                    <a:p>
                      <a:pPr marL="0" algn="ctr" defTabSz="914400" rtl="0" eaLnBrk="1" fontAlgn="ctr" latinLnBrk="0" hangingPunct="1"/>
                      <a:r>
                        <a:rPr lang="en-US" sz="1000" b="1" u="none" strike="noStrike" kern="1200" dirty="0">
                          <a:solidFill>
                            <a:schemeClr val="bg1"/>
                          </a:solidFill>
                          <a:effectLst/>
                          <a:latin typeface="Roboto" panose="02000000000000000000" pitchFamily="2" charset="0"/>
                          <a:ea typeface="Roboto" panose="02000000000000000000" pitchFamily="2" charset="0"/>
                          <a:cs typeface="Roboto" panose="02000000000000000000" pitchFamily="2" charset="0"/>
                        </a:rPr>
                        <a:t>Portfolio Constraints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Liquidity</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1% Liquidity Reserve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566491"/>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Income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Not required</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6565826"/>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Unlisted Equity</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Not more than 15%</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2883010"/>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Duration Exposure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Not More than 2.5 years average at the overall portfolio level</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2907040"/>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Credit Exposure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Not less than Average Credit Quality of AA</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9866428"/>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AMC Exposure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To be capped at 20%</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1100917"/>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Scheme Exposure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To be capped at 10% | Minimum 5%</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3797859"/>
                  </a:ext>
                </a:extLst>
              </a:tr>
              <a:tr h="277450">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Closed Ended Schemes</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Restricted to 20% </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6399237"/>
                  </a:ext>
                </a:extLst>
              </a:tr>
              <a:tr h="311192">
                <a:tc vMerge="1">
                  <a:txBody>
                    <a:bodyPr/>
                    <a:lstStyle/>
                    <a:p>
                      <a:endParaRPr lang="en-US" sz="1200" dirty="0"/>
                    </a:p>
                  </a:txBody>
                  <a:tcP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Non-MF Exposure</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Restricted to 50% </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6756649"/>
                  </a:ext>
                </a:extLst>
              </a:tr>
              <a:tr h="287866">
                <a:tc>
                  <a:txBody>
                    <a:bodyPr/>
                    <a:lstStyle/>
                    <a:p>
                      <a:pPr algn="ctr" rtl="0"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Taxation</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Individual</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fontAlgn="ctr" latinLnBrk="0" hangingPunct="1"/>
                      <a:r>
                        <a:rPr lang="en-US" sz="1000" b="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rPr>
                        <a:t>Maximum Marginal Rate of Tax</a:t>
                      </a:r>
                      <a:endParaRPr lang="en-US" sz="1000" b="0" i="0" u="none" strike="noStrike" kern="1200"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4026692"/>
                  </a:ext>
                </a:extLst>
              </a:tr>
            </a:tbl>
          </a:graphicData>
        </a:graphic>
      </p:graphicFrame>
      <p:sp>
        <p:nvSpPr>
          <p:cNvPr id="14" name="TextBox 13">
            <a:extLst>
              <a:ext uri="{FF2B5EF4-FFF2-40B4-BE49-F238E27FC236}">
                <a16:creationId xmlns:a16="http://schemas.microsoft.com/office/drawing/2014/main" id="{9246A221-5ED9-4186-993B-64E0F4185818}"/>
              </a:ext>
            </a:extLst>
          </p:cNvPr>
          <p:cNvSpPr txBox="1"/>
          <p:nvPr/>
        </p:nvSpPr>
        <p:spPr>
          <a:xfrm>
            <a:off x="13222" y="111587"/>
            <a:ext cx="608277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84795"/>
                </a:solidFill>
                <a:effectLst/>
                <a:uLnTx/>
                <a:uFillTx/>
                <a:latin typeface="Roboto" panose="02000000000000000000" pitchFamily="2" charset="0"/>
                <a:ea typeface="Roboto" panose="02000000000000000000" pitchFamily="2" charset="0"/>
                <a:cs typeface="+mn-cs"/>
              </a:rPr>
              <a:t>IPS for Mr. ABC</a:t>
            </a:r>
          </a:p>
        </p:txBody>
      </p:sp>
      <p:cxnSp>
        <p:nvCxnSpPr>
          <p:cNvPr id="17" name="Straight Connector 16">
            <a:extLst>
              <a:ext uri="{FF2B5EF4-FFF2-40B4-BE49-F238E27FC236}">
                <a16:creationId xmlns:a16="http://schemas.microsoft.com/office/drawing/2014/main" id="{B17E553E-C5B9-46F8-98F5-D55A7611FCA1}"/>
              </a:ext>
            </a:extLst>
          </p:cNvPr>
          <p:cNvCxnSpPr>
            <a:cxnSpLocks/>
          </p:cNvCxnSpPr>
          <p:nvPr/>
        </p:nvCxnSpPr>
        <p:spPr>
          <a:xfrm flipV="1">
            <a:off x="0" y="613181"/>
            <a:ext cx="2179674" cy="1"/>
          </a:xfrm>
          <a:prstGeom prst="line">
            <a:avLst/>
          </a:prstGeom>
          <a:noFill/>
          <a:ln w="44450" cap="flat" cmpd="sng" algn="ctr">
            <a:solidFill>
              <a:srgbClr val="4472C4"/>
            </a:solidFill>
            <a:prstDash val="solid"/>
            <a:miter lim="800000"/>
          </a:ln>
          <a:effectLst/>
        </p:spPr>
      </p:cxnSp>
      <p:pic>
        <p:nvPicPr>
          <p:cNvPr id="4" name="Picture 22">
            <a:extLst>
              <a:ext uri="{FF2B5EF4-FFF2-40B4-BE49-F238E27FC236}">
                <a16:creationId xmlns:a16="http://schemas.microsoft.com/office/drawing/2014/main" id="{FC4FF8F6-14FA-7338-DDA6-2D56D7F4662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468737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9FB23-162B-0091-DD58-3B371F0BC34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81DA269-D79F-0EA8-904B-918002CB5141}"/>
              </a:ext>
            </a:extLst>
          </p:cNvPr>
          <p:cNvPicPr>
            <a:picLocks noGrp="1" noRot="1" noChangeAspect="1" noMove="1" noResize="1" noEditPoints="1" noAdjustHandles="1" noChangeArrowheads="1" noChangeShapeType="1" noCrop="1"/>
          </p:cNvPicPr>
          <p:nvPr/>
        </p:nvPicPr>
        <p:blipFill>
          <a:blip r:embed="rId3">
            <a:alphaModFix amt="35000"/>
          </a:blip>
          <a:srcRect/>
          <a:stretch/>
        </p:blipFill>
        <p:spPr>
          <a:xfrm>
            <a:off x="5638" y="0"/>
            <a:ext cx="12180722" cy="6858000"/>
          </a:xfrm>
          <a:prstGeom prst="rect">
            <a:avLst/>
          </a:prstGeom>
        </p:spPr>
      </p:pic>
      <p:sp>
        <p:nvSpPr>
          <p:cNvPr id="8" name="TextBox 7">
            <a:extLst>
              <a:ext uri="{FF2B5EF4-FFF2-40B4-BE49-F238E27FC236}">
                <a16:creationId xmlns:a16="http://schemas.microsoft.com/office/drawing/2014/main" id="{25947329-6C88-462A-3BFC-5350E1052504}"/>
              </a:ext>
            </a:extLst>
          </p:cNvPr>
          <p:cNvSpPr txBox="1"/>
          <p:nvPr/>
        </p:nvSpPr>
        <p:spPr>
          <a:xfrm>
            <a:off x="81824" y="6597904"/>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73EA161D-01B5-2726-799A-3BAD493A838E}"/>
              </a:ext>
            </a:extLst>
          </p:cNvPr>
          <p:cNvGrpSpPr/>
          <p:nvPr/>
        </p:nvGrpSpPr>
        <p:grpSpPr>
          <a:xfrm>
            <a:off x="5639" y="249773"/>
            <a:ext cx="2661966" cy="509001"/>
            <a:chOff x="7048" y="374718"/>
            <a:chExt cx="3993566" cy="763619"/>
          </a:xfrm>
        </p:grpSpPr>
        <p:sp>
          <p:nvSpPr>
            <p:cNvPr id="9" name="TextBox 8">
              <a:extLst>
                <a:ext uri="{FF2B5EF4-FFF2-40B4-BE49-F238E27FC236}">
                  <a16:creationId xmlns:a16="http://schemas.microsoft.com/office/drawing/2014/main" id="{9A4482F4-6AED-0578-4DF6-0C30A2C3DD4C}"/>
                </a:ext>
              </a:extLst>
            </p:cNvPr>
            <p:cNvSpPr txBox="1"/>
            <p:nvPr/>
          </p:nvSpPr>
          <p:spPr>
            <a:xfrm>
              <a:off x="469775" y="374718"/>
              <a:ext cx="3530839"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IPS Compliance</a:t>
              </a:r>
            </a:p>
          </p:txBody>
        </p:sp>
        <p:cxnSp>
          <p:nvCxnSpPr>
            <p:cNvPr id="11" name="Straight Connector 10">
              <a:extLst>
                <a:ext uri="{FF2B5EF4-FFF2-40B4-BE49-F238E27FC236}">
                  <a16:creationId xmlns:a16="http://schemas.microsoft.com/office/drawing/2014/main" id="{8A053040-F7A2-E6C2-291F-A3587960B14D}"/>
                </a:ext>
              </a:extLst>
            </p:cNvPr>
            <p:cNvCxnSpPr>
              <a:cxnSpLocks/>
            </p:cNvCxnSpPr>
            <p:nvPr/>
          </p:nvCxnSpPr>
          <p:spPr>
            <a:xfrm>
              <a:off x="7048" y="1138337"/>
              <a:ext cx="3899474"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4" name="Table 3">
            <a:extLst>
              <a:ext uri="{FF2B5EF4-FFF2-40B4-BE49-F238E27FC236}">
                <a16:creationId xmlns:a16="http://schemas.microsoft.com/office/drawing/2014/main" id="{E4304BA1-9E52-F23C-A03B-46FDE191FE8A}"/>
              </a:ext>
            </a:extLst>
          </p:cNvPr>
          <p:cNvGraphicFramePr>
            <a:graphicFrameLocks noGrp="1"/>
          </p:cNvGraphicFramePr>
          <p:nvPr>
            <p:extLst>
              <p:ext uri="{D42A27DB-BD31-4B8C-83A1-F6EECF244321}">
                <p14:modId xmlns:p14="http://schemas.microsoft.com/office/powerpoint/2010/main" val="825848312"/>
              </p:ext>
            </p:extLst>
          </p:nvPr>
        </p:nvGraphicFramePr>
        <p:xfrm>
          <a:off x="967224" y="870851"/>
          <a:ext cx="10266834" cy="5743127"/>
        </p:xfrm>
        <a:graphic>
          <a:graphicData uri="http://schemas.openxmlformats.org/drawingml/2006/table">
            <a:tbl>
              <a:tblPr firstRow="1" firstCol="1" bandRow="1">
                <a:tableStyleId>{5C22544A-7EE6-4342-B048-85BDC9FD1C3A}</a:tableStyleId>
              </a:tblPr>
              <a:tblGrid>
                <a:gridCol w="2021024">
                  <a:extLst>
                    <a:ext uri="{9D8B030D-6E8A-4147-A177-3AD203B41FA5}">
                      <a16:colId xmlns:a16="http://schemas.microsoft.com/office/drawing/2014/main" val="976972889"/>
                    </a:ext>
                  </a:extLst>
                </a:gridCol>
                <a:gridCol w="7544541">
                  <a:extLst>
                    <a:ext uri="{9D8B030D-6E8A-4147-A177-3AD203B41FA5}">
                      <a16:colId xmlns:a16="http://schemas.microsoft.com/office/drawing/2014/main" val="914137570"/>
                    </a:ext>
                  </a:extLst>
                </a:gridCol>
                <a:gridCol w="701269">
                  <a:extLst>
                    <a:ext uri="{9D8B030D-6E8A-4147-A177-3AD203B41FA5}">
                      <a16:colId xmlns:a16="http://schemas.microsoft.com/office/drawing/2014/main" val="3465732189"/>
                    </a:ext>
                  </a:extLst>
                </a:gridCol>
              </a:tblGrid>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Parameters</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l" fontAlgn="ctr"/>
                      <a:r>
                        <a:rPr lang="en-IN" sz="1200" b="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 </a:t>
                      </a: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IPS</a:t>
                      </a:r>
                      <a:r>
                        <a:rPr lang="en-IN" sz="1200" b="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 </a:t>
                      </a: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Guidelines</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b"/>
                      <a:r>
                        <a:rPr lang="en-IN" sz="1400" b="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Y/N</a:t>
                      </a:r>
                      <a:endParaRPr lang="en-IN" sz="1400" b="0"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129677930"/>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Liquidity</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Liquidity Reserve of 5% to be maintained</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9442383"/>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Equity Exposure</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Tactical allocation to increase/ reduce equity exposure based on valuations</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6175873"/>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Duration Exposure</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Not More than 2.5 Years Avg</a:t>
                      </a:r>
                      <a:r>
                        <a:rPr lang="en-US" sz="1100" b="0" u="none" strike="noStrike" baseline="0" dirty="0">
                          <a:solidFill>
                            <a:srgbClr val="002060"/>
                          </a:solidFill>
                          <a:effectLst/>
                          <a:latin typeface="Roboto" panose="02000000000000000000" pitchFamily="2" charset="0"/>
                          <a:ea typeface="Roboto" panose="02000000000000000000" pitchFamily="2" charset="0"/>
                          <a:cs typeface="Roboto" panose="02000000000000000000" pitchFamily="2" charset="0"/>
                        </a:rPr>
                        <a:t> </a:t>
                      </a:r>
                      <a:endParaRPr lang="en-IN" sz="1100" b="1"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4720606"/>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Credit Exposure</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Not less than Average Credit Quality of AA (at portfolio level) </a:t>
                      </a:r>
                      <a:endParaRPr lang="en-IN" sz="1100" b="1"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8884916"/>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AMC Exposure</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To be capped at 20%</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141635"/>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Non-MF Exposure</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IN"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Restricted to 50%</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7892052"/>
                  </a:ext>
                </a:extLst>
              </a:tr>
              <a:tr h="441779">
                <a:tc>
                  <a:txBody>
                    <a:bodyPr/>
                    <a:lstStyle/>
                    <a:p>
                      <a:pPr algn="l" fontAlgn="ctr"/>
                      <a:r>
                        <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Unlisted Equity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Restricted to 15%</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8505135"/>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Close-Ended Scheme </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IN"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Restricted to 20%</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4646845"/>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Scheme Exposure</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To be capped at 10%</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647016"/>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Investment Managers</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Mix of Equity, Debt, Hybrid, Absolute Return and Alternate strategies </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15905"/>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Strategic Allocation</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Equity-70%; Debt-30%</a:t>
                      </a:r>
                      <a:endParaRPr lang="en-IN" sz="1100" b="0"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0783704"/>
                  </a:ext>
                </a:extLst>
              </a:tr>
              <a:tr h="441779">
                <a:tc>
                  <a:txBody>
                    <a:bodyPr/>
                    <a:lstStyle/>
                    <a:p>
                      <a:pPr algn="l" fontAlgn="ctr"/>
                      <a:r>
                        <a:rPr lang="en-IN" sz="12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Tactical Allocation</a:t>
                      </a:r>
                      <a:endParaRPr lang="en-IN" sz="12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4B8A7"/>
                    </a:solidFill>
                  </a:tcPr>
                </a:tc>
                <a:tc>
                  <a:txBody>
                    <a:bodyPr/>
                    <a:lstStyle/>
                    <a:p>
                      <a:pPr algn="l" fontAlgn="ctr"/>
                      <a:r>
                        <a:rPr lang="en-US" sz="1100" b="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rPr>
                        <a:t> Equity: 56% to 84% &amp; Debt: 46% to 16% </a:t>
                      </a:r>
                      <a:endParaRPr lang="en-IN" sz="1100" b="1" i="0" u="none" strike="noStrike" dirty="0">
                        <a:solidFill>
                          <a:srgbClr val="00206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IN" sz="11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IN" sz="11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222026"/>
                  </a:ext>
                </a:extLst>
              </a:tr>
            </a:tbl>
          </a:graphicData>
        </a:graphic>
      </p:graphicFrame>
      <p:pic>
        <p:nvPicPr>
          <p:cNvPr id="5" name="Picture 22">
            <a:extLst>
              <a:ext uri="{FF2B5EF4-FFF2-40B4-BE49-F238E27FC236}">
                <a16:creationId xmlns:a16="http://schemas.microsoft.com/office/drawing/2014/main" id="{84C923EE-0B75-95D6-07D2-EA5A4130B68C}"/>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004046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BFD12-2AE6-6C10-D5A4-59427A66E6D7}"/>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B17CDB65-6A29-419A-B1AA-07B2C27B2A02}"/>
              </a:ext>
            </a:extLst>
          </p:cNvPr>
          <p:cNvGrpSpPr/>
          <p:nvPr/>
        </p:nvGrpSpPr>
        <p:grpSpPr>
          <a:xfrm>
            <a:off x="5638" y="251189"/>
            <a:ext cx="7174471" cy="507585"/>
            <a:chOff x="7048" y="376842"/>
            <a:chExt cx="10763370" cy="761495"/>
          </a:xfrm>
        </p:grpSpPr>
        <p:sp>
          <p:nvSpPr>
            <p:cNvPr id="9" name="TextBox 8">
              <a:extLst>
                <a:ext uri="{FF2B5EF4-FFF2-40B4-BE49-F238E27FC236}">
                  <a16:creationId xmlns:a16="http://schemas.microsoft.com/office/drawing/2014/main" id="{50AB63E4-A1A0-BD46-2E0D-EE5C8489EA9B}"/>
                </a:ext>
              </a:extLst>
            </p:cNvPr>
            <p:cNvSpPr txBox="1"/>
            <p:nvPr/>
          </p:nvSpPr>
          <p:spPr>
            <a:xfrm>
              <a:off x="412136" y="376842"/>
              <a:ext cx="10358282"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IPS Target Return Vs Current Portfolio Return (SI)</a:t>
              </a:r>
            </a:p>
          </p:txBody>
        </p:sp>
        <p:cxnSp>
          <p:nvCxnSpPr>
            <p:cNvPr id="11" name="Straight Connector 10">
              <a:extLst>
                <a:ext uri="{FF2B5EF4-FFF2-40B4-BE49-F238E27FC236}">
                  <a16:creationId xmlns:a16="http://schemas.microsoft.com/office/drawing/2014/main" id="{73089695-02B8-184B-51C9-BAEA316E64E1}"/>
                </a:ext>
              </a:extLst>
            </p:cNvPr>
            <p:cNvCxnSpPr>
              <a:cxnSpLocks/>
            </p:cNvCxnSpPr>
            <p:nvPr/>
          </p:nvCxnSpPr>
          <p:spPr>
            <a:xfrm>
              <a:off x="7048" y="1138337"/>
              <a:ext cx="10493398"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3" name="Table 2">
            <a:extLst>
              <a:ext uri="{FF2B5EF4-FFF2-40B4-BE49-F238E27FC236}">
                <a16:creationId xmlns:a16="http://schemas.microsoft.com/office/drawing/2014/main" id="{BDF696B7-0532-7A52-D020-CCFFCC6269D7}"/>
              </a:ext>
            </a:extLst>
          </p:cNvPr>
          <p:cNvGraphicFramePr>
            <a:graphicFrameLocks noGrp="1"/>
          </p:cNvGraphicFramePr>
          <p:nvPr>
            <p:extLst>
              <p:ext uri="{D42A27DB-BD31-4B8C-83A1-F6EECF244321}">
                <p14:modId xmlns:p14="http://schemas.microsoft.com/office/powerpoint/2010/main" val="2927034658"/>
              </p:ext>
            </p:extLst>
          </p:nvPr>
        </p:nvGraphicFramePr>
        <p:xfrm>
          <a:off x="390284" y="1234202"/>
          <a:ext cx="5496948" cy="1383312"/>
        </p:xfrm>
        <a:graphic>
          <a:graphicData uri="http://schemas.openxmlformats.org/drawingml/2006/table">
            <a:tbl>
              <a:tblPr>
                <a:tableStyleId>{2D5ABB26-0587-4C30-8999-92F81FD0307C}</a:tableStyleId>
              </a:tblPr>
              <a:tblGrid>
                <a:gridCol w="1488196">
                  <a:extLst>
                    <a:ext uri="{9D8B030D-6E8A-4147-A177-3AD203B41FA5}">
                      <a16:colId xmlns:a16="http://schemas.microsoft.com/office/drawing/2014/main" val="1002781777"/>
                    </a:ext>
                  </a:extLst>
                </a:gridCol>
                <a:gridCol w="978726">
                  <a:extLst>
                    <a:ext uri="{9D8B030D-6E8A-4147-A177-3AD203B41FA5}">
                      <a16:colId xmlns:a16="http://schemas.microsoft.com/office/drawing/2014/main" val="2272406808"/>
                    </a:ext>
                  </a:extLst>
                </a:gridCol>
                <a:gridCol w="1789545">
                  <a:extLst>
                    <a:ext uri="{9D8B030D-6E8A-4147-A177-3AD203B41FA5}">
                      <a16:colId xmlns:a16="http://schemas.microsoft.com/office/drawing/2014/main" val="3004683158"/>
                    </a:ext>
                  </a:extLst>
                </a:gridCol>
                <a:gridCol w="1240481">
                  <a:extLst>
                    <a:ext uri="{9D8B030D-6E8A-4147-A177-3AD203B41FA5}">
                      <a16:colId xmlns:a16="http://schemas.microsoft.com/office/drawing/2014/main" val="2662535053"/>
                    </a:ext>
                  </a:extLst>
                </a:gridCol>
              </a:tblGrid>
              <a:tr h="345828">
                <a:tc gridSpan="4">
                  <a:txBody>
                    <a:bodyPr/>
                    <a:lstStyle/>
                    <a:p>
                      <a:pPr algn="ctr" fontAlgn="b"/>
                      <a:r>
                        <a:rPr lang="en-US" sz="1000" b="1" u="none" strike="noStrike" dirty="0">
                          <a:solidFill>
                            <a:schemeClr val="bg1"/>
                          </a:solidFill>
                          <a:effectLst/>
                        </a:rPr>
                        <a:t>IPS Return Vs Current Portfolio Return</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1242076429"/>
                  </a:ext>
                </a:extLst>
              </a:tr>
              <a:tr h="345828">
                <a:tc>
                  <a:txBody>
                    <a:bodyPr/>
                    <a:lstStyle/>
                    <a:p>
                      <a:pPr algn="ctr" fontAlgn="b"/>
                      <a:r>
                        <a:rPr lang="en-US" sz="1000" b="0" u="none" strike="noStrike" dirty="0">
                          <a:solidFill>
                            <a:schemeClr val="tx1"/>
                          </a:solidFill>
                          <a:effectLst/>
                        </a:rPr>
                        <a:t>Target Returns </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11-12%</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IPS Time Horizon</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More than 5 Years</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9841007"/>
                  </a:ext>
                </a:extLst>
              </a:tr>
              <a:tr h="345828">
                <a:tc>
                  <a:txBody>
                    <a:bodyPr/>
                    <a:lstStyle/>
                    <a:p>
                      <a:pPr algn="ctr" fontAlgn="b"/>
                      <a:r>
                        <a:rPr lang="en-US" sz="1000" b="0" u="none" strike="noStrike" dirty="0">
                          <a:solidFill>
                            <a:schemeClr val="tx1"/>
                          </a:solidFill>
                          <a:effectLst/>
                        </a:rPr>
                        <a:t>Portfolio Return (SI)</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11.5</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Current Portfolio’s  WA Age</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3.05 Years (1113 Days)</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1514438"/>
                  </a:ext>
                </a:extLst>
              </a:tr>
              <a:tr h="345828">
                <a:tc>
                  <a:txBody>
                    <a:bodyPr/>
                    <a:lstStyle/>
                    <a:p>
                      <a:pPr algn="ctr" fontAlgn="b"/>
                      <a:r>
                        <a:rPr lang="en-US" sz="1000" b="0" u="none" strike="noStrike" dirty="0">
                          <a:solidFill>
                            <a:schemeClr val="tx1"/>
                          </a:solidFill>
                          <a:effectLst/>
                        </a:rPr>
                        <a:t>Benchmark Returns</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000" b="0" u="none" strike="noStrike" dirty="0">
                          <a:solidFill>
                            <a:schemeClr val="tx1"/>
                          </a:solidFill>
                          <a:effectLst/>
                        </a:rPr>
                        <a:t>10.2</a:t>
                      </a:r>
                      <a:endParaRPr lang="en-US" sz="1000" b="0"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dirty="0">
                          <a:solidFill>
                            <a:srgbClr val="00A288"/>
                          </a:solidFill>
                          <a:effectLst/>
                        </a:rPr>
                        <a:t>Alpha</a:t>
                      </a:r>
                      <a:r>
                        <a:rPr lang="en-US" sz="1000" b="0" u="none" strike="noStrike" dirty="0">
                          <a:solidFill>
                            <a:schemeClr val="tx1"/>
                          </a:solidFill>
                          <a:effectLst/>
                        </a:rPr>
                        <a:t>/</a:t>
                      </a:r>
                      <a:r>
                        <a:rPr lang="en-US" sz="1000" b="0" u="none" strike="noStrike" dirty="0">
                          <a:solidFill>
                            <a:srgbClr val="FF0000"/>
                          </a:solidFill>
                          <a:effectLst/>
                        </a:rPr>
                        <a:t>Shortfall</a:t>
                      </a:r>
                      <a:endParaRPr lang="en-US" sz="1000" b="0" i="0" u="none" strike="noStrike" dirty="0">
                        <a:solidFill>
                          <a:srgbClr val="FF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u="none" strike="noStrike" dirty="0">
                          <a:solidFill>
                            <a:srgbClr val="00A288"/>
                          </a:solidFill>
                          <a:effectLst/>
                        </a:rPr>
                        <a:t>1.3%</a:t>
                      </a:r>
                      <a:endParaRPr lang="en-US" sz="1000" b="0" i="0" u="none" strike="noStrike"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1372965"/>
                  </a:ext>
                </a:extLst>
              </a:tr>
            </a:tbl>
          </a:graphicData>
        </a:graphic>
      </p:graphicFrame>
      <p:sp>
        <p:nvSpPr>
          <p:cNvPr id="5" name="Rectangle 4">
            <a:extLst>
              <a:ext uri="{FF2B5EF4-FFF2-40B4-BE49-F238E27FC236}">
                <a16:creationId xmlns:a16="http://schemas.microsoft.com/office/drawing/2014/main" id="{2F68DA19-4669-DA80-D86D-EF091AE53C29}"/>
              </a:ext>
            </a:extLst>
          </p:cNvPr>
          <p:cNvSpPr/>
          <p:nvPr/>
        </p:nvSpPr>
        <p:spPr>
          <a:xfrm>
            <a:off x="397644" y="2917552"/>
            <a:ext cx="5491354" cy="31916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The portfolio is on track with the overall Portfolio Return at 11.71%, in line with our Target IPS Return band</a:t>
            </a:r>
          </a:p>
          <a:p>
            <a:pPr marL="171450" lvl="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Most of our capital-deployment calls, as predicted by CA’s Multi-factor model, proved to be correct in hindsight </a:t>
            </a:r>
            <a:endParaRPr lang="en-US" sz="11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marL="171450" lvl="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We avoided fresh equity allocation at expensive valuations and stayed away from Mid &amp; Small Cap for most of CY’22</a:t>
            </a:r>
          </a:p>
          <a:p>
            <a:pPr marL="171450" lvl="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Our change of stance to Neutral on Mid &amp; Small-Cap from Dec’22 till end of Aug’23 also paid off very well, allowing our portfolio to benefit from the run in the space in the last one year  </a:t>
            </a:r>
          </a:p>
          <a:p>
            <a:pPr marL="171450" lvl="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We went underweight on Mid &amp; Small cap in Sep’23 and on Value in Oct’23 and the house view is that these segments have run ahead of their fundamentals and are due for a reversal</a:t>
            </a:r>
          </a:p>
          <a:p>
            <a:pPr marL="171450" lvl="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We believe the portfolio is well-positioned to deliver and maintain the IPS Target returns for its stipulated time horizon of 5 years+ </a:t>
            </a:r>
            <a:endParaRPr kumimoji="0" lang="en-IN" sz="1200" b="1" i="0" u="none" strike="noStrike" kern="1200" cap="none" spc="0" normalizeH="0" baseline="0" noProof="0" dirty="0">
              <a:ln>
                <a:noFill/>
              </a:ln>
              <a:solidFill>
                <a:schemeClr val="tx2">
                  <a:lumMod val="75000"/>
                </a:schemeClr>
              </a:solidFill>
              <a:effectLst/>
              <a:highlight>
                <a:srgbClr val="FFFF00"/>
              </a:highlight>
              <a:uLnTx/>
              <a:uFillTx/>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DB42176D-2C1B-B2F0-F345-96EDD34FAEB4}"/>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aphicFrame>
        <p:nvGraphicFramePr>
          <p:cNvPr id="10" name="Chart 9">
            <a:extLst>
              <a:ext uri="{FF2B5EF4-FFF2-40B4-BE49-F238E27FC236}">
                <a16:creationId xmlns:a16="http://schemas.microsoft.com/office/drawing/2014/main" id="{6AF49C7C-5A3B-247A-1E5B-5320AC201590}"/>
              </a:ext>
            </a:extLst>
          </p:cNvPr>
          <p:cNvGraphicFramePr/>
          <p:nvPr>
            <p:extLst>
              <p:ext uri="{D42A27DB-BD31-4B8C-83A1-F6EECF244321}">
                <p14:modId xmlns:p14="http://schemas.microsoft.com/office/powerpoint/2010/main" val="2364847486"/>
              </p:ext>
            </p:extLst>
          </p:nvPr>
        </p:nvGraphicFramePr>
        <p:xfrm>
          <a:off x="6273799" y="1612036"/>
          <a:ext cx="5818679" cy="4099948"/>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22">
            <a:extLst>
              <a:ext uri="{FF2B5EF4-FFF2-40B4-BE49-F238E27FC236}">
                <a16:creationId xmlns:a16="http://schemas.microsoft.com/office/drawing/2014/main" id="{56EF69E3-A288-3CD3-75DE-44201764578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749551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2AC5D-E29E-2E79-F530-E4D7EDAF07B0}"/>
            </a:ext>
          </a:extLst>
        </p:cNvPr>
        <p:cNvGrpSpPr/>
        <p:nvPr/>
      </p:nvGrpSpPr>
      <p:grpSpPr>
        <a:xfrm>
          <a:off x="0" y="0"/>
          <a:ext cx="0" cy="0"/>
          <a:chOff x="0" y="0"/>
          <a:chExt cx="0" cy="0"/>
        </a:xfrm>
      </p:grpSpPr>
      <p:sp>
        <p:nvSpPr>
          <p:cNvPr id="7" name="Text">
            <a:extLst>
              <a:ext uri="{FF2B5EF4-FFF2-40B4-BE49-F238E27FC236}">
                <a16:creationId xmlns:a16="http://schemas.microsoft.com/office/drawing/2014/main" id="{E2439E06-6975-B2BC-55CA-E0B546D0B079}"/>
              </a:ext>
            </a:extLst>
          </p:cNvPr>
          <p:cNvSpPr>
            <a:spLocks noGrp="1"/>
          </p:cNvSpPr>
          <p:nvPr/>
        </p:nvSpPr>
        <p:spPr>
          <a:xfrm>
            <a:off x="318266" y="2700548"/>
            <a:ext cx="11676509" cy="578685"/>
          </a:xfrm>
          <a:prstGeom prst="rect">
            <a:avLst/>
          </a:prstGeom>
          <a:ln>
            <a:solidFill>
              <a:schemeClr val="bg1"/>
            </a:solidFill>
          </a:ln>
        </p:spPr>
        <p:txBody>
          <a:bodyPr wrap="square" lIns="0" tIns="0" rIns="0" bIns="0" rtlCol="0" anchor="t"/>
          <a:lstStyle/>
          <a:p>
            <a:pPr algn="ctr">
              <a:lnSpc>
                <a:spcPct val="100000"/>
              </a:lnSpc>
              <a:defRPr sz="1200" b="1">
                <a:solidFill>
                  <a:srgbClr val="1F497D"/>
                </a:solidFill>
                <a:latin typeface="SansSerif"/>
                <a:ea typeface="SansSerif"/>
                <a:cs typeface="SansSerif"/>
              </a:defRPr>
            </a:pPr>
            <a:r>
              <a:rPr lang="en-US" sz="3200" b="1" dirty="0">
                <a:solidFill>
                  <a:srgbClr val="1F497D"/>
                </a:solidFill>
                <a:latin typeface="Roboto" panose="02000000000000000000" pitchFamily="2" charset="0"/>
                <a:ea typeface="Roboto" panose="02000000000000000000" pitchFamily="2" charset="0"/>
                <a:cs typeface="Roboto" panose="02000000000000000000" pitchFamily="2" charset="0"/>
              </a:rPr>
              <a:t>Portfolio Update </a:t>
            </a:r>
            <a:endParaRPr sz="320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8" name="Line">
            <a:extLst>
              <a:ext uri="{FF2B5EF4-FFF2-40B4-BE49-F238E27FC236}">
                <a16:creationId xmlns:a16="http://schemas.microsoft.com/office/drawing/2014/main" id="{E7689B33-D190-4756-8AEA-DA6E5E8968B5}"/>
              </a:ext>
            </a:extLst>
          </p:cNvPr>
          <p:cNvSpPr>
            <a:spLocks noGrp="1"/>
          </p:cNvSpPr>
          <p:nvPr/>
        </p:nvSpPr>
        <p:spPr>
          <a:xfrm>
            <a:off x="318267" y="3279233"/>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pic>
        <p:nvPicPr>
          <p:cNvPr id="2" name="Picture 22">
            <a:extLst>
              <a:ext uri="{FF2B5EF4-FFF2-40B4-BE49-F238E27FC236}">
                <a16:creationId xmlns:a16="http://schemas.microsoft.com/office/drawing/2014/main" id="{128B52A3-451D-AC99-AB0B-FDF3C0129EA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994477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4A305ED-D62D-DA46-816E-5755BC291F99}"/>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35FFB697-0F9A-344E-AD06-5AA78726BF75}"/>
              </a:ext>
            </a:extLst>
          </p:cNvPr>
          <p:cNvGrpSpPr/>
          <p:nvPr/>
        </p:nvGrpSpPr>
        <p:grpSpPr>
          <a:xfrm>
            <a:off x="5639" y="249773"/>
            <a:ext cx="5774542" cy="509001"/>
            <a:chOff x="7048" y="374718"/>
            <a:chExt cx="8663154" cy="763619"/>
          </a:xfrm>
        </p:grpSpPr>
        <p:sp>
          <p:nvSpPr>
            <p:cNvPr id="9" name="TextBox 8">
              <a:extLst>
                <a:ext uri="{FF2B5EF4-FFF2-40B4-BE49-F238E27FC236}">
                  <a16:creationId xmlns:a16="http://schemas.microsoft.com/office/drawing/2014/main" id="{1BF638C0-AF11-AA4D-B2DE-AD27941AF914}"/>
                </a:ext>
              </a:extLst>
            </p:cNvPr>
            <p:cNvSpPr txBox="1"/>
            <p:nvPr/>
          </p:nvSpPr>
          <p:spPr>
            <a:xfrm>
              <a:off x="262273" y="374718"/>
              <a:ext cx="8407929"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Current Asset Allocation (as on _______)</a:t>
              </a:r>
            </a:p>
          </p:txBody>
        </p:sp>
        <p:cxnSp>
          <p:nvCxnSpPr>
            <p:cNvPr id="11" name="Straight Connector 10">
              <a:extLst>
                <a:ext uri="{FF2B5EF4-FFF2-40B4-BE49-F238E27FC236}">
                  <a16:creationId xmlns:a16="http://schemas.microsoft.com/office/drawing/2014/main" id="{E2AC4EDB-D40A-E84D-A00A-B2816CD71F9E}"/>
                </a:ext>
              </a:extLst>
            </p:cNvPr>
            <p:cNvCxnSpPr>
              <a:cxnSpLocks/>
            </p:cNvCxnSpPr>
            <p:nvPr/>
          </p:nvCxnSpPr>
          <p:spPr>
            <a:xfrm>
              <a:off x="7048" y="1138337"/>
              <a:ext cx="8429915"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C0EDF503-CC46-4268-1A31-A8B1BDEB6D0D}"/>
              </a:ext>
            </a:extLst>
          </p:cNvPr>
          <p:cNvGraphicFramePr>
            <a:graphicFrameLocks noGrp="1"/>
          </p:cNvGraphicFramePr>
          <p:nvPr>
            <p:extLst>
              <p:ext uri="{D42A27DB-BD31-4B8C-83A1-F6EECF244321}">
                <p14:modId xmlns:p14="http://schemas.microsoft.com/office/powerpoint/2010/main" val="1661220704"/>
              </p:ext>
            </p:extLst>
          </p:nvPr>
        </p:nvGraphicFramePr>
        <p:xfrm>
          <a:off x="6348471" y="2120038"/>
          <a:ext cx="5425269" cy="2595880"/>
        </p:xfrm>
        <a:graphic>
          <a:graphicData uri="http://schemas.openxmlformats.org/drawingml/2006/table">
            <a:tbl>
              <a:tblPr firstRow="1" bandRow="1">
                <a:tableStyleId>{2D5ABB26-0587-4C30-8999-92F81FD0307C}</a:tableStyleId>
              </a:tblPr>
              <a:tblGrid>
                <a:gridCol w="2240358">
                  <a:extLst>
                    <a:ext uri="{9D8B030D-6E8A-4147-A177-3AD203B41FA5}">
                      <a16:colId xmlns:a16="http://schemas.microsoft.com/office/drawing/2014/main" val="967619359"/>
                    </a:ext>
                  </a:extLst>
                </a:gridCol>
                <a:gridCol w="1828800">
                  <a:extLst>
                    <a:ext uri="{9D8B030D-6E8A-4147-A177-3AD203B41FA5}">
                      <a16:colId xmlns:a16="http://schemas.microsoft.com/office/drawing/2014/main" val="4120578850"/>
                    </a:ext>
                  </a:extLst>
                </a:gridCol>
                <a:gridCol w="1356111">
                  <a:extLst>
                    <a:ext uri="{9D8B030D-6E8A-4147-A177-3AD203B41FA5}">
                      <a16:colId xmlns:a16="http://schemas.microsoft.com/office/drawing/2014/main" val="777457457"/>
                    </a:ext>
                  </a:extLst>
                </a:gridCol>
              </a:tblGrid>
              <a:tr h="370840">
                <a:tc>
                  <a:txBody>
                    <a:bodyPr/>
                    <a:lstStyle/>
                    <a:p>
                      <a:pPr algn="l"/>
                      <a:r>
                        <a:rPr lang="en-IN" sz="1000" dirty="0">
                          <a:solidFill>
                            <a:schemeClr val="bg1"/>
                          </a:solidFill>
                        </a:rPr>
                        <a:t>Asset Class</a:t>
                      </a:r>
                      <a:endParaRPr lang="en-IN" sz="10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IN" sz="1000" dirty="0">
                          <a:solidFill>
                            <a:schemeClr val="bg1"/>
                          </a:solidFill>
                        </a:rPr>
                        <a:t>Market Value</a:t>
                      </a:r>
                      <a:endParaRPr lang="en-IN" sz="10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IN" sz="1000" dirty="0">
                          <a:solidFill>
                            <a:schemeClr val="bg1"/>
                          </a:solidFill>
                        </a:rPr>
                        <a:t>% Assets</a:t>
                      </a:r>
                      <a:endParaRPr lang="en-IN" sz="1000"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728747019"/>
                  </a:ext>
                </a:extLst>
              </a:tr>
              <a:tr h="370840">
                <a:tc>
                  <a:txBody>
                    <a:bodyPr/>
                    <a:lstStyle/>
                    <a:p>
                      <a:pPr algn="l"/>
                      <a:r>
                        <a:rPr lang="en-IN" sz="1000" dirty="0"/>
                        <a:t>Equity</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64.41%</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3517106"/>
                  </a:ext>
                </a:extLst>
              </a:tr>
              <a:tr h="370840">
                <a:tc>
                  <a:txBody>
                    <a:bodyPr/>
                    <a:lstStyle/>
                    <a:p>
                      <a:pPr algn="l"/>
                      <a:r>
                        <a:rPr lang="en-IN" sz="1000" dirty="0"/>
                        <a:t>Debt</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9.58%</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8421212"/>
                  </a:ext>
                </a:extLst>
              </a:tr>
              <a:tr h="370840">
                <a:tc>
                  <a:txBody>
                    <a:bodyPr/>
                    <a:lstStyle/>
                    <a:p>
                      <a:pPr algn="l"/>
                      <a:r>
                        <a:rPr lang="en-IN" sz="1000" dirty="0"/>
                        <a:t>Hybrid</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17.38%</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7131661"/>
                  </a:ext>
                </a:extLst>
              </a:tr>
              <a:tr h="370840">
                <a:tc>
                  <a:txBody>
                    <a:bodyPr/>
                    <a:lstStyle/>
                    <a:p>
                      <a:pPr algn="l"/>
                      <a:r>
                        <a:rPr lang="en-IN" sz="1000" dirty="0"/>
                        <a:t>Alternate (PE/VC + Global + Gold)</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2.74%</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3343176"/>
                  </a:ext>
                </a:extLst>
              </a:tr>
              <a:tr h="370840">
                <a:tc>
                  <a:txBody>
                    <a:bodyPr/>
                    <a:lstStyle/>
                    <a:p>
                      <a:pPr algn="l"/>
                      <a:r>
                        <a:rPr lang="en-IN" sz="1000" dirty="0"/>
                        <a:t>Liquid Equivalent</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5.90%</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45110"/>
                  </a:ext>
                </a:extLst>
              </a:tr>
              <a:tr h="370840">
                <a:tc>
                  <a:txBody>
                    <a:bodyPr/>
                    <a:lstStyle/>
                    <a:p>
                      <a:pPr algn="l"/>
                      <a:r>
                        <a:rPr lang="en-IN" sz="1000" b="1" dirty="0"/>
                        <a:t>Total</a:t>
                      </a:r>
                      <a:endParaRPr lang="en-IN" sz="1000" b="1"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t>100.00%</a:t>
                      </a:r>
                      <a:endParaRPr lang="en-IN" sz="1000" b="1"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4916926"/>
                  </a:ext>
                </a:extLst>
              </a:tr>
            </a:tbl>
          </a:graphicData>
        </a:graphic>
      </p:graphicFrame>
      <p:graphicFrame>
        <p:nvGraphicFramePr>
          <p:cNvPr id="14" name="Chart 13">
            <a:extLst>
              <a:ext uri="{FF2B5EF4-FFF2-40B4-BE49-F238E27FC236}">
                <a16:creationId xmlns:a16="http://schemas.microsoft.com/office/drawing/2014/main" id="{4FA628BF-03EF-64FB-BF0E-0C707FF59EA7}"/>
              </a:ext>
            </a:extLst>
          </p:cNvPr>
          <p:cNvGraphicFramePr/>
          <p:nvPr>
            <p:extLst>
              <p:ext uri="{D42A27DB-BD31-4B8C-83A1-F6EECF244321}">
                <p14:modId xmlns:p14="http://schemas.microsoft.com/office/powerpoint/2010/main" val="934250263"/>
              </p:ext>
            </p:extLst>
          </p:nvPr>
        </p:nvGraphicFramePr>
        <p:xfrm>
          <a:off x="418260" y="1343549"/>
          <a:ext cx="5726624" cy="4634713"/>
        </p:xfrm>
        <a:graphic>
          <a:graphicData uri="http://schemas.openxmlformats.org/drawingml/2006/chart">
            <c:chart xmlns:c="http://schemas.openxmlformats.org/drawingml/2006/chart" xmlns:r="http://schemas.openxmlformats.org/officeDocument/2006/relationships" r:id="rId3"/>
          </a:graphicData>
        </a:graphic>
      </p:graphicFrame>
      <p:sp>
        <p:nvSpPr>
          <p:cNvPr id="16" name="Content Placeholder 2">
            <a:extLst>
              <a:ext uri="{FF2B5EF4-FFF2-40B4-BE49-F238E27FC236}">
                <a16:creationId xmlns:a16="http://schemas.microsoft.com/office/drawing/2014/main" id="{43AF653D-DFDD-6F14-C356-394FD7FA65BB}"/>
              </a:ext>
            </a:extLst>
          </p:cNvPr>
          <p:cNvSpPr txBox="1">
            <a:spLocks/>
          </p:cNvSpPr>
          <p:nvPr/>
        </p:nvSpPr>
        <p:spPr bwMode="auto">
          <a:xfrm>
            <a:off x="6381128" y="5114433"/>
            <a:ext cx="5425268" cy="307263"/>
          </a:xfrm>
          <a:prstGeom prst="rect">
            <a:avLst/>
          </a:prstGeom>
          <a:noFill/>
          <a:ln w="12700" cap="flat" cmpd="sng" algn="ctr">
            <a:solidFill>
              <a:schemeClr val="tx1"/>
            </a:solidFill>
            <a:prstDash val="dash"/>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dk1"/>
                </a:solidFill>
                <a:latin typeface="+mn-lt"/>
                <a:ea typeface="+mn-ea"/>
                <a:cs typeface="+mn-cs"/>
              </a:defRPr>
            </a:lvl1pPr>
            <a:lvl2pPr marL="742950" indent="-285750" algn="l" rtl="0" eaLnBrk="0" fontAlgn="base" hangingPunct="0">
              <a:spcBef>
                <a:spcPct val="20000"/>
              </a:spcBef>
              <a:spcAft>
                <a:spcPct val="0"/>
              </a:spcAft>
              <a:buChar char="–"/>
              <a:defRPr sz="2200">
                <a:solidFill>
                  <a:schemeClr val="dk1"/>
                </a:solidFill>
                <a:latin typeface="+mn-lt"/>
                <a:ea typeface="+mn-ea"/>
                <a:cs typeface="+mn-cs"/>
              </a:defRPr>
            </a:lvl2pPr>
            <a:lvl3pPr marL="1143000" indent="-228600" algn="l" rtl="0" eaLnBrk="0" fontAlgn="base" hangingPunct="0">
              <a:spcBef>
                <a:spcPct val="20000"/>
              </a:spcBef>
              <a:spcAft>
                <a:spcPct val="0"/>
              </a:spcAft>
              <a:buChar char="•"/>
              <a:defRPr sz="2000">
                <a:solidFill>
                  <a:schemeClr val="dk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dk1"/>
                </a:solidFill>
                <a:latin typeface="+mn-lt"/>
                <a:ea typeface="+mn-ea"/>
                <a:cs typeface="+mn-cs"/>
              </a:defRPr>
            </a:lvl4pPr>
            <a:lvl5pPr marL="2057400" indent="-228600" algn="l" rtl="0" eaLnBrk="0" fontAlgn="base" hangingPunct="0">
              <a:spcBef>
                <a:spcPct val="20000"/>
              </a:spcBef>
              <a:spcAft>
                <a:spcPct val="0"/>
              </a:spcAft>
              <a:buChar char="»"/>
              <a:defRPr sz="1600">
                <a:solidFill>
                  <a:schemeClr val="dk1"/>
                </a:solidFill>
                <a:latin typeface="+mn-lt"/>
                <a:ea typeface="+mn-ea"/>
                <a:cs typeface="+mn-cs"/>
              </a:defRPr>
            </a:lvl5pPr>
            <a:lvl6pPr marL="2514600" indent="-228600" algn="l" rtl="0" fontAlgn="base">
              <a:spcBef>
                <a:spcPct val="20000"/>
              </a:spcBef>
              <a:spcAft>
                <a:spcPct val="0"/>
              </a:spcAft>
              <a:buChar char="»"/>
              <a:defRPr sz="1600">
                <a:solidFill>
                  <a:schemeClr val="dk1"/>
                </a:solidFill>
                <a:latin typeface="+mn-lt"/>
                <a:ea typeface="+mn-ea"/>
                <a:cs typeface="+mn-cs"/>
              </a:defRPr>
            </a:lvl6pPr>
            <a:lvl7pPr marL="2971800" indent="-228600" algn="l" rtl="0" fontAlgn="base">
              <a:spcBef>
                <a:spcPct val="20000"/>
              </a:spcBef>
              <a:spcAft>
                <a:spcPct val="0"/>
              </a:spcAft>
              <a:buChar char="»"/>
              <a:defRPr sz="1600">
                <a:solidFill>
                  <a:schemeClr val="dk1"/>
                </a:solidFill>
                <a:latin typeface="+mn-lt"/>
                <a:ea typeface="+mn-ea"/>
                <a:cs typeface="+mn-cs"/>
              </a:defRPr>
            </a:lvl7pPr>
            <a:lvl8pPr marL="3429000" indent="-228600" algn="l" rtl="0" fontAlgn="base">
              <a:spcBef>
                <a:spcPct val="20000"/>
              </a:spcBef>
              <a:spcAft>
                <a:spcPct val="0"/>
              </a:spcAft>
              <a:buChar char="»"/>
              <a:defRPr sz="1600">
                <a:solidFill>
                  <a:schemeClr val="dk1"/>
                </a:solidFill>
                <a:latin typeface="+mn-lt"/>
                <a:ea typeface="+mn-ea"/>
                <a:cs typeface="+mn-cs"/>
              </a:defRPr>
            </a:lvl8pPr>
            <a:lvl9pPr marL="3886200" indent="-228600" algn="l" rtl="0" fontAlgn="base">
              <a:spcBef>
                <a:spcPct val="20000"/>
              </a:spcBef>
              <a:spcAft>
                <a:spcPct val="0"/>
              </a:spcAft>
              <a:buChar char="»"/>
              <a:defRPr sz="1600">
                <a:solidFill>
                  <a:schemeClr val="dk1"/>
                </a:solidFill>
                <a:latin typeface="+mn-lt"/>
                <a:ea typeface="+mn-ea"/>
                <a:cs typeface="+mn-cs"/>
              </a:defRPr>
            </a:lvl9pPr>
          </a:lstStyle>
          <a:p>
            <a:pPr marL="0" indent="0" algn="ctr">
              <a:buNone/>
              <a:defRPr/>
            </a:pPr>
            <a:endParaRPr kumimoji="0" lang="en-IN" sz="1100" b="1"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 name="TextBox 3">
            <a:extLst>
              <a:ext uri="{FF2B5EF4-FFF2-40B4-BE49-F238E27FC236}">
                <a16:creationId xmlns:a16="http://schemas.microsoft.com/office/drawing/2014/main" id="{E0819A1C-3CFB-5D95-85D1-7F6BA4FD0E64}"/>
              </a:ext>
            </a:extLst>
          </p:cNvPr>
          <p:cNvSpPr txBox="1"/>
          <p:nvPr/>
        </p:nvSpPr>
        <p:spPr>
          <a:xfrm>
            <a:off x="8022771" y="6564086"/>
            <a:ext cx="4169229" cy="215444"/>
          </a:xfrm>
          <a:prstGeom prst="rect">
            <a:avLst/>
          </a:prstGeom>
          <a:noFill/>
        </p:spPr>
        <p:txBody>
          <a:bodyPr wrap="square">
            <a:spAutoFit/>
          </a:bodyPr>
          <a:lstStyle/>
          <a:p>
            <a:pPr marL="0" indent="0">
              <a:buNone/>
              <a:defRPr/>
            </a:pPr>
            <a:r>
              <a:rPr lang="en-IN" sz="800" b="1" kern="0" dirty="0">
                <a:solidFill>
                  <a:srgbClr val="000000"/>
                </a:solidFill>
                <a:latin typeface="Roboto" panose="02000000000000000000" pitchFamily="2" charset="0"/>
                <a:ea typeface="Roboto" panose="02000000000000000000" pitchFamily="2" charset="0"/>
                <a:cs typeface="Roboto" panose="02000000000000000000" pitchFamily="2" charset="0"/>
              </a:rPr>
              <a:t>Net Equity exposure = Equity + 50% of Hybrid + 100% of PE/VC &amp; Global Equity Funds   </a:t>
            </a:r>
          </a:p>
        </p:txBody>
      </p:sp>
      <p:pic>
        <p:nvPicPr>
          <p:cNvPr id="2" name="Picture 22">
            <a:extLst>
              <a:ext uri="{FF2B5EF4-FFF2-40B4-BE49-F238E27FC236}">
                <a16:creationId xmlns:a16="http://schemas.microsoft.com/office/drawing/2014/main" id="{2B49DCCA-BA20-5317-9106-48B7B203E1A2}"/>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948329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00DF1-CD14-A20B-E894-44D3BB0C165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4296BCC1-70D8-11B4-8DA3-72A603846359}"/>
              </a:ext>
            </a:extLst>
          </p:cNvPr>
          <p:cNvGrpSpPr/>
          <p:nvPr/>
        </p:nvGrpSpPr>
        <p:grpSpPr>
          <a:xfrm>
            <a:off x="0" y="181389"/>
            <a:ext cx="7019426" cy="523597"/>
            <a:chOff x="-1410" y="272126"/>
            <a:chExt cx="10530769" cy="785517"/>
          </a:xfrm>
        </p:grpSpPr>
        <p:sp>
          <p:nvSpPr>
            <p:cNvPr id="9" name="TextBox 8">
              <a:extLst>
                <a:ext uri="{FF2B5EF4-FFF2-40B4-BE49-F238E27FC236}">
                  <a16:creationId xmlns:a16="http://schemas.microsoft.com/office/drawing/2014/main" id="{EEE3C0C2-B96C-AA89-5CCE-2EFC6AEAF3DE}"/>
                </a:ext>
              </a:extLst>
            </p:cNvPr>
            <p:cNvSpPr txBox="1"/>
            <p:nvPr/>
          </p:nvSpPr>
          <p:spPr>
            <a:xfrm>
              <a:off x="481303" y="272126"/>
              <a:ext cx="10048056"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Variance from Strategic Allocation (as on _____)</a:t>
              </a:r>
            </a:p>
          </p:txBody>
        </p:sp>
        <p:cxnSp>
          <p:nvCxnSpPr>
            <p:cNvPr id="11" name="Straight Connector 10">
              <a:extLst>
                <a:ext uri="{FF2B5EF4-FFF2-40B4-BE49-F238E27FC236}">
                  <a16:creationId xmlns:a16="http://schemas.microsoft.com/office/drawing/2014/main" id="{7B72FAB1-320B-1651-AAC2-09FE0DAE81D4}"/>
                </a:ext>
              </a:extLst>
            </p:cNvPr>
            <p:cNvCxnSpPr>
              <a:cxnSpLocks/>
            </p:cNvCxnSpPr>
            <p:nvPr/>
          </p:nvCxnSpPr>
          <p:spPr>
            <a:xfrm>
              <a:off x="-1410" y="1057643"/>
              <a:ext cx="10259773"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pic>
        <p:nvPicPr>
          <p:cNvPr id="85" name="Picture 84">
            <a:extLst>
              <a:ext uri="{FF2B5EF4-FFF2-40B4-BE49-F238E27FC236}">
                <a16:creationId xmlns:a16="http://schemas.microsoft.com/office/drawing/2014/main" id="{DD1D1E5A-45B5-EAA3-913C-1F4F9F1FE04B}"/>
              </a:ext>
            </a:extLst>
          </p:cNvPr>
          <p:cNvPicPr>
            <a:picLocks noChangeAspect="1"/>
          </p:cNvPicPr>
          <p:nvPr/>
        </p:nvPicPr>
        <p:blipFill>
          <a:blip r:embed="rId3"/>
          <a:stretch>
            <a:fillRect/>
          </a:stretch>
        </p:blipFill>
        <p:spPr>
          <a:xfrm>
            <a:off x="5616139" y="1191370"/>
            <a:ext cx="545872" cy="545872"/>
          </a:xfrm>
          <a:prstGeom prst="rect">
            <a:avLst/>
          </a:prstGeom>
        </p:spPr>
      </p:pic>
      <p:sp>
        <p:nvSpPr>
          <p:cNvPr id="6" name="TextBox 5">
            <a:extLst>
              <a:ext uri="{FF2B5EF4-FFF2-40B4-BE49-F238E27FC236}">
                <a16:creationId xmlns:a16="http://schemas.microsoft.com/office/drawing/2014/main" id="{6CE067A8-ACB8-C707-4FDC-A966D2DDE63C}"/>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aphicFrame>
        <p:nvGraphicFramePr>
          <p:cNvPr id="16" name="Chart 15">
            <a:extLst>
              <a:ext uri="{FF2B5EF4-FFF2-40B4-BE49-F238E27FC236}">
                <a16:creationId xmlns:a16="http://schemas.microsoft.com/office/drawing/2014/main" id="{70FD055D-E842-5F50-390E-9A34BE30454D}"/>
              </a:ext>
            </a:extLst>
          </p:cNvPr>
          <p:cNvGraphicFramePr/>
          <p:nvPr>
            <p:extLst>
              <p:ext uri="{D42A27DB-BD31-4B8C-83A1-F6EECF244321}">
                <p14:modId xmlns:p14="http://schemas.microsoft.com/office/powerpoint/2010/main" val="43058975"/>
              </p:ext>
            </p:extLst>
          </p:nvPr>
        </p:nvGraphicFramePr>
        <p:xfrm>
          <a:off x="226446" y="947553"/>
          <a:ext cx="6860153" cy="5418667"/>
        </p:xfrm>
        <a:graphic>
          <a:graphicData uri="http://schemas.openxmlformats.org/drawingml/2006/chart">
            <c:chart xmlns:c="http://schemas.openxmlformats.org/drawingml/2006/chart" xmlns:r="http://schemas.openxmlformats.org/officeDocument/2006/relationships" r:id="rId4"/>
          </a:graphicData>
        </a:graphic>
      </p:graphicFrame>
      <p:sp>
        <p:nvSpPr>
          <p:cNvPr id="17" name="Rectangle 16">
            <a:extLst>
              <a:ext uri="{FF2B5EF4-FFF2-40B4-BE49-F238E27FC236}">
                <a16:creationId xmlns:a16="http://schemas.microsoft.com/office/drawing/2014/main" id="{116E6777-A2E6-7ADC-9B0A-5B3B85EDF059}"/>
              </a:ext>
            </a:extLst>
          </p:cNvPr>
          <p:cNvSpPr/>
          <p:nvPr/>
        </p:nvSpPr>
        <p:spPr>
          <a:xfrm>
            <a:off x="7208874" y="1790572"/>
            <a:ext cx="4710224" cy="36958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b="1" u="sng" dirty="0">
              <a:solidFill>
                <a:srgbClr val="002060"/>
              </a:solidFill>
              <a:latin typeface="Roboto" panose="02000000000000000000" pitchFamily="2" charset="0"/>
              <a:ea typeface="Roboto" panose="02000000000000000000" pitchFamily="2" charset="0"/>
              <a:cs typeface="Roboto" panose="02000000000000000000" pitchFamily="2" charset="0"/>
            </a:endParaRPr>
          </a:p>
          <a:p>
            <a:pPr algn="ctr"/>
            <a:r>
              <a:rPr lang="en-IN" sz="1400" b="1" u="sng" dirty="0">
                <a:solidFill>
                  <a:srgbClr val="002060"/>
                </a:solidFill>
                <a:latin typeface="Roboto" panose="02000000000000000000" pitchFamily="2" charset="0"/>
                <a:ea typeface="Roboto" panose="02000000000000000000" pitchFamily="2" charset="0"/>
                <a:cs typeface="Roboto" panose="02000000000000000000" pitchFamily="2" charset="0"/>
              </a:rPr>
              <a:t>Current Asset Allocation Rationale</a:t>
            </a:r>
            <a:endParaRPr lang="en-IN" sz="1400" b="1" u="sng"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just"/>
            <a:endParaRPr lang="en-IN" sz="11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marL="171450" lvl="0" indent="-171450" algn="just">
              <a:spcBef>
                <a:spcPts val="300"/>
              </a:spcBef>
              <a:spcAft>
                <a:spcPts val="300"/>
              </a:spcAft>
              <a:buFont typeface="Wingdings" panose="05000000000000000000" pitchFamily="2" charset="2"/>
              <a:buChar char="§"/>
              <a:defRPr/>
            </a:pP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The portfolio has a net equity exposure of 70.9% and is pretty much aligned with its strategic IPS allocation of 70% /30% in Equity/Debt.</a:t>
            </a:r>
          </a:p>
          <a:p>
            <a:pPr lvl="0" algn="just">
              <a:spcBef>
                <a:spcPts val="300"/>
              </a:spcBef>
              <a:spcAft>
                <a:spcPts val="300"/>
              </a:spcAft>
              <a:defRPr/>
            </a:pPr>
            <a:endPar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endParaRPr>
          </a:p>
          <a:p>
            <a:pPr marL="171450" lvl="0" indent="-171450" algn="just">
              <a:spcBef>
                <a:spcPts val="300"/>
              </a:spcBef>
              <a:spcAft>
                <a:spcPts val="300"/>
              </a:spcAft>
              <a:buFont typeface="Wingdings" panose="05000000000000000000" pitchFamily="2" charset="2"/>
              <a:buChar char="§"/>
              <a:defRPr/>
            </a:pPr>
            <a:r>
              <a:rPr lang="en-IN" sz="1100" b="1" kern="0" dirty="0">
                <a:solidFill>
                  <a:srgbClr val="002060"/>
                </a:solidFill>
                <a:latin typeface="Roboto" panose="02000000000000000000" pitchFamily="2" charset="0"/>
                <a:ea typeface="Roboto" panose="02000000000000000000" pitchFamily="2" charset="0"/>
                <a:cs typeface="Roboto" panose="02000000000000000000" pitchFamily="2" charset="0"/>
              </a:rPr>
              <a:t>     </a:t>
            </a:r>
            <a:r>
              <a:rPr lang="en-IN" sz="1100" b="1" u="sng" kern="0" dirty="0">
                <a:solidFill>
                  <a:srgbClr val="002060"/>
                </a:solidFill>
                <a:latin typeface="Roboto" panose="02000000000000000000" pitchFamily="2" charset="0"/>
                <a:ea typeface="Roboto" panose="02000000000000000000" pitchFamily="2" charset="0"/>
                <a:cs typeface="Roboto" panose="02000000000000000000" pitchFamily="2" charset="0"/>
              </a:rPr>
              <a:t>CA’s House View</a:t>
            </a:r>
            <a:endParaRPr lang="en-IN" sz="1100" u="sng" kern="0" dirty="0">
              <a:solidFill>
                <a:srgbClr val="002060"/>
              </a:solidFill>
              <a:latin typeface="Roboto" panose="02000000000000000000" pitchFamily="2" charset="0"/>
              <a:ea typeface="Roboto" panose="02000000000000000000" pitchFamily="2" charset="0"/>
              <a:cs typeface="Roboto" panose="02000000000000000000" pitchFamily="2" charset="0"/>
            </a:endParaRPr>
          </a:p>
          <a:p>
            <a:pPr lvl="0">
              <a:spcBef>
                <a:spcPts val="300"/>
              </a:spcBef>
              <a:spcAft>
                <a:spcPts val="300"/>
              </a:spcAft>
              <a:defRPr/>
            </a:pP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          Mid &amp; Small-Cap: </a:t>
            </a:r>
            <a:r>
              <a:rPr lang="en-IN" sz="1100" b="1" kern="0" dirty="0">
                <a:solidFill>
                  <a:srgbClr val="002060"/>
                </a:solidFill>
                <a:latin typeface="Roboto" panose="02000000000000000000" pitchFamily="2" charset="0"/>
                <a:ea typeface="Roboto" panose="02000000000000000000" pitchFamily="2" charset="0"/>
                <a:cs typeface="Roboto" panose="02000000000000000000" pitchFamily="2" charset="0"/>
              </a:rPr>
              <a:t>Underweigh</a:t>
            </a: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t | Large-Cap: </a:t>
            </a:r>
            <a:r>
              <a:rPr lang="en-IN" sz="1100" b="1" kern="0" dirty="0">
                <a:solidFill>
                  <a:srgbClr val="002060"/>
                </a:solidFill>
                <a:latin typeface="Roboto" panose="02000000000000000000" pitchFamily="2" charset="0"/>
                <a:ea typeface="Roboto" panose="02000000000000000000" pitchFamily="2" charset="0"/>
                <a:cs typeface="Roboto" panose="02000000000000000000" pitchFamily="2" charset="0"/>
              </a:rPr>
              <a:t>Neutral</a:t>
            </a:r>
          </a:p>
          <a:p>
            <a:pPr lvl="0">
              <a:spcBef>
                <a:spcPts val="300"/>
              </a:spcBef>
              <a:spcAft>
                <a:spcPts val="300"/>
              </a:spcAft>
              <a:defRPr/>
            </a:pP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          Growth: </a:t>
            </a:r>
            <a:r>
              <a:rPr lang="en-IN" sz="1100" b="1" kern="0" dirty="0">
                <a:solidFill>
                  <a:srgbClr val="002060"/>
                </a:solidFill>
                <a:latin typeface="Roboto" panose="02000000000000000000" pitchFamily="2" charset="0"/>
                <a:ea typeface="Roboto" panose="02000000000000000000" pitchFamily="2" charset="0"/>
                <a:cs typeface="Roboto" panose="02000000000000000000" pitchFamily="2" charset="0"/>
              </a:rPr>
              <a:t>Overweight</a:t>
            </a: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 | Value: </a:t>
            </a:r>
            <a:r>
              <a:rPr lang="en-IN" sz="1100" b="1" kern="0" dirty="0">
                <a:solidFill>
                  <a:srgbClr val="002060"/>
                </a:solidFill>
                <a:latin typeface="Roboto" panose="02000000000000000000" pitchFamily="2" charset="0"/>
                <a:ea typeface="Roboto" panose="02000000000000000000" pitchFamily="2" charset="0"/>
                <a:cs typeface="Roboto" panose="02000000000000000000" pitchFamily="2" charset="0"/>
              </a:rPr>
              <a:t>Underweight</a:t>
            </a:r>
          </a:p>
          <a:p>
            <a:pPr lvl="0">
              <a:spcBef>
                <a:spcPts val="300"/>
              </a:spcBef>
              <a:spcAft>
                <a:spcPts val="300"/>
              </a:spcAft>
              <a:defRPr/>
            </a:pPr>
            <a:endParaRPr lang="en-IN" sz="1100" b="1" kern="0" dirty="0">
              <a:solidFill>
                <a:srgbClr val="002060"/>
              </a:solidFill>
              <a:latin typeface="Roboto" panose="02000000000000000000" pitchFamily="2" charset="0"/>
              <a:ea typeface="Roboto" panose="02000000000000000000" pitchFamily="2" charset="0"/>
              <a:cs typeface="Roboto" panose="02000000000000000000" pitchFamily="2" charset="0"/>
            </a:endParaRPr>
          </a:p>
          <a:p>
            <a:pPr marL="171450" lvl="0" indent="-171450" algn="just">
              <a:spcBef>
                <a:spcPts val="300"/>
              </a:spcBef>
              <a:spcAft>
                <a:spcPts val="300"/>
              </a:spcAft>
              <a:buFont typeface="Wingdings" panose="05000000000000000000" pitchFamily="2" charset="2"/>
              <a:buChar char="§"/>
              <a:defRPr/>
            </a:pPr>
            <a:r>
              <a:rPr lang="en-US" sz="1100" kern="0" dirty="0">
                <a:solidFill>
                  <a:srgbClr val="002060"/>
                </a:solidFill>
                <a:latin typeface="Roboto" panose="02000000000000000000" pitchFamily="2" charset="0"/>
                <a:ea typeface="Roboto" panose="02000000000000000000" pitchFamily="2" charset="0"/>
                <a:cs typeface="Roboto" panose="02000000000000000000" pitchFamily="2" charset="0"/>
              </a:rPr>
              <a:t>Based on our current stance, we recommend maintaining</a:t>
            </a: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 the current asset allocation.</a:t>
            </a:r>
          </a:p>
          <a:p>
            <a:pPr lvl="0" algn="just">
              <a:spcBef>
                <a:spcPts val="300"/>
              </a:spcBef>
              <a:spcAft>
                <a:spcPts val="300"/>
              </a:spcAft>
              <a:defRPr/>
            </a:pPr>
            <a:endPar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endParaRPr>
          </a:p>
          <a:p>
            <a:pPr marL="171450" lvl="0" indent="-171450" algn="just">
              <a:spcBef>
                <a:spcPts val="300"/>
              </a:spcBef>
              <a:spcAft>
                <a:spcPts val="300"/>
              </a:spcAft>
              <a:buFont typeface="Wingdings" panose="05000000000000000000" pitchFamily="2" charset="2"/>
              <a:buChar char="§"/>
              <a:defRPr/>
            </a:pPr>
            <a:r>
              <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rPr>
              <a:t>As and when we change our stance to overweight, we would tactically take up our equity exposure. </a:t>
            </a:r>
          </a:p>
          <a:p>
            <a:pPr lvl="0" algn="just">
              <a:spcBef>
                <a:spcPts val="300"/>
              </a:spcBef>
              <a:spcAft>
                <a:spcPts val="300"/>
              </a:spcAft>
              <a:defRPr/>
            </a:pPr>
            <a:endParaRPr lang="en-IN" sz="1100" kern="0" dirty="0">
              <a:solidFill>
                <a:srgbClr val="002060"/>
              </a:solidFill>
              <a:latin typeface="Roboto" panose="02000000000000000000" pitchFamily="2" charset="0"/>
              <a:ea typeface="Roboto" panose="02000000000000000000" pitchFamily="2" charset="0"/>
              <a:cs typeface="Roboto" panose="02000000000000000000" pitchFamily="2" charset="0"/>
            </a:endParaRPr>
          </a:p>
          <a:p>
            <a:pPr marL="342900" marR="0" lvl="0" indent="-342900" algn="just">
              <a:spcBef>
                <a:spcPts val="0"/>
              </a:spcBef>
              <a:spcAft>
                <a:spcPts val="0"/>
              </a:spcAft>
              <a:buFont typeface="+mj-lt"/>
              <a:buAutoNum type="arabicPeriod"/>
              <a:tabLst>
                <a:tab pos="457200" algn="l"/>
              </a:tabLst>
            </a:pPr>
            <a:endParaRPr lang="en-US" sz="1100" kern="0" dirty="0">
              <a:solidFill>
                <a:srgbClr val="002060"/>
              </a:solidFill>
              <a:latin typeface="Roboto" panose="02000000000000000000" pitchFamily="2" charset="0"/>
              <a:ea typeface="Roboto" panose="02000000000000000000" pitchFamily="2" charset="0"/>
              <a:cs typeface="Roboto" panose="02000000000000000000" pitchFamily="2" charset="0"/>
            </a:endParaRPr>
          </a:p>
        </p:txBody>
      </p:sp>
      <p:pic>
        <p:nvPicPr>
          <p:cNvPr id="3" name="Picture 22">
            <a:extLst>
              <a:ext uri="{FF2B5EF4-FFF2-40B4-BE49-F238E27FC236}">
                <a16:creationId xmlns:a16="http://schemas.microsoft.com/office/drawing/2014/main" id="{666C103B-1B91-D59F-29FA-7D945F31A549}"/>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6430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9BCBF-DE75-48BB-BA72-8454C98B5EC8}"/>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148B1A41-8A13-4EF2-CA64-C1E050F6CFE5}"/>
              </a:ext>
            </a:extLst>
          </p:cNvPr>
          <p:cNvCxnSpPr>
            <a:cxnSpLocks/>
          </p:cNvCxnSpPr>
          <p:nvPr/>
        </p:nvCxnSpPr>
        <p:spPr>
          <a:xfrm>
            <a:off x="5638" y="758774"/>
            <a:ext cx="9653192"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pic>
        <p:nvPicPr>
          <p:cNvPr id="85" name="Picture 84">
            <a:extLst>
              <a:ext uri="{FF2B5EF4-FFF2-40B4-BE49-F238E27FC236}">
                <a16:creationId xmlns:a16="http://schemas.microsoft.com/office/drawing/2014/main" id="{6B70241A-B746-5AA0-B1BE-AF3BEB4E56F6}"/>
              </a:ext>
            </a:extLst>
          </p:cNvPr>
          <p:cNvPicPr>
            <a:picLocks noChangeAspect="1"/>
          </p:cNvPicPr>
          <p:nvPr/>
        </p:nvPicPr>
        <p:blipFill>
          <a:blip r:embed="rId2"/>
          <a:stretch>
            <a:fillRect/>
          </a:stretch>
        </p:blipFill>
        <p:spPr>
          <a:xfrm>
            <a:off x="5616139" y="1191370"/>
            <a:ext cx="545872" cy="545872"/>
          </a:xfrm>
          <a:prstGeom prst="rect">
            <a:avLst/>
          </a:prstGeom>
        </p:spPr>
      </p:pic>
      <p:sp>
        <p:nvSpPr>
          <p:cNvPr id="6" name="TextBox 5">
            <a:extLst>
              <a:ext uri="{FF2B5EF4-FFF2-40B4-BE49-F238E27FC236}">
                <a16:creationId xmlns:a16="http://schemas.microsoft.com/office/drawing/2014/main" id="{E1D204C1-5303-0567-1EF3-2C209398EAE7}"/>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aphicFrame>
        <p:nvGraphicFramePr>
          <p:cNvPr id="5" name="Table 4">
            <a:extLst>
              <a:ext uri="{FF2B5EF4-FFF2-40B4-BE49-F238E27FC236}">
                <a16:creationId xmlns:a16="http://schemas.microsoft.com/office/drawing/2014/main" id="{8C3A59EA-FF30-DA20-B19B-2FBB8BF111DA}"/>
              </a:ext>
            </a:extLst>
          </p:cNvPr>
          <p:cNvGraphicFramePr>
            <a:graphicFrameLocks noGrp="1"/>
          </p:cNvGraphicFramePr>
          <p:nvPr>
            <p:extLst>
              <p:ext uri="{D42A27DB-BD31-4B8C-83A1-F6EECF244321}">
                <p14:modId xmlns:p14="http://schemas.microsoft.com/office/powerpoint/2010/main" val="55382353"/>
              </p:ext>
            </p:extLst>
          </p:nvPr>
        </p:nvGraphicFramePr>
        <p:xfrm>
          <a:off x="1573618" y="1679944"/>
          <a:ext cx="8941981" cy="2749408"/>
        </p:xfrm>
        <a:graphic>
          <a:graphicData uri="http://schemas.openxmlformats.org/drawingml/2006/table">
            <a:tbl>
              <a:tblPr>
                <a:tableStyleId>{2D5ABB26-0587-4C30-8999-92F81FD0307C}</a:tableStyleId>
              </a:tblPr>
              <a:tblGrid>
                <a:gridCol w="3480911">
                  <a:extLst>
                    <a:ext uri="{9D8B030D-6E8A-4147-A177-3AD203B41FA5}">
                      <a16:colId xmlns:a16="http://schemas.microsoft.com/office/drawing/2014/main" val="3686579454"/>
                    </a:ext>
                  </a:extLst>
                </a:gridCol>
                <a:gridCol w="1709190">
                  <a:extLst>
                    <a:ext uri="{9D8B030D-6E8A-4147-A177-3AD203B41FA5}">
                      <a16:colId xmlns:a16="http://schemas.microsoft.com/office/drawing/2014/main" val="3275918442"/>
                    </a:ext>
                  </a:extLst>
                </a:gridCol>
                <a:gridCol w="1292314">
                  <a:extLst>
                    <a:ext uri="{9D8B030D-6E8A-4147-A177-3AD203B41FA5}">
                      <a16:colId xmlns:a16="http://schemas.microsoft.com/office/drawing/2014/main" val="2005457953"/>
                    </a:ext>
                  </a:extLst>
                </a:gridCol>
                <a:gridCol w="1292314">
                  <a:extLst>
                    <a:ext uri="{9D8B030D-6E8A-4147-A177-3AD203B41FA5}">
                      <a16:colId xmlns:a16="http://schemas.microsoft.com/office/drawing/2014/main" val="1293508272"/>
                    </a:ext>
                  </a:extLst>
                </a:gridCol>
                <a:gridCol w="1167252">
                  <a:extLst>
                    <a:ext uri="{9D8B030D-6E8A-4147-A177-3AD203B41FA5}">
                      <a16:colId xmlns:a16="http://schemas.microsoft.com/office/drawing/2014/main" val="1956598856"/>
                    </a:ext>
                  </a:extLst>
                </a:gridCol>
              </a:tblGrid>
              <a:tr h="354001">
                <a:tc>
                  <a:txBody>
                    <a:bodyPr/>
                    <a:lstStyle/>
                    <a:p>
                      <a:pPr marL="0" algn="ctr" defTabSz="914400" rtl="0" eaLnBrk="1" fontAlgn="ctr" latinLnBrk="0" hangingPunct="1"/>
                      <a:r>
                        <a:rPr lang="en-IN" sz="1000" b="1" u="none" strike="noStrike" kern="1200" dirty="0">
                          <a:solidFill>
                            <a:srgbClr val="FFFFFF"/>
                          </a:solidFill>
                          <a:effectLst/>
                          <a:latin typeface="Roboto" panose="02000000000000000000" pitchFamily="2" charset="0"/>
                          <a:ea typeface="Roboto" panose="02000000000000000000" pitchFamily="2" charset="0"/>
                          <a:cs typeface="Roboto" panose="02000000000000000000" pitchFamily="2" charset="0"/>
                        </a:rPr>
                        <a:t>As on 31st Mar'25</a:t>
                      </a:r>
                      <a:endParaRPr lang="en-IN" sz="1000" b="1" i="0" u="none" strike="noStrike" kern="1200"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algn="ctr" defTabSz="914400" rtl="0" eaLnBrk="1" fontAlgn="ctr" latinLnBrk="0" hangingPunct="1"/>
                      <a:r>
                        <a:rPr lang="en-IN" sz="1000" b="1" u="none" strike="noStrike" kern="1200" dirty="0">
                          <a:solidFill>
                            <a:srgbClr val="FFFFFF"/>
                          </a:solidFill>
                          <a:effectLst/>
                          <a:latin typeface="Roboto" panose="02000000000000000000" pitchFamily="2" charset="0"/>
                          <a:ea typeface="Roboto" panose="02000000000000000000" pitchFamily="2" charset="0"/>
                          <a:cs typeface="Roboto" panose="02000000000000000000" pitchFamily="2" charset="0"/>
                        </a:rPr>
                        <a:t>Portfolio Weights</a:t>
                      </a:r>
                      <a:endParaRPr lang="en-IN" sz="1000" b="1" i="0" u="none" strike="noStrike" kern="1200"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gridSpan="3">
                  <a:txBody>
                    <a:bodyPr/>
                    <a:lstStyle/>
                    <a:p>
                      <a:pPr marL="0" algn="ctr" defTabSz="914400" rtl="0" eaLnBrk="1" fontAlgn="ctr" latinLnBrk="0" hangingPunct="1"/>
                      <a:r>
                        <a:rPr lang="en-IN" sz="1000" b="1" u="none" strike="noStrike" kern="1200" dirty="0">
                          <a:solidFill>
                            <a:srgbClr val="FFFFFF"/>
                          </a:solidFill>
                          <a:effectLst/>
                          <a:latin typeface="Roboto" panose="02000000000000000000" pitchFamily="2" charset="0"/>
                          <a:ea typeface="Roboto" panose="02000000000000000000" pitchFamily="2" charset="0"/>
                          <a:cs typeface="Roboto" panose="02000000000000000000" pitchFamily="2" charset="0"/>
                        </a:rPr>
                        <a:t> Returns From Jan’21 to Mar'25</a:t>
                      </a:r>
                      <a:endParaRPr lang="en-IN" sz="1000" b="1" i="0" u="none" strike="noStrike" kern="1200"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684855803"/>
                  </a:ext>
                </a:extLst>
              </a:tr>
              <a:tr h="342201">
                <a:tc>
                  <a:txBody>
                    <a:bodyPr/>
                    <a:lstStyle/>
                    <a:p>
                      <a:pPr algn="ctr" rtl="0" fontAlgn="ctr"/>
                      <a:r>
                        <a:rPr lang="en-IN"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Asset Class</a:t>
                      </a:r>
                      <a:endPar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 on Mar'2025</a:t>
                      </a:r>
                      <a:endPar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Portfolio</a:t>
                      </a:r>
                      <a:endPar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a:t>
                      </a:r>
                      <a:endPar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Alpha</a:t>
                      </a:r>
                      <a:endPar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2208338"/>
                  </a:ext>
                </a:extLst>
              </a:tr>
              <a:tr h="342201">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64.41%</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18.44%</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17.61%</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0.83%</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2921"/>
                  </a:ext>
                </a:extLst>
              </a:tr>
              <a:tr h="342201">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9.58%</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7.24%</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6.48%</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0.76%</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5073606"/>
                  </a:ext>
                </a:extLst>
              </a:tr>
              <a:tr h="342201">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Hybrid</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17.38%</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10.58%</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8.65%</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1.93%</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0862866"/>
                  </a:ext>
                </a:extLst>
              </a:tr>
              <a:tr h="342201">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Alternative (Global/PE/VC/Gold…)</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2.74%</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13.81%</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15.20%</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-1.39%</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19654"/>
                  </a:ext>
                </a:extLst>
              </a:tr>
              <a:tr h="342201">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Liquid Equivalent</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t>5.90%</a:t>
                      </a: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5.32%</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5.32%</a:t>
                      </a:r>
                      <a:endPar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0.00%</a:t>
                      </a:r>
                      <a:endPar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706577"/>
                  </a:ext>
                </a:extLst>
              </a:tr>
              <a:tr h="342201">
                <a:tc>
                  <a:txBody>
                    <a:bodyPr/>
                    <a:lstStyle/>
                    <a:p>
                      <a:pPr algn="ctr" rtl="0" fontAlgn="ctr"/>
                      <a:r>
                        <a:rPr lang="en-IN"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Total</a:t>
                      </a:r>
                      <a:endPar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IN"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100% </a:t>
                      </a:r>
                      <a:endPar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IN"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11.5%</a:t>
                      </a:r>
                      <a:endPar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IN"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10.2%</a:t>
                      </a:r>
                      <a:endPar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IN"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1.3%</a:t>
                      </a:r>
                      <a:endPar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943464739"/>
                  </a:ext>
                </a:extLst>
              </a:tr>
            </a:tbl>
          </a:graphicData>
        </a:graphic>
      </p:graphicFrame>
      <p:sp>
        <p:nvSpPr>
          <p:cNvPr id="7" name="TextBox 6">
            <a:extLst>
              <a:ext uri="{FF2B5EF4-FFF2-40B4-BE49-F238E27FC236}">
                <a16:creationId xmlns:a16="http://schemas.microsoft.com/office/drawing/2014/main" id="{6714C587-542D-49B0-9520-97FEBB2FC490}"/>
              </a:ext>
            </a:extLst>
          </p:cNvPr>
          <p:cNvSpPr txBox="1"/>
          <p:nvPr/>
        </p:nvSpPr>
        <p:spPr>
          <a:xfrm>
            <a:off x="5843187" y="6515775"/>
            <a:ext cx="6235400" cy="256545"/>
          </a:xfrm>
          <a:prstGeom prst="rect">
            <a:avLst/>
          </a:prstGeom>
          <a:noFill/>
        </p:spPr>
        <p:txBody>
          <a:bodyPr wrap="square" rtlCol="0">
            <a:spAutoFit/>
          </a:bodyPr>
          <a:lstStyle/>
          <a:p>
            <a:r>
              <a:rPr lang="en-US" sz="1067" dirty="0">
                <a:latin typeface="Aptos" panose="020B0004020202020204" pitchFamily="34" charset="0"/>
                <a:cs typeface="Calibri" panose="020F0502020204030204" pitchFamily="34" charset="0"/>
              </a:rPr>
              <a:t>Benchmark- Equity  Nifty 500 TRI  | Debt: Crisil Short Term Bond Index | Hybrid :  BAF Category Average </a:t>
            </a:r>
          </a:p>
        </p:txBody>
      </p:sp>
      <p:pic>
        <p:nvPicPr>
          <p:cNvPr id="2" name="Picture 22">
            <a:extLst>
              <a:ext uri="{FF2B5EF4-FFF2-40B4-BE49-F238E27FC236}">
                <a16:creationId xmlns:a16="http://schemas.microsoft.com/office/drawing/2014/main" id="{452483B9-3DF7-E683-0994-72EBC6F6746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
        <p:nvSpPr>
          <p:cNvPr id="8" name="TextBox 7">
            <a:extLst>
              <a:ext uri="{FF2B5EF4-FFF2-40B4-BE49-F238E27FC236}">
                <a16:creationId xmlns:a16="http://schemas.microsoft.com/office/drawing/2014/main" id="{2444C37D-56EE-5758-AB97-CA43B500070B}"/>
              </a:ext>
            </a:extLst>
          </p:cNvPr>
          <p:cNvSpPr txBox="1"/>
          <p:nvPr/>
        </p:nvSpPr>
        <p:spPr>
          <a:xfrm>
            <a:off x="92710" y="249773"/>
            <a:ext cx="9805890" cy="461665"/>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Portfolio Performance Since Inception (Jan’21)  with Client Associates</a:t>
            </a:r>
          </a:p>
        </p:txBody>
      </p:sp>
    </p:spTree>
    <p:extLst>
      <p:ext uri="{BB962C8B-B14F-4D97-AF65-F5344CB8AC3E}">
        <p14:creationId xmlns:p14="http://schemas.microsoft.com/office/powerpoint/2010/main" val="3775978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cNvSpPr>
            <a:spLocks noGrp="1"/>
          </p:cNvSpPr>
          <p:nvPr/>
        </p:nvSpPr>
        <p:spPr>
          <a:xfrm>
            <a:off x="329701" y="2832811"/>
            <a:ext cx="11755200" cy="420560"/>
          </a:xfrm>
          <a:prstGeom prst="rect">
            <a:avLst/>
          </a:prstGeom>
          <a:ln>
            <a:solidFill>
              <a:schemeClr val="bg1"/>
            </a:solidFill>
          </a:ln>
        </p:spPr>
        <p:txBody>
          <a:bodyPr wrap="square" lIns="0" tIns="0" rIns="0" bIns="0" rtlCol="0" anchor="t"/>
          <a:lstStyle/>
          <a:p>
            <a:pPr algn="ctr">
              <a:defRPr sz="1200" b="1">
                <a:solidFill>
                  <a:srgbClr val="1F497D"/>
                </a:solidFill>
                <a:latin typeface="SansSerif"/>
                <a:ea typeface="SansSerif"/>
                <a:cs typeface="SansSerif"/>
              </a:defRPr>
            </a:pPr>
            <a:r>
              <a:rPr lang="en-US" sz="2670" b="1" dirty="0">
                <a:solidFill>
                  <a:srgbClr val="1F497D"/>
                </a:solidFill>
                <a:latin typeface="Roboto" panose="02000000000000000000" pitchFamily="2" charset="0"/>
                <a:ea typeface="Roboto" panose="02000000000000000000" pitchFamily="2" charset="0"/>
                <a:cs typeface="Roboto" panose="02000000000000000000" pitchFamily="2" charset="0"/>
              </a:rPr>
              <a:t>Portfolio Absolute Gains Net of Cash Flow Movements </a:t>
            </a:r>
            <a:endParaRPr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6" name="Line"/>
          <p:cNvSpPr>
            <a:spLocks noGrp="1"/>
          </p:cNvSpPr>
          <p:nvPr/>
        </p:nvSpPr>
        <p:spPr>
          <a:xfrm>
            <a:off x="318267" y="3279233"/>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pic>
        <p:nvPicPr>
          <p:cNvPr id="2" name="Picture 22">
            <a:extLst>
              <a:ext uri="{FF2B5EF4-FFF2-40B4-BE49-F238E27FC236}">
                <a16:creationId xmlns:a16="http://schemas.microsoft.com/office/drawing/2014/main" id="{4588E714-5DB7-4C38-F5F5-837B6649E39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4063322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14043-81CF-076A-80F9-EB7218BA32C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AC42CE9-F30D-8322-BE07-7872AE181EC3}"/>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25356153-A274-47AE-BA12-488BA7902272}"/>
              </a:ext>
            </a:extLst>
          </p:cNvPr>
          <p:cNvGrpSpPr/>
          <p:nvPr/>
        </p:nvGrpSpPr>
        <p:grpSpPr>
          <a:xfrm>
            <a:off x="5639" y="249773"/>
            <a:ext cx="6784073" cy="509001"/>
            <a:chOff x="7048" y="374718"/>
            <a:chExt cx="10177679" cy="763619"/>
          </a:xfrm>
        </p:grpSpPr>
        <p:sp>
          <p:nvSpPr>
            <p:cNvPr id="9" name="TextBox 8">
              <a:extLst>
                <a:ext uri="{FF2B5EF4-FFF2-40B4-BE49-F238E27FC236}">
                  <a16:creationId xmlns:a16="http://schemas.microsoft.com/office/drawing/2014/main" id="{13933595-F7AD-4C31-401D-C51E9BC1C160}"/>
                </a:ext>
              </a:extLst>
            </p:cNvPr>
            <p:cNvSpPr txBox="1"/>
            <p:nvPr/>
          </p:nvSpPr>
          <p:spPr>
            <a:xfrm>
              <a:off x="408427" y="374718"/>
              <a:ext cx="9776300"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Quarterly Balance Sheet Movement – </a:t>
              </a:r>
              <a:r>
                <a:rPr lang="en-US" sz="2400" dirty="0" err="1">
                  <a:solidFill>
                    <a:srgbClr val="084795"/>
                  </a:solidFill>
                  <a:latin typeface="Roboto" panose="02000000000000000000" pitchFamily="2" charset="0"/>
                  <a:ea typeface="Roboto" panose="02000000000000000000" pitchFamily="2" charset="0"/>
                </a:rPr>
                <a:t>Qx’FYXX</a:t>
              </a:r>
              <a:endParaRPr lang="en-US" sz="2400" dirty="0">
                <a:solidFill>
                  <a:srgbClr val="084795"/>
                </a:solidFill>
                <a:latin typeface="Roboto" panose="02000000000000000000" pitchFamily="2" charset="0"/>
                <a:ea typeface="Roboto" panose="02000000000000000000" pitchFamily="2" charset="0"/>
              </a:endParaRPr>
            </a:p>
          </p:txBody>
        </p:sp>
        <p:cxnSp>
          <p:nvCxnSpPr>
            <p:cNvPr id="11" name="Straight Connector 10">
              <a:extLst>
                <a:ext uri="{FF2B5EF4-FFF2-40B4-BE49-F238E27FC236}">
                  <a16:creationId xmlns:a16="http://schemas.microsoft.com/office/drawing/2014/main" id="{3CEA30A0-0F9C-7739-E501-4C174AEC7293}"/>
                </a:ext>
              </a:extLst>
            </p:cNvPr>
            <p:cNvCxnSpPr>
              <a:cxnSpLocks/>
            </p:cNvCxnSpPr>
            <p:nvPr/>
          </p:nvCxnSpPr>
          <p:spPr>
            <a:xfrm>
              <a:off x="7048" y="1138337"/>
              <a:ext cx="9928528"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1ABF24EA-48BF-F337-1A2E-D07CE0076E37}"/>
              </a:ext>
            </a:extLst>
          </p:cNvPr>
          <p:cNvGraphicFramePr>
            <a:graphicFrameLocks noGrp="1"/>
          </p:cNvGraphicFramePr>
          <p:nvPr>
            <p:extLst>
              <p:ext uri="{D42A27DB-BD31-4B8C-83A1-F6EECF244321}">
                <p14:modId xmlns:p14="http://schemas.microsoft.com/office/powerpoint/2010/main" val="3983957214"/>
              </p:ext>
            </p:extLst>
          </p:nvPr>
        </p:nvGraphicFramePr>
        <p:xfrm>
          <a:off x="522513" y="1001429"/>
          <a:ext cx="11122781" cy="4942171"/>
        </p:xfrm>
        <a:graphic>
          <a:graphicData uri="http://schemas.openxmlformats.org/drawingml/2006/table">
            <a:tbl>
              <a:tblPr>
                <a:tableStyleId>{2D5ABB26-0587-4C30-8999-92F81FD0307C}</a:tableStyleId>
              </a:tblPr>
              <a:tblGrid>
                <a:gridCol w="1342404">
                  <a:extLst>
                    <a:ext uri="{9D8B030D-6E8A-4147-A177-3AD203B41FA5}">
                      <a16:colId xmlns:a16="http://schemas.microsoft.com/office/drawing/2014/main" val="2399970507"/>
                    </a:ext>
                  </a:extLst>
                </a:gridCol>
                <a:gridCol w="1438290">
                  <a:extLst>
                    <a:ext uri="{9D8B030D-6E8A-4147-A177-3AD203B41FA5}">
                      <a16:colId xmlns:a16="http://schemas.microsoft.com/office/drawing/2014/main" val="2879148747"/>
                    </a:ext>
                  </a:extLst>
                </a:gridCol>
                <a:gridCol w="1054747">
                  <a:extLst>
                    <a:ext uri="{9D8B030D-6E8A-4147-A177-3AD203B41FA5}">
                      <a16:colId xmlns:a16="http://schemas.microsoft.com/office/drawing/2014/main" val="1263031134"/>
                    </a:ext>
                  </a:extLst>
                </a:gridCol>
                <a:gridCol w="1150633">
                  <a:extLst>
                    <a:ext uri="{9D8B030D-6E8A-4147-A177-3AD203B41FA5}">
                      <a16:colId xmlns:a16="http://schemas.microsoft.com/office/drawing/2014/main" val="2865015362"/>
                    </a:ext>
                  </a:extLst>
                </a:gridCol>
                <a:gridCol w="862974">
                  <a:extLst>
                    <a:ext uri="{9D8B030D-6E8A-4147-A177-3AD203B41FA5}">
                      <a16:colId xmlns:a16="http://schemas.microsoft.com/office/drawing/2014/main" val="3320392992"/>
                    </a:ext>
                  </a:extLst>
                </a:gridCol>
                <a:gridCol w="1150633">
                  <a:extLst>
                    <a:ext uri="{9D8B030D-6E8A-4147-A177-3AD203B41FA5}">
                      <a16:colId xmlns:a16="http://schemas.microsoft.com/office/drawing/2014/main" val="4076975432"/>
                    </a:ext>
                  </a:extLst>
                </a:gridCol>
                <a:gridCol w="767088">
                  <a:extLst>
                    <a:ext uri="{9D8B030D-6E8A-4147-A177-3AD203B41FA5}">
                      <a16:colId xmlns:a16="http://schemas.microsoft.com/office/drawing/2014/main" val="3891642239"/>
                    </a:ext>
                  </a:extLst>
                </a:gridCol>
                <a:gridCol w="958861">
                  <a:extLst>
                    <a:ext uri="{9D8B030D-6E8A-4147-A177-3AD203B41FA5}">
                      <a16:colId xmlns:a16="http://schemas.microsoft.com/office/drawing/2014/main" val="1956090186"/>
                    </a:ext>
                  </a:extLst>
                </a:gridCol>
                <a:gridCol w="1054747">
                  <a:extLst>
                    <a:ext uri="{9D8B030D-6E8A-4147-A177-3AD203B41FA5}">
                      <a16:colId xmlns:a16="http://schemas.microsoft.com/office/drawing/2014/main" val="394663198"/>
                    </a:ext>
                  </a:extLst>
                </a:gridCol>
                <a:gridCol w="1342404">
                  <a:extLst>
                    <a:ext uri="{9D8B030D-6E8A-4147-A177-3AD203B41FA5}">
                      <a16:colId xmlns:a16="http://schemas.microsoft.com/office/drawing/2014/main" val="2503684539"/>
                    </a:ext>
                  </a:extLst>
                </a:gridCol>
              </a:tblGrid>
              <a:tr h="362741">
                <a:tc gridSpan="10">
                  <a:txBody>
                    <a:bodyPr/>
                    <a:lstStyle/>
                    <a:p>
                      <a:pPr algn="ctr"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QUARTERLY FAMILY ESTATE MOVEMENT </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82673727"/>
                  </a:ext>
                </a:extLst>
              </a:tr>
              <a:tr h="405309">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Asset Class</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Asset Vehicle</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Mar-YY (In Cr.)</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June-YY (In Cr.)</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Growth</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Cash Inflow (-)</a:t>
                      </a:r>
                    </a:p>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Cash Outflow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Net Gain</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Absolute Gain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a:t>
                      </a:r>
                      <a:b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b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Gain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9914099"/>
                  </a:ext>
                </a:extLst>
              </a:tr>
              <a:tr h="362741">
                <a:tc rowSpan="3">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BSE 500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6690700"/>
                  </a:ext>
                </a:extLst>
              </a:tr>
              <a:tr h="362741">
                <a:tc vMerge="1">
                  <a:txBody>
                    <a:bodyPr/>
                    <a:lstStyle/>
                    <a:p>
                      <a:endParaRPr lang="en-US"/>
                    </a:p>
                  </a:txBody>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PMS</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7510242"/>
                  </a:ext>
                </a:extLst>
              </a:tr>
              <a:tr h="362741">
                <a:tc vMerge="1">
                  <a:txBody>
                    <a:bodyPr/>
                    <a:lstStyle/>
                    <a:p>
                      <a:endParaRPr lang="en-US"/>
                    </a:p>
                  </a:txBody>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AIF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BSE 500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9009612"/>
                  </a:ext>
                </a:extLst>
              </a:tr>
              <a:tr h="362741">
                <a:tc rowSpan="2">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ST Bond Index</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1576662"/>
                  </a:ext>
                </a:extLst>
              </a:tr>
              <a:tr h="400209">
                <a:tc vMerge="1">
                  <a:txBody>
                    <a:bodyPr/>
                    <a:lstStyle/>
                    <a:p>
                      <a:endParaRPr lang="en-US"/>
                    </a:p>
                  </a:txBody>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Structured Debt</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CRISIL ST Bond Index</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24314070"/>
                  </a:ext>
                </a:extLst>
              </a:tr>
              <a:tr h="509243">
                <a:tc>
                  <a:txBody>
                    <a:bodyPr/>
                    <a:lstStyle/>
                    <a:p>
                      <a:pPr algn="ctr"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Hybrid</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Hybrid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 Blended Index</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7477431"/>
                  </a:ext>
                </a:extLst>
              </a:tr>
              <a:tr h="362741">
                <a:tc rowSpan="2">
                  <a:txBody>
                    <a:bodyPr/>
                    <a:lstStyle/>
                    <a:p>
                      <a:pPr algn="ctr"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Alternative</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Alternate Funds</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48129054"/>
                  </a:ext>
                </a:extLst>
              </a:tr>
              <a:tr h="362741">
                <a:tc vMerge="1">
                  <a:txBody>
                    <a:bodyPr/>
                    <a:lstStyle/>
                    <a:p>
                      <a:endParaRPr lang="en-US"/>
                    </a:p>
                  </a:txBody>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Gold</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7181657"/>
                  </a:ext>
                </a:extLst>
              </a:tr>
              <a:tr h="362741">
                <a:tc rowSpan="2">
                  <a:txBody>
                    <a:bodyPr/>
                    <a:lstStyle/>
                    <a:p>
                      <a:pPr algn="ctr"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Liquid</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Liquid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962759"/>
                  </a:ext>
                </a:extLst>
              </a:tr>
              <a:tr h="362741">
                <a:tc vMerge="1">
                  <a:txBody>
                    <a:bodyPr/>
                    <a:lstStyle/>
                    <a:p>
                      <a:endParaRPr lang="en-US"/>
                    </a:p>
                  </a:txBody>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Liquid PMS</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6951412"/>
                  </a:ext>
                </a:extLst>
              </a:tr>
              <a:tr h="362741">
                <a:tc gridSpan="2">
                  <a:txBody>
                    <a:bodyPr/>
                    <a:lstStyle/>
                    <a:p>
                      <a:pPr marL="0" algn="ctr" defTabSz="914400" rtl="0" eaLnBrk="1" fontAlgn="ctr" latinLnBrk="1" hangingPunct="1"/>
                      <a:r>
                        <a:rPr lang="en-US" sz="1000" b="1"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Total</a:t>
                      </a: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fontAlgn="ctr"/>
                      <a:endParaRPr lang="en-US" sz="900" b="1"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6810252"/>
                  </a:ext>
                </a:extLst>
              </a:tr>
            </a:tbl>
          </a:graphicData>
        </a:graphic>
      </p:graphicFrame>
      <p:sp>
        <p:nvSpPr>
          <p:cNvPr id="4" name="Rectangle 3">
            <a:extLst>
              <a:ext uri="{FF2B5EF4-FFF2-40B4-BE49-F238E27FC236}">
                <a16:creationId xmlns:a16="http://schemas.microsoft.com/office/drawing/2014/main" id="{282DF045-665C-F1B9-9B34-12096E64BEB0}"/>
              </a:ext>
            </a:extLst>
          </p:cNvPr>
          <p:cNvSpPr/>
          <p:nvPr/>
        </p:nvSpPr>
        <p:spPr>
          <a:xfrm>
            <a:off x="2542971" y="6135012"/>
            <a:ext cx="7538195" cy="536697"/>
          </a:xfrm>
          <a:prstGeom prst="rect">
            <a:avLst/>
          </a:prstGeom>
          <a:solidFill>
            <a:srgbClr val="FFFFFF"/>
          </a:solidFill>
          <a:ln w="25400" cap="flat" cmpd="sng" algn="ctr">
            <a:solidFill>
              <a:schemeClr val="bg2">
                <a:lumMod val="90000"/>
              </a:schemeClr>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rPr>
              <a:t>In the last quarter Q4’FY25, the portfolio’s mark to market loss was INR -6.67 cr. | During the same period the net cash inflow in the portfolio was INR 3.8 cr. translating to a net portfolio growth of INR -2.88 cr. in the portfolio for the quarter.</a:t>
            </a:r>
          </a:p>
        </p:txBody>
      </p:sp>
      <p:pic>
        <p:nvPicPr>
          <p:cNvPr id="2" name="Picture 22">
            <a:extLst>
              <a:ext uri="{FF2B5EF4-FFF2-40B4-BE49-F238E27FC236}">
                <a16:creationId xmlns:a16="http://schemas.microsoft.com/office/drawing/2014/main" id="{83E9CAFA-4BF0-B774-0D06-65C785B3A32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301380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CFB2A-6B18-49D6-F3A0-33F994485CC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1C8E5F2-2BC1-14FB-B6DE-51E890754E05}"/>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290A8A15-92E2-B24F-CE99-7C7B17862701}"/>
              </a:ext>
            </a:extLst>
          </p:cNvPr>
          <p:cNvGrpSpPr/>
          <p:nvPr/>
        </p:nvGrpSpPr>
        <p:grpSpPr>
          <a:xfrm>
            <a:off x="5638" y="249490"/>
            <a:ext cx="7326198" cy="509284"/>
            <a:chOff x="7048" y="374293"/>
            <a:chExt cx="10990991" cy="764044"/>
          </a:xfrm>
        </p:grpSpPr>
        <p:sp>
          <p:nvSpPr>
            <p:cNvPr id="9" name="TextBox 8">
              <a:extLst>
                <a:ext uri="{FF2B5EF4-FFF2-40B4-BE49-F238E27FC236}">
                  <a16:creationId xmlns:a16="http://schemas.microsoft.com/office/drawing/2014/main" id="{D99A90A9-E6F1-CDAF-C83A-E6B19E36673D}"/>
                </a:ext>
              </a:extLst>
            </p:cNvPr>
            <p:cNvSpPr txBox="1"/>
            <p:nvPr/>
          </p:nvSpPr>
          <p:spPr>
            <a:xfrm>
              <a:off x="319912" y="374293"/>
              <a:ext cx="10678127"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Annual Balance Sheet Movement – MM’YY- MM’YY</a:t>
              </a:r>
            </a:p>
          </p:txBody>
        </p:sp>
        <p:cxnSp>
          <p:nvCxnSpPr>
            <p:cNvPr id="11" name="Straight Connector 10">
              <a:extLst>
                <a:ext uri="{FF2B5EF4-FFF2-40B4-BE49-F238E27FC236}">
                  <a16:creationId xmlns:a16="http://schemas.microsoft.com/office/drawing/2014/main" id="{3D4D0CAE-BC8D-C7E0-84E6-BAEDD6637909}"/>
                </a:ext>
              </a:extLst>
            </p:cNvPr>
            <p:cNvCxnSpPr>
              <a:cxnSpLocks/>
            </p:cNvCxnSpPr>
            <p:nvPr/>
          </p:nvCxnSpPr>
          <p:spPr>
            <a:xfrm>
              <a:off x="7048" y="1138337"/>
              <a:ext cx="10770060"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2" name="Table 1">
            <a:extLst>
              <a:ext uri="{FF2B5EF4-FFF2-40B4-BE49-F238E27FC236}">
                <a16:creationId xmlns:a16="http://schemas.microsoft.com/office/drawing/2014/main" id="{8452BF39-B9A1-56B9-0233-239BE1C3EA30}"/>
              </a:ext>
            </a:extLst>
          </p:cNvPr>
          <p:cNvGraphicFramePr>
            <a:graphicFrameLocks noGrp="1"/>
          </p:cNvGraphicFramePr>
          <p:nvPr>
            <p:extLst>
              <p:ext uri="{D42A27DB-BD31-4B8C-83A1-F6EECF244321}">
                <p14:modId xmlns:p14="http://schemas.microsoft.com/office/powerpoint/2010/main" val="389233666"/>
              </p:ext>
            </p:extLst>
          </p:nvPr>
        </p:nvGraphicFramePr>
        <p:xfrm>
          <a:off x="522513" y="1070964"/>
          <a:ext cx="11103427" cy="4774665"/>
        </p:xfrm>
        <a:graphic>
          <a:graphicData uri="http://schemas.openxmlformats.org/drawingml/2006/table">
            <a:tbl>
              <a:tblPr>
                <a:tableStyleId>{2D5ABB26-0587-4C30-8999-92F81FD0307C}</a:tableStyleId>
              </a:tblPr>
              <a:tblGrid>
                <a:gridCol w="1340069">
                  <a:extLst>
                    <a:ext uri="{9D8B030D-6E8A-4147-A177-3AD203B41FA5}">
                      <a16:colId xmlns:a16="http://schemas.microsoft.com/office/drawing/2014/main" val="2399970507"/>
                    </a:ext>
                  </a:extLst>
                </a:gridCol>
                <a:gridCol w="1435788">
                  <a:extLst>
                    <a:ext uri="{9D8B030D-6E8A-4147-A177-3AD203B41FA5}">
                      <a16:colId xmlns:a16="http://schemas.microsoft.com/office/drawing/2014/main" val="2879148747"/>
                    </a:ext>
                  </a:extLst>
                </a:gridCol>
                <a:gridCol w="1052911">
                  <a:extLst>
                    <a:ext uri="{9D8B030D-6E8A-4147-A177-3AD203B41FA5}">
                      <a16:colId xmlns:a16="http://schemas.microsoft.com/office/drawing/2014/main" val="1263031134"/>
                    </a:ext>
                  </a:extLst>
                </a:gridCol>
                <a:gridCol w="1148630">
                  <a:extLst>
                    <a:ext uri="{9D8B030D-6E8A-4147-A177-3AD203B41FA5}">
                      <a16:colId xmlns:a16="http://schemas.microsoft.com/office/drawing/2014/main" val="2865015362"/>
                    </a:ext>
                  </a:extLst>
                </a:gridCol>
                <a:gridCol w="861473">
                  <a:extLst>
                    <a:ext uri="{9D8B030D-6E8A-4147-A177-3AD203B41FA5}">
                      <a16:colId xmlns:a16="http://schemas.microsoft.com/office/drawing/2014/main" val="3320392992"/>
                    </a:ext>
                  </a:extLst>
                </a:gridCol>
                <a:gridCol w="1148630">
                  <a:extLst>
                    <a:ext uri="{9D8B030D-6E8A-4147-A177-3AD203B41FA5}">
                      <a16:colId xmlns:a16="http://schemas.microsoft.com/office/drawing/2014/main" val="4076975432"/>
                    </a:ext>
                  </a:extLst>
                </a:gridCol>
                <a:gridCol w="765754">
                  <a:extLst>
                    <a:ext uri="{9D8B030D-6E8A-4147-A177-3AD203B41FA5}">
                      <a16:colId xmlns:a16="http://schemas.microsoft.com/office/drawing/2014/main" val="3891642239"/>
                    </a:ext>
                  </a:extLst>
                </a:gridCol>
                <a:gridCol w="957192">
                  <a:extLst>
                    <a:ext uri="{9D8B030D-6E8A-4147-A177-3AD203B41FA5}">
                      <a16:colId xmlns:a16="http://schemas.microsoft.com/office/drawing/2014/main" val="1956090186"/>
                    </a:ext>
                  </a:extLst>
                </a:gridCol>
                <a:gridCol w="1052911">
                  <a:extLst>
                    <a:ext uri="{9D8B030D-6E8A-4147-A177-3AD203B41FA5}">
                      <a16:colId xmlns:a16="http://schemas.microsoft.com/office/drawing/2014/main" val="394663198"/>
                    </a:ext>
                  </a:extLst>
                </a:gridCol>
                <a:gridCol w="1340069">
                  <a:extLst>
                    <a:ext uri="{9D8B030D-6E8A-4147-A177-3AD203B41FA5}">
                      <a16:colId xmlns:a16="http://schemas.microsoft.com/office/drawing/2014/main" val="2503684539"/>
                    </a:ext>
                  </a:extLst>
                </a:gridCol>
              </a:tblGrid>
              <a:tr h="355459">
                <a:tc gridSpan="10">
                  <a:txBody>
                    <a:bodyPr/>
                    <a:lstStyle/>
                    <a:p>
                      <a:pPr algn="ctr"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ANNUAL FAMILY ESTATE MOVEMENT </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82673727"/>
                  </a:ext>
                </a:extLst>
              </a:tr>
              <a:tr h="397173">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Asset Class</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Asset Vehicle</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Sep-YY (In Cr.)</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Sep-YY (In Cr.)</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Growth</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Cash Inflow (-) </a:t>
                      </a:r>
                    </a:p>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Cash Outflow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Net Gain</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Absolute Gain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a:t>
                      </a:r>
                      <a:b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b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Gain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Benchmark</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9914099"/>
                  </a:ext>
                </a:extLst>
              </a:tr>
              <a:tr h="355459">
                <a:tc rowSpan="3">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highlight>
                            <a:srgbClr val="FFFFFF"/>
                          </a:highlight>
                          <a:latin typeface="Roboto" panose="02000000000000000000" pitchFamily="2" charset="0"/>
                          <a:ea typeface="Roboto" panose="02000000000000000000" pitchFamily="2" charset="0"/>
                          <a:cs typeface="Roboto" panose="02000000000000000000" pitchFamily="2" charset="0"/>
                        </a:rPr>
                        <a:t> BSE 500 </a:t>
                      </a:r>
                      <a:endParaRPr lang="en-US" sz="1000" b="0" i="0" u="none" strike="noStrike" dirty="0">
                        <a:solidFill>
                          <a:srgbClr val="000000"/>
                        </a:solidFill>
                        <a:effectLst/>
                        <a:highlight>
                          <a:srgbClr val="FFFFFF"/>
                        </a:highligh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6690700"/>
                  </a:ext>
                </a:extLst>
              </a:tr>
              <a:tr h="355459">
                <a:tc vMerge="1">
                  <a:txBody>
                    <a:bodyPr/>
                    <a:lstStyle/>
                    <a:p>
                      <a:endParaRPr lang="en-US"/>
                    </a:p>
                  </a:txBody>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PMS</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7510242"/>
                  </a:ext>
                </a:extLst>
              </a:tr>
              <a:tr h="355459">
                <a:tc vMerge="1">
                  <a:txBody>
                    <a:bodyPr/>
                    <a:lstStyle/>
                    <a:p>
                      <a:endParaRPr lang="en-US"/>
                    </a:p>
                  </a:txBody>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AIF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highlight>
                            <a:srgbClr val="FFFFFF"/>
                          </a:highlight>
                          <a:latin typeface="Roboto" panose="02000000000000000000" pitchFamily="2" charset="0"/>
                          <a:ea typeface="Roboto" panose="02000000000000000000" pitchFamily="2" charset="0"/>
                          <a:cs typeface="Roboto" panose="02000000000000000000" pitchFamily="2" charset="0"/>
                        </a:rPr>
                        <a:t> BSE 500 </a:t>
                      </a:r>
                      <a:endParaRPr lang="en-US" sz="1000" b="0" i="0" u="none" strike="noStrike" dirty="0">
                        <a:solidFill>
                          <a:srgbClr val="000000"/>
                        </a:solidFill>
                        <a:effectLst/>
                        <a:highlight>
                          <a:srgbClr val="FFFFFF"/>
                        </a:highligh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9009612"/>
                  </a:ext>
                </a:extLst>
              </a:tr>
              <a:tr h="355459">
                <a:tc rowSpan="2">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ST Bond Index</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1576662"/>
                  </a:ext>
                </a:extLst>
              </a:tr>
              <a:tr h="392176">
                <a:tc vMerge="1">
                  <a:txBody>
                    <a:bodyPr/>
                    <a:lstStyle/>
                    <a:p>
                      <a:endParaRPr lang="en-US"/>
                    </a:p>
                  </a:txBody>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Structured Debt</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CRISIL ST Bond Index</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4314070"/>
                  </a:ext>
                </a:extLst>
              </a:tr>
              <a:tr h="430726">
                <a:tc>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Hybrid</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Hybrid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 Blended Index</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7477431"/>
                  </a:ext>
                </a:extLst>
              </a:tr>
              <a:tr h="355459">
                <a:tc rowSpan="2">
                  <a:txBody>
                    <a:bodyPr/>
                    <a:lstStyle/>
                    <a:p>
                      <a:pPr algn="ctr"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Alternative</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Alternate Funds</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8129054"/>
                  </a:ext>
                </a:extLst>
              </a:tr>
              <a:tr h="355459">
                <a:tc vMerge="1">
                  <a:txBody>
                    <a:bodyPr/>
                    <a:lstStyle/>
                    <a:p>
                      <a:endParaRPr lang="en-US"/>
                    </a:p>
                  </a:txBody>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Gold</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7181657"/>
                  </a:ext>
                </a:extLst>
              </a:tr>
              <a:tr h="355459">
                <a:tc rowSpan="2">
                  <a:txBody>
                    <a:bodyPr/>
                    <a:lstStyle/>
                    <a:p>
                      <a:pPr algn="ctr"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Liquid</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r>
                        <a:rPr lang="en-US" sz="1000" b="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Liquid MF</a:t>
                      </a:r>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r>
                        <a:rPr lang="en-US" sz="1000" b="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 - </a:t>
                      </a:r>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6962759"/>
                  </a:ext>
                </a:extLst>
              </a:tr>
              <a:tr h="355459">
                <a:tc vMerge="1">
                  <a:txBody>
                    <a:bodyPr/>
                    <a:lstStyle/>
                    <a:p>
                      <a:endParaRPr lang="en-US"/>
                    </a:p>
                  </a:txBody>
                  <a:tcPr/>
                </a:tc>
                <a:tc>
                  <a:txBody>
                    <a:bodyPr/>
                    <a:lstStyle/>
                    <a:p>
                      <a:pPr marL="0" algn="ctr" defTabSz="914400" rtl="0" eaLnBrk="1" fontAlgn="ctr" latinLnBrk="0" hangingPunct="1"/>
                      <a:r>
                        <a:rPr lang="en-US" sz="1000" b="0" u="none" strike="noStrike" kern="1200">
                          <a:solidFill>
                            <a:srgbClr val="000000"/>
                          </a:solidFill>
                          <a:effectLst/>
                          <a:latin typeface="Roboto" panose="02000000000000000000" pitchFamily="2" charset="0"/>
                          <a:ea typeface="Roboto" panose="02000000000000000000" pitchFamily="2" charset="0"/>
                          <a:cs typeface="Roboto" panose="02000000000000000000" pitchFamily="2" charset="0"/>
                        </a:rPr>
                        <a:t>Liquid PMS</a:t>
                      </a:r>
                      <a:endParaRPr lang="en-US" sz="1000" b="0" i="0" u="none" strike="noStrike" kern="120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r>
                        <a:rPr lang="en-US" sz="1000" b="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 - </a:t>
                      </a:r>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6951412"/>
                  </a:ext>
                </a:extLst>
              </a:tr>
              <a:tr h="355459">
                <a:tc gridSpan="2">
                  <a:txBody>
                    <a:bodyPr/>
                    <a:lstStyle/>
                    <a:p>
                      <a:pPr marL="0" algn="ctr" defTabSz="914400" rtl="0" eaLnBrk="1" fontAlgn="ctr" latinLnBrk="1" hangingPunct="1"/>
                      <a:r>
                        <a:rPr lang="en-US" sz="1000" b="1"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Total</a:t>
                      </a: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900" b="1"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6810252"/>
                  </a:ext>
                </a:extLst>
              </a:tr>
            </a:tbl>
          </a:graphicData>
        </a:graphic>
      </p:graphicFrame>
      <p:sp>
        <p:nvSpPr>
          <p:cNvPr id="5" name="Rectangle 4">
            <a:extLst>
              <a:ext uri="{FF2B5EF4-FFF2-40B4-BE49-F238E27FC236}">
                <a16:creationId xmlns:a16="http://schemas.microsoft.com/office/drawing/2014/main" id="{A39D1A9E-ECFF-B20F-EA3A-758E6F91A689}"/>
              </a:ext>
            </a:extLst>
          </p:cNvPr>
          <p:cNvSpPr/>
          <p:nvPr/>
        </p:nvSpPr>
        <p:spPr>
          <a:xfrm>
            <a:off x="2366646" y="6057084"/>
            <a:ext cx="8114214" cy="571704"/>
          </a:xfrm>
          <a:prstGeom prst="rect">
            <a:avLst/>
          </a:prstGeom>
          <a:noFill/>
          <a:ln w="25400" cap="flat" cmpd="sng" algn="ctr">
            <a:solidFill>
              <a:srgbClr val="D1D6DC"/>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100" b="1" i="1"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In </a:t>
            </a:r>
            <a:r>
              <a:rPr kumimoji="0" lang="en-US" sz="11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rPr>
              <a:t>In FY25, the portfolio net gain was INR 13.76 cr. | During the same period the net cash inflow in the portfolio was INR 1.38 cr. translating to a net portfolio growth of INR 15.35 cr. in the portfolio for the year. </a:t>
            </a:r>
            <a:r>
              <a:rPr kumimoji="0" lang="en-US" sz="1100" b="1" i="1" u="none" strike="noStrike" kern="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Roboto" panose="02000000000000000000" pitchFamily="2" charset="0"/>
              </a:rPr>
              <a:t>of 86 Lacs.</a:t>
            </a:r>
          </a:p>
        </p:txBody>
      </p:sp>
      <p:pic>
        <p:nvPicPr>
          <p:cNvPr id="4" name="Picture 22">
            <a:extLst>
              <a:ext uri="{FF2B5EF4-FFF2-40B4-BE49-F238E27FC236}">
                <a16:creationId xmlns:a16="http://schemas.microsoft.com/office/drawing/2014/main" id="{187AE40D-60CF-4E3C-2748-7985EEE53AE8}"/>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060946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0D752-9517-811E-2CBE-415ADD0316B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83E880E-DFCB-7F7A-7F7B-07212B4188A8}"/>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421C0083-B92E-554E-11B4-457B8609D8ED}"/>
              </a:ext>
            </a:extLst>
          </p:cNvPr>
          <p:cNvGrpSpPr/>
          <p:nvPr/>
        </p:nvGrpSpPr>
        <p:grpSpPr>
          <a:xfrm>
            <a:off x="5639" y="249773"/>
            <a:ext cx="9259862" cy="509001"/>
            <a:chOff x="7048" y="374718"/>
            <a:chExt cx="13891935" cy="763619"/>
          </a:xfrm>
        </p:grpSpPr>
        <p:sp>
          <p:nvSpPr>
            <p:cNvPr id="9" name="TextBox 8">
              <a:extLst>
                <a:ext uri="{FF2B5EF4-FFF2-40B4-BE49-F238E27FC236}">
                  <a16:creationId xmlns:a16="http://schemas.microsoft.com/office/drawing/2014/main" id="{FAC53298-908F-8C0F-2715-B0C697D3D872}"/>
                </a:ext>
              </a:extLst>
            </p:cNvPr>
            <p:cNvSpPr txBox="1"/>
            <p:nvPr/>
          </p:nvSpPr>
          <p:spPr>
            <a:xfrm>
              <a:off x="354244" y="374718"/>
              <a:ext cx="13544739"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Portfolio Performance : Last Quarter | One Year | Since Inception </a:t>
              </a:r>
            </a:p>
          </p:txBody>
        </p:sp>
        <p:cxnSp>
          <p:nvCxnSpPr>
            <p:cNvPr id="11" name="Straight Connector 10">
              <a:extLst>
                <a:ext uri="{FF2B5EF4-FFF2-40B4-BE49-F238E27FC236}">
                  <a16:creationId xmlns:a16="http://schemas.microsoft.com/office/drawing/2014/main" id="{927FF022-4C36-94A3-A98C-C86AF949B4BD}"/>
                </a:ext>
              </a:extLst>
            </p:cNvPr>
            <p:cNvCxnSpPr>
              <a:cxnSpLocks/>
            </p:cNvCxnSpPr>
            <p:nvPr/>
          </p:nvCxnSpPr>
          <p:spPr>
            <a:xfrm>
              <a:off x="7048" y="1138337"/>
              <a:ext cx="13467570"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6" name="Table 5">
            <a:extLst>
              <a:ext uri="{FF2B5EF4-FFF2-40B4-BE49-F238E27FC236}">
                <a16:creationId xmlns:a16="http://schemas.microsoft.com/office/drawing/2014/main" id="{F69623A7-190F-ABC1-D59E-90AF084B1A36}"/>
              </a:ext>
            </a:extLst>
          </p:cNvPr>
          <p:cNvGraphicFramePr>
            <a:graphicFrameLocks noGrp="1"/>
          </p:cNvGraphicFramePr>
          <p:nvPr>
            <p:extLst>
              <p:ext uri="{D42A27DB-BD31-4B8C-83A1-F6EECF244321}">
                <p14:modId xmlns:p14="http://schemas.microsoft.com/office/powerpoint/2010/main" val="2448143838"/>
              </p:ext>
            </p:extLst>
          </p:nvPr>
        </p:nvGraphicFramePr>
        <p:xfrm>
          <a:off x="237067" y="1217288"/>
          <a:ext cx="11667066" cy="5081886"/>
        </p:xfrm>
        <a:graphic>
          <a:graphicData uri="http://schemas.openxmlformats.org/drawingml/2006/table">
            <a:tbl>
              <a:tblPr>
                <a:tableStyleId>{2D5ABB26-0587-4C30-8999-92F81FD0307C}</a:tableStyleId>
              </a:tblPr>
              <a:tblGrid>
                <a:gridCol w="1470978">
                  <a:extLst>
                    <a:ext uri="{9D8B030D-6E8A-4147-A177-3AD203B41FA5}">
                      <a16:colId xmlns:a16="http://schemas.microsoft.com/office/drawing/2014/main" val="3452321853"/>
                    </a:ext>
                  </a:extLst>
                </a:gridCol>
                <a:gridCol w="967218">
                  <a:extLst>
                    <a:ext uri="{9D8B030D-6E8A-4147-A177-3AD203B41FA5}">
                      <a16:colId xmlns:a16="http://schemas.microsoft.com/office/drawing/2014/main" val="1649943866"/>
                    </a:ext>
                  </a:extLst>
                </a:gridCol>
                <a:gridCol w="967218">
                  <a:extLst>
                    <a:ext uri="{9D8B030D-6E8A-4147-A177-3AD203B41FA5}">
                      <a16:colId xmlns:a16="http://schemas.microsoft.com/office/drawing/2014/main" val="1203255151"/>
                    </a:ext>
                  </a:extLst>
                </a:gridCol>
                <a:gridCol w="967218">
                  <a:extLst>
                    <a:ext uri="{9D8B030D-6E8A-4147-A177-3AD203B41FA5}">
                      <a16:colId xmlns:a16="http://schemas.microsoft.com/office/drawing/2014/main" val="3800568886"/>
                    </a:ext>
                  </a:extLst>
                </a:gridCol>
                <a:gridCol w="967218">
                  <a:extLst>
                    <a:ext uri="{9D8B030D-6E8A-4147-A177-3AD203B41FA5}">
                      <a16:colId xmlns:a16="http://schemas.microsoft.com/office/drawing/2014/main" val="2653003547"/>
                    </a:ext>
                  </a:extLst>
                </a:gridCol>
                <a:gridCol w="967218">
                  <a:extLst>
                    <a:ext uri="{9D8B030D-6E8A-4147-A177-3AD203B41FA5}">
                      <a16:colId xmlns:a16="http://schemas.microsoft.com/office/drawing/2014/main" val="2783063287"/>
                    </a:ext>
                  </a:extLst>
                </a:gridCol>
                <a:gridCol w="967218">
                  <a:extLst>
                    <a:ext uri="{9D8B030D-6E8A-4147-A177-3AD203B41FA5}">
                      <a16:colId xmlns:a16="http://schemas.microsoft.com/office/drawing/2014/main" val="3492534208"/>
                    </a:ext>
                  </a:extLst>
                </a:gridCol>
                <a:gridCol w="967218">
                  <a:extLst>
                    <a:ext uri="{9D8B030D-6E8A-4147-A177-3AD203B41FA5}">
                      <a16:colId xmlns:a16="http://schemas.microsoft.com/office/drawing/2014/main" val="5593090"/>
                    </a:ext>
                  </a:extLst>
                </a:gridCol>
                <a:gridCol w="967218">
                  <a:extLst>
                    <a:ext uri="{9D8B030D-6E8A-4147-A177-3AD203B41FA5}">
                      <a16:colId xmlns:a16="http://schemas.microsoft.com/office/drawing/2014/main" val="4174178542"/>
                    </a:ext>
                  </a:extLst>
                </a:gridCol>
                <a:gridCol w="1188871">
                  <a:extLst>
                    <a:ext uri="{9D8B030D-6E8A-4147-A177-3AD203B41FA5}">
                      <a16:colId xmlns:a16="http://schemas.microsoft.com/office/drawing/2014/main" val="1088419339"/>
                    </a:ext>
                  </a:extLst>
                </a:gridCol>
                <a:gridCol w="1269473">
                  <a:extLst>
                    <a:ext uri="{9D8B030D-6E8A-4147-A177-3AD203B41FA5}">
                      <a16:colId xmlns:a16="http://schemas.microsoft.com/office/drawing/2014/main" val="2052092558"/>
                    </a:ext>
                  </a:extLst>
                </a:gridCol>
              </a:tblGrid>
              <a:tr h="517790">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Security Type</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Amount              Invested</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 %</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Portfolio</a:t>
                      </a:r>
                    </a:p>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(QX’YY)</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r>
                        <a:rPr lang="en-US" sz="1000" b="1"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Qx’YY</a:t>
                      </a: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Portfolio XIRR </a:t>
                      </a:r>
                    </a:p>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(1 Yr.)</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XIRR </a:t>
                      </a:r>
                    </a:p>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(1 Yr.)</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Portfolio XIRR </a:t>
                      </a:r>
                    </a:p>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(SI)</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XIRR</a:t>
                      </a:r>
                    </a:p>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(SI)</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047786713"/>
                  </a:ext>
                </a:extLst>
              </a:tr>
              <a:tr h="285256">
                <a:tc>
                  <a:txBody>
                    <a:bodyPr/>
                    <a:lstStyle/>
                    <a:p>
                      <a:pPr algn="ctr" rtl="0"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005265"/>
                  </a:ext>
                </a:extLst>
              </a:tr>
              <a:tr h="285256">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Equity MF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8653311"/>
                  </a:ext>
                </a:extLst>
              </a:tr>
              <a:tr h="285256">
                <a:tc>
                  <a:txBody>
                    <a:bodyPr/>
                    <a:lstStyle/>
                    <a:p>
                      <a:pPr algn="ctr" rtl="0"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Equity PMS</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7982957"/>
                  </a:ext>
                </a:extLst>
              </a:tr>
              <a:tr h="285256">
                <a:tc>
                  <a:txBody>
                    <a:bodyPr/>
                    <a:lstStyle/>
                    <a:p>
                      <a:pPr algn="ctr" rtl="0"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Equity AIF</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9561607"/>
                  </a:ext>
                </a:extLst>
              </a:tr>
              <a:tr h="285256">
                <a:tc>
                  <a:txBody>
                    <a:bodyPr/>
                    <a:lstStyle/>
                    <a:p>
                      <a:pPr algn="ctr" rtl="0"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Debt</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ST BD Index</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668857"/>
                  </a:ext>
                </a:extLst>
              </a:tr>
              <a:tr h="285256">
                <a:tc>
                  <a:txBody>
                    <a:bodyPr/>
                    <a:lstStyle/>
                    <a:p>
                      <a:pPr algn="ctr" rtl="0"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Debt MF</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ST BD Index</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5149878"/>
                  </a:ext>
                </a:extLst>
              </a:tr>
              <a:tr h="285256">
                <a:tc>
                  <a:txBody>
                    <a:bodyPr/>
                    <a:lstStyle/>
                    <a:p>
                      <a:pPr algn="ctr" rtl="0"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MLD/Structured Debt</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ST BD Index</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8747336"/>
                  </a:ext>
                </a:extLst>
              </a:tr>
              <a:tr h="285256">
                <a:tc>
                  <a:txBody>
                    <a:bodyPr/>
                    <a:lstStyle/>
                    <a:p>
                      <a:pPr algn="ctr" rtl="0"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Hybrid</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CA Blended Index</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1834311"/>
                  </a:ext>
                </a:extLst>
              </a:tr>
              <a:tr h="285256">
                <a:tc>
                  <a:txBody>
                    <a:bodyPr/>
                    <a:lstStyle/>
                    <a:p>
                      <a:pPr algn="ctr" rtl="0"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Hybrid MF</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 Blended Index</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5858879"/>
                  </a:ext>
                </a:extLst>
              </a:tr>
              <a:tr h="285256">
                <a:tc>
                  <a:txBody>
                    <a:bodyPr/>
                    <a:lstStyle/>
                    <a:p>
                      <a:pPr algn="ctr" rtl="0"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Alternative</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207596"/>
                  </a:ext>
                </a:extLst>
              </a:tr>
              <a:tr h="285256">
                <a:tc>
                  <a:txBody>
                    <a:bodyPr/>
                    <a:lstStyle/>
                    <a:p>
                      <a:pPr algn="ctr" rtl="0"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Alternate Funds</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4880905"/>
                  </a:ext>
                </a:extLst>
              </a:tr>
              <a:tr h="285256">
                <a:tc>
                  <a:txBody>
                    <a:bodyPr/>
                    <a:lstStyle/>
                    <a:p>
                      <a:pPr algn="ctr" rtl="0"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Gold</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NA</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7593054"/>
                  </a:ext>
                </a:extLst>
              </a:tr>
              <a:tr h="285256">
                <a:tc>
                  <a:txBody>
                    <a:bodyPr/>
                    <a:lstStyle/>
                    <a:p>
                      <a:pPr algn="ctr" rtl="0"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Liquid</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7739154"/>
                  </a:ext>
                </a:extLst>
              </a:tr>
              <a:tr h="285256">
                <a:tc>
                  <a:txBody>
                    <a:bodyPr/>
                    <a:lstStyle/>
                    <a:p>
                      <a:pPr algn="ctr" rtl="0"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Liquid MF</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6951716"/>
                  </a:ext>
                </a:extLst>
              </a:tr>
              <a:tr h="285256">
                <a:tc>
                  <a:txBody>
                    <a:bodyPr/>
                    <a:lstStyle/>
                    <a:p>
                      <a:pPr algn="ctr" rtl="0"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Liquid PMS</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2002878"/>
                  </a:ext>
                </a:extLst>
              </a:tr>
              <a:tr h="285256">
                <a:tc>
                  <a:txBody>
                    <a:bodyPr/>
                    <a:lstStyle/>
                    <a:p>
                      <a:pPr algn="ctr" rtl="0" fontAlgn="ctr"/>
                      <a:r>
                        <a:rPr lang="en-US" sz="10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Total</a:t>
                      </a:r>
                      <a:endPar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Blended  Benchmark </a:t>
                      </a: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0813510"/>
                  </a:ext>
                </a:extLst>
              </a:tr>
            </a:tbl>
          </a:graphicData>
        </a:graphic>
      </p:graphicFrame>
      <p:pic>
        <p:nvPicPr>
          <p:cNvPr id="3" name="Picture 22">
            <a:extLst>
              <a:ext uri="{FF2B5EF4-FFF2-40B4-BE49-F238E27FC236}">
                <a16:creationId xmlns:a16="http://schemas.microsoft.com/office/drawing/2014/main" id="{6EB0F068-33DC-5767-E15E-36CBC95AB80E}"/>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787116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cNvSpPr>
            <a:spLocks noGrp="1"/>
          </p:cNvSpPr>
          <p:nvPr/>
        </p:nvSpPr>
        <p:spPr>
          <a:xfrm>
            <a:off x="329701" y="2832811"/>
            <a:ext cx="11743766" cy="578685"/>
          </a:xfrm>
          <a:prstGeom prst="rect">
            <a:avLst/>
          </a:prstGeom>
          <a:ln>
            <a:solidFill>
              <a:schemeClr val="bg1"/>
            </a:solidFill>
          </a:ln>
        </p:spPr>
        <p:txBody>
          <a:bodyPr wrap="square" lIns="0" tIns="0" rIns="0" bIns="0" rtlCol="0" anchor="t"/>
          <a:lstStyle/>
          <a:p>
            <a:pPr algn="ctr">
              <a:lnSpc>
                <a:spcPct val="100000"/>
              </a:lnSpc>
              <a:defRPr sz="1200" b="1">
                <a:solidFill>
                  <a:srgbClr val="1F497D"/>
                </a:solidFill>
                <a:latin typeface="SansSerif"/>
                <a:ea typeface="SansSerif"/>
                <a:cs typeface="SansSerif"/>
              </a:defRPr>
            </a:pPr>
            <a:r>
              <a:rPr lang="en-US" sz="2667" b="1" dirty="0">
                <a:solidFill>
                  <a:srgbClr val="1F497D"/>
                </a:solidFill>
                <a:latin typeface="Roboto" panose="02000000000000000000" pitchFamily="2" charset="0"/>
                <a:ea typeface="Roboto" panose="02000000000000000000" pitchFamily="2" charset="0"/>
                <a:cs typeface="Roboto" panose="02000000000000000000" pitchFamily="2" charset="0"/>
              </a:rPr>
              <a:t>Equity Portfolio Review</a:t>
            </a:r>
            <a:endParaRPr sz="2667"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6" name="Line"/>
          <p:cNvSpPr>
            <a:spLocks noGrp="1"/>
          </p:cNvSpPr>
          <p:nvPr/>
        </p:nvSpPr>
        <p:spPr>
          <a:xfrm>
            <a:off x="318267" y="3279233"/>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pic>
        <p:nvPicPr>
          <p:cNvPr id="2" name="Picture 22">
            <a:extLst>
              <a:ext uri="{FF2B5EF4-FFF2-40B4-BE49-F238E27FC236}">
                <a16:creationId xmlns:a16="http://schemas.microsoft.com/office/drawing/2014/main" id="{EAB34AED-E53E-AFDE-CA8C-84E7C3D9EDF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4236471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16096-780D-110C-5557-F8C003B3454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7B9FEC3-3B54-80DD-E9EA-DBBDB2C74BA6}"/>
              </a:ext>
            </a:extLst>
          </p:cNvPr>
          <p:cNvSpPr txBox="1"/>
          <p:nvPr/>
        </p:nvSpPr>
        <p:spPr>
          <a:xfrm>
            <a:off x="92710" y="6565246"/>
            <a:ext cx="3435556" cy="235898"/>
          </a:xfrm>
          <a:prstGeom prst="rect">
            <a:avLst/>
          </a:prstGeom>
          <a:noFill/>
        </p:spPr>
        <p:txBody>
          <a:bodyPr wrap="none" rtlCol="0">
            <a:spAutoFit/>
          </a:bodyPr>
          <a:lstStyle/>
          <a:p>
            <a:r>
              <a:rPr lang="en-US" sz="933" dirty="0"/>
              <a:t>Private &amp; Confidential *Diversification Concerns (How to group)</a:t>
            </a:r>
          </a:p>
        </p:txBody>
      </p:sp>
      <p:grpSp>
        <p:nvGrpSpPr>
          <p:cNvPr id="12" name="Group 11">
            <a:extLst>
              <a:ext uri="{FF2B5EF4-FFF2-40B4-BE49-F238E27FC236}">
                <a16:creationId xmlns:a16="http://schemas.microsoft.com/office/drawing/2014/main" id="{D2DCA7CA-4FBF-0AA7-FBB6-74221B209FBC}"/>
              </a:ext>
            </a:extLst>
          </p:cNvPr>
          <p:cNvGrpSpPr/>
          <p:nvPr/>
        </p:nvGrpSpPr>
        <p:grpSpPr>
          <a:xfrm>
            <a:off x="5639" y="244933"/>
            <a:ext cx="7491509" cy="543168"/>
            <a:chOff x="7048" y="362849"/>
            <a:chExt cx="10695721" cy="775487"/>
          </a:xfrm>
        </p:grpSpPr>
        <p:sp>
          <p:nvSpPr>
            <p:cNvPr id="9" name="TextBox 8">
              <a:extLst>
                <a:ext uri="{FF2B5EF4-FFF2-40B4-BE49-F238E27FC236}">
                  <a16:creationId xmlns:a16="http://schemas.microsoft.com/office/drawing/2014/main" id="{0C023E75-DDA4-1BE8-3F40-6CAA916908F9}"/>
                </a:ext>
              </a:extLst>
            </p:cNvPr>
            <p:cNvSpPr txBox="1"/>
            <p:nvPr/>
          </p:nvSpPr>
          <p:spPr>
            <a:xfrm>
              <a:off x="481301" y="362849"/>
              <a:ext cx="10221468" cy="659125"/>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Current Market Cap Allocation - % (As on MMM’YY)</a:t>
              </a:r>
            </a:p>
          </p:txBody>
        </p:sp>
        <p:cxnSp>
          <p:nvCxnSpPr>
            <p:cNvPr id="11" name="Straight Connector 10">
              <a:extLst>
                <a:ext uri="{FF2B5EF4-FFF2-40B4-BE49-F238E27FC236}">
                  <a16:creationId xmlns:a16="http://schemas.microsoft.com/office/drawing/2014/main" id="{E91B7713-7670-EF26-AD88-91D052EE7A96}"/>
                </a:ext>
              </a:extLst>
            </p:cNvPr>
            <p:cNvCxnSpPr>
              <a:cxnSpLocks/>
            </p:cNvCxnSpPr>
            <p:nvPr/>
          </p:nvCxnSpPr>
          <p:spPr>
            <a:xfrm>
              <a:off x="7048" y="1138336"/>
              <a:ext cx="10468864"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FC99BF6A-6BA3-36D9-8836-ADE09BB8030C}"/>
              </a:ext>
            </a:extLst>
          </p:cNvPr>
          <p:cNvGraphicFramePr>
            <a:graphicFrameLocks noGrp="1"/>
          </p:cNvGraphicFramePr>
          <p:nvPr>
            <p:extLst>
              <p:ext uri="{D42A27DB-BD31-4B8C-83A1-F6EECF244321}">
                <p14:modId xmlns:p14="http://schemas.microsoft.com/office/powerpoint/2010/main" val="2528619886"/>
              </p:ext>
            </p:extLst>
          </p:nvPr>
        </p:nvGraphicFramePr>
        <p:xfrm>
          <a:off x="7073031" y="1735457"/>
          <a:ext cx="4140726" cy="3336991"/>
        </p:xfrm>
        <a:graphic>
          <a:graphicData uri="http://schemas.openxmlformats.org/drawingml/2006/table">
            <a:tbl>
              <a:tblPr firstRow="1" bandRow="1">
                <a:tableStyleId>{2D5ABB26-0587-4C30-8999-92F81FD0307C}</a:tableStyleId>
              </a:tblPr>
              <a:tblGrid>
                <a:gridCol w="2070363">
                  <a:extLst>
                    <a:ext uri="{9D8B030D-6E8A-4147-A177-3AD203B41FA5}">
                      <a16:colId xmlns:a16="http://schemas.microsoft.com/office/drawing/2014/main" val="967619359"/>
                    </a:ext>
                  </a:extLst>
                </a:gridCol>
                <a:gridCol w="2070363">
                  <a:extLst>
                    <a:ext uri="{9D8B030D-6E8A-4147-A177-3AD203B41FA5}">
                      <a16:colId xmlns:a16="http://schemas.microsoft.com/office/drawing/2014/main" val="4120578850"/>
                    </a:ext>
                  </a:extLst>
                </a:gridCol>
              </a:tblGrid>
              <a:tr h="476713">
                <a:tc>
                  <a:txBody>
                    <a:bodyPr/>
                    <a:lstStyle/>
                    <a:p>
                      <a:pPr algn="l"/>
                      <a:r>
                        <a:rPr lang="en-IN" sz="1000" b="1" dirty="0">
                          <a:solidFill>
                            <a:schemeClr val="bg1"/>
                          </a:solidFill>
                          <a:latin typeface="Roboto" panose="02000000000000000000" pitchFamily="2" charset="0"/>
                          <a:ea typeface="Roboto" panose="02000000000000000000" pitchFamily="2" charset="0"/>
                          <a:cs typeface="Roboto" panose="02000000000000000000" pitchFamily="2" charset="0"/>
                        </a:rPr>
                        <a:t>Asset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IN" sz="1000" b="1" dirty="0">
                          <a:solidFill>
                            <a:schemeClr val="bg1"/>
                          </a:solidFill>
                          <a:latin typeface="Roboto" panose="02000000000000000000" pitchFamily="2" charset="0"/>
                          <a:ea typeface="Roboto" panose="02000000000000000000" pitchFamily="2" charset="0"/>
                          <a:cs typeface="Roboto" panose="02000000000000000000" pitchFamily="2" charset="0"/>
                        </a:rPr>
                        <a:t>Market Value (cr.)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728747019"/>
                  </a:ext>
                </a:extLst>
              </a:tr>
              <a:tr h="476713">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Large 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3517106"/>
                  </a:ext>
                </a:extLst>
              </a:tr>
              <a:tr h="476713">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Large-Mid 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8421212"/>
                  </a:ext>
                </a:extLst>
              </a:tr>
              <a:tr h="476713">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Multicap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7131661"/>
                  </a:ext>
                </a:extLst>
              </a:tr>
              <a:tr h="476713">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Mid-Small 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3343176"/>
                  </a:ext>
                </a:extLst>
              </a:tr>
              <a:tr h="476713">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Small Cap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45110"/>
                  </a:ext>
                </a:extLst>
              </a:tr>
              <a:tr h="476713">
                <a:tc>
                  <a:txBody>
                    <a:bodyPr/>
                    <a:lstStyle/>
                    <a:p>
                      <a:pPr algn="l"/>
                      <a:r>
                        <a:rPr lang="en-IN" sz="1000" b="1" dirty="0">
                          <a:latin typeface="Roboto" panose="02000000000000000000" pitchFamily="2" charset="0"/>
                          <a:ea typeface="Roboto" panose="02000000000000000000" pitchFamily="2" charset="0"/>
                          <a:cs typeface="Roboto" panose="02000000000000000000" pitchFamily="2" charset="0"/>
                        </a:rPr>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4916926"/>
                  </a:ext>
                </a:extLst>
              </a:tr>
            </a:tbl>
          </a:graphicData>
        </a:graphic>
      </p:graphicFrame>
      <p:graphicFrame>
        <p:nvGraphicFramePr>
          <p:cNvPr id="14" name="Chart 13">
            <a:extLst>
              <a:ext uri="{FF2B5EF4-FFF2-40B4-BE49-F238E27FC236}">
                <a16:creationId xmlns:a16="http://schemas.microsoft.com/office/drawing/2014/main" id="{EDADBCD6-F033-0840-398D-F4D7FA27DA65}"/>
              </a:ext>
            </a:extLst>
          </p:cNvPr>
          <p:cNvGraphicFramePr/>
          <p:nvPr>
            <p:extLst>
              <p:ext uri="{D42A27DB-BD31-4B8C-83A1-F6EECF244321}">
                <p14:modId xmlns:p14="http://schemas.microsoft.com/office/powerpoint/2010/main" val="722087144"/>
              </p:ext>
            </p:extLst>
          </p:nvPr>
        </p:nvGraphicFramePr>
        <p:xfrm>
          <a:off x="420561" y="1674341"/>
          <a:ext cx="5485970" cy="4539442"/>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E86525BF-28DC-AFE3-BE45-CA198CA9A440}"/>
              </a:ext>
            </a:extLst>
          </p:cNvPr>
          <p:cNvSpPr txBox="1"/>
          <p:nvPr/>
        </p:nvSpPr>
        <p:spPr>
          <a:xfrm>
            <a:off x="909765" y="1100437"/>
            <a:ext cx="4205932" cy="369332"/>
          </a:xfrm>
          <a:prstGeom prst="rect">
            <a:avLst/>
          </a:prstGeom>
          <a:noFill/>
        </p:spPr>
        <p:txBody>
          <a:bodyPr wrap="square">
            <a:spAutoFit/>
          </a:bodyPr>
          <a:lstStyle/>
          <a:p>
            <a:pPr algn="ctr"/>
            <a:r>
              <a:rPr lang="en-US" sz="1800" dirty="0">
                <a:solidFill>
                  <a:srgbClr val="084795"/>
                </a:solidFill>
                <a:latin typeface="Roboto" panose="02000000000000000000" pitchFamily="2" charset="0"/>
                <a:ea typeface="Roboto" panose="02000000000000000000" pitchFamily="2" charset="0"/>
              </a:rPr>
              <a:t>Current Market Cap Allocation </a:t>
            </a:r>
            <a:endParaRPr lang="en-IN" dirty="0"/>
          </a:p>
        </p:txBody>
      </p:sp>
      <p:pic>
        <p:nvPicPr>
          <p:cNvPr id="3" name="Picture 22">
            <a:extLst>
              <a:ext uri="{FF2B5EF4-FFF2-40B4-BE49-F238E27FC236}">
                <a16:creationId xmlns:a16="http://schemas.microsoft.com/office/drawing/2014/main" id="{7A575665-DCDD-0497-52D1-FC85D1FB786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776060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36F54-C2D0-65A4-6ABE-21E0D9C53C7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A3E9DCB-8A9C-3069-56E3-9CDB74EBE998}"/>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0EC41F47-F613-B007-4685-5867C3A9A4A7}"/>
              </a:ext>
            </a:extLst>
          </p:cNvPr>
          <p:cNvGrpSpPr/>
          <p:nvPr/>
        </p:nvGrpSpPr>
        <p:grpSpPr>
          <a:xfrm>
            <a:off x="5638" y="299502"/>
            <a:ext cx="9891178" cy="461665"/>
            <a:chOff x="7048" y="449323"/>
            <a:chExt cx="14839060" cy="692604"/>
          </a:xfrm>
        </p:grpSpPr>
        <p:sp>
          <p:nvSpPr>
            <p:cNvPr id="9" name="TextBox 8">
              <a:extLst>
                <a:ext uri="{FF2B5EF4-FFF2-40B4-BE49-F238E27FC236}">
                  <a16:creationId xmlns:a16="http://schemas.microsoft.com/office/drawing/2014/main" id="{2580AAD3-5F1B-1215-0A31-7CFF855C5E8C}"/>
                </a:ext>
              </a:extLst>
            </p:cNvPr>
            <p:cNvSpPr txBox="1"/>
            <p:nvPr/>
          </p:nvSpPr>
          <p:spPr>
            <a:xfrm>
              <a:off x="481303" y="449323"/>
              <a:ext cx="14364805"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Equity Portfolio Performance : Last Quarter | 1 Year | Since Inception </a:t>
              </a:r>
            </a:p>
          </p:txBody>
        </p:sp>
        <p:cxnSp>
          <p:nvCxnSpPr>
            <p:cNvPr id="11" name="Straight Connector 10">
              <a:extLst>
                <a:ext uri="{FF2B5EF4-FFF2-40B4-BE49-F238E27FC236}">
                  <a16:creationId xmlns:a16="http://schemas.microsoft.com/office/drawing/2014/main" id="{5C6DAEA2-F9F2-FC7A-A5D1-A169A082FDB3}"/>
                </a:ext>
              </a:extLst>
            </p:cNvPr>
            <p:cNvCxnSpPr>
              <a:cxnSpLocks/>
            </p:cNvCxnSpPr>
            <p:nvPr/>
          </p:nvCxnSpPr>
          <p:spPr>
            <a:xfrm>
              <a:off x="7048" y="1138337"/>
              <a:ext cx="14420971"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4" name="Table 3">
            <a:extLst>
              <a:ext uri="{FF2B5EF4-FFF2-40B4-BE49-F238E27FC236}">
                <a16:creationId xmlns:a16="http://schemas.microsoft.com/office/drawing/2014/main" id="{79F3E4F9-9C8B-4090-F693-7312389EEEA9}"/>
              </a:ext>
            </a:extLst>
          </p:cNvPr>
          <p:cNvGraphicFramePr>
            <a:graphicFrameLocks noGrp="1"/>
          </p:cNvGraphicFramePr>
          <p:nvPr>
            <p:extLst>
              <p:ext uri="{D42A27DB-BD31-4B8C-83A1-F6EECF244321}">
                <p14:modId xmlns:p14="http://schemas.microsoft.com/office/powerpoint/2010/main" val="4089236252"/>
              </p:ext>
            </p:extLst>
          </p:nvPr>
        </p:nvGraphicFramePr>
        <p:xfrm>
          <a:off x="334446" y="963887"/>
          <a:ext cx="11523108" cy="5536804"/>
        </p:xfrm>
        <a:graphic>
          <a:graphicData uri="http://schemas.openxmlformats.org/drawingml/2006/table">
            <a:tbl>
              <a:tblPr>
                <a:tableStyleId>{2D5ABB26-0587-4C30-8999-92F81FD0307C}</a:tableStyleId>
              </a:tblPr>
              <a:tblGrid>
                <a:gridCol w="2177198">
                  <a:extLst>
                    <a:ext uri="{9D8B030D-6E8A-4147-A177-3AD203B41FA5}">
                      <a16:colId xmlns:a16="http://schemas.microsoft.com/office/drawing/2014/main" val="2454292271"/>
                    </a:ext>
                  </a:extLst>
                </a:gridCol>
                <a:gridCol w="662625">
                  <a:extLst>
                    <a:ext uri="{9D8B030D-6E8A-4147-A177-3AD203B41FA5}">
                      <a16:colId xmlns:a16="http://schemas.microsoft.com/office/drawing/2014/main" val="4269517412"/>
                    </a:ext>
                  </a:extLst>
                </a:gridCol>
                <a:gridCol w="946608">
                  <a:extLst>
                    <a:ext uri="{9D8B030D-6E8A-4147-A177-3AD203B41FA5}">
                      <a16:colId xmlns:a16="http://schemas.microsoft.com/office/drawing/2014/main" val="2658531639"/>
                    </a:ext>
                  </a:extLst>
                </a:gridCol>
                <a:gridCol w="699476">
                  <a:extLst>
                    <a:ext uri="{9D8B030D-6E8A-4147-A177-3AD203B41FA5}">
                      <a16:colId xmlns:a16="http://schemas.microsoft.com/office/drawing/2014/main" val="3005953720"/>
                    </a:ext>
                  </a:extLst>
                </a:gridCol>
                <a:gridCol w="954449">
                  <a:extLst>
                    <a:ext uri="{9D8B030D-6E8A-4147-A177-3AD203B41FA5}">
                      <a16:colId xmlns:a16="http://schemas.microsoft.com/office/drawing/2014/main" val="2914428078"/>
                    </a:ext>
                  </a:extLst>
                </a:gridCol>
                <a:gridCol w="954449">
                  <a:extLst>
                    <a:ext uri="{9D8B030D-6E8A-4147-A177-3AD203B41FA5}">
                      <a16:colId xmlns:a16="http://schemas.microsoft.com/office/drawing/2014/main" val="2277532219"/>
                    </a:ext>
                  </a:extLst>
                </a:gridCol>
                <a:gridCol w="990589">
                  <a:extLst>
                    <a:ext uri="{9D8B030D-6E8A-4147-A177-3AD203B41FA5}">
                      <a16:colId xmlns:a16="http://schemas.microsoft.com/office/drawing/2014/main" val="2410977712"/>
                    </a:ext>
                  </a:extLst>
                </a:gridCol>
                <a:gridCol w="968328">
                  <a:extLst>
                    <a:ext uri="{9D8B030D-6E8A-4147-A177-3AD203B41FA5}">
                      <a16:colId xmlns:a16="http://schemas.microsoft.com/office/drawing/2014/main" val="2141088187"/>
                    </a:ext>
                  </a:extLst>
                </a:gridCol>
                <a:gridCol w="871497">
                  <a:extLst>
                    <a:ext uri="{9D8B030D-6E8A-4147-A177-3AD203B41FA5}">
                      <a16:colId xmlns:a16="http://schemas.microsoft.com/office/drawing/2014/main" val="523933010"/>
                    </a:ext>
                  </a:extLst>
                </a:gridCol>
                <a:gridCol w="701047">
                  <a:extLst>
                    <a:ext uri="{9D8B030D-6E8A-4147-A177-3AD203B41FA5}">
                      <a16:colId xmlns:a16="http://schemas.microsoft.com/office/drawing/2014/main" val="667908262"/>
                    </a:ext>
                  </a:extLst>
                </a:gridCol>
                <a:gridCol w="763559">
                  <a:extLst>
                    <a:ext uri="{9D8B030D-6E8A-4147-A177-3AD203B41FA5}">
                      <a16:colId xmlns:a16="http://schemas.microsoft.com/office/drawing/2014/main" val="2056647457"/>
                    </a:ext>
                  </a:extLst>
                </a:gridCol>
                <a:gridCol w="833283">
                  <a:extLst>
                    <a:ext uri="{9D8B030D-6E8A-4147-A177-3AD203B41FA5}">
                      <a16:colId xmlns:a16="http://schemas.microsoft.com/office/drawing/2014/main" val="3954313793"/>
                    </a:ext>
                  </a:extLst>
                </a:gridCol>
              </a:tblGrid>
              <a:tr h="331736">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Name</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a:solidFill>
                            <a:srgbClr val="FFFFFF"/>
                          </a:solidFill>
                          <a:effectLst/>
                          <a:latin typeface="Roboto" panose="02000000000000000000" pitchFamily="2" charset="0"/>
                          <a:ea typeface="Roboto" panose="02000000000000000000" pitchFamily="2" charset="0"/>
                          <a:cs typeface="Roboto" panose="02000000000000000000" pitchFamily="2" charset="0"/>
                        </a:rPr>
                        <a:t>Allocation %</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Amount               Invested</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a:solidFill>
                            <a:srgbClr val="FFFFFF"/>
                          </a:solidFill>
                          <a:effectLst/>
                          <a:latin typeface="Roboto" panose="02000000000000000000" pitchFamily="2" charset="0"/>
                          <a:ea typeface="Roboto" panose="02000000000000000000" pitchFamily="2" charset="0"/>
                          <a:cs typeface="Roboto" panose="02000000000000000000" pitchFamily="2" charset="0"/>
                        </a:rPr>
                        <a:t>WA Days</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a:t>
                      </a:r>
                    </a:p>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r>
                        <a:rPr lang="en-US" sz="900" b="1"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Qx’YY</a:t>
                      </a: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b"/>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p>
                      <a:pPr algn="ctr" rtl="0" fontAlgn="b"/>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r>
                        <a:rPr lang="en-US" sz="900" b="1"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Qx’YY</a:t>
                      </a: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XIRR (1 Yr.)   </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XIRR (1 Yr.)</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XIRR (SI)</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XIRR (SI)</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9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endParaRPr lang="en-US" sz="9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4198191186"/>
                  </a:ext>
                </a:extLst>
              </a:tr>
              <a:tr h="271876">
                <a:tc>
                  <a:txBody>
                    <a:bodyPr/>
                    <a:lstStyle/>
                    <a:p>
                      <a:pPr algn="l" rtl="0" fontAlgn="b"/>
                      <a:r>
                        <a:rPr lang="en-US" sz="9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Large Cap</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30.00%</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233058"/>
                  </a:ext>
                </a:extLst>
              </a:tr>
              <a:tr h="271876">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Nippon India Large Cap Fund</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7.50%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100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1036002"/>
                  </a:ext>
                </a:extLst>
              </a:tr>
              <a:tr h="271876">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Alta Cura AI Maximus*</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7.50%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Nifty 50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0367413"/>
                  </a:ext>
                </a:extLst>
              </a:tr>
              <a:tr h="271876">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Renaissance Opportunities Fund PMS</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7.50%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100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892077"/>
                  </a:ext>
                </a:extLst>
              </a:tr>
              <a:tr h="271876">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ICICI Prudential </a:t>
                      </a:r>
                      <a:r>
                        <a:rPr lang="en-US" sz="900" b="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Bluechip</a:t>
                      </a:r>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Fund</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7.50%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100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3643174"/>
                  </a:ext>
                </a:extLst>
              </a:tr>
              <a:tr h="271876">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Large -Mid Cap </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20.00%</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9217238"/>
                  </a:ext>
                </a:extLst>
              </a:tr>
              <a:tr h="271876">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ICICI </a:t>
                      </a:r>
                      <a:r>
                        <a:rPr lang="en-US" sz="900" b="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Pru</a:t>
                      </a:r>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Large &amp; Mid Cap Fund(G)</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200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851591"/>
                  </a:ext>
                </a:extLst>
              </a:tr>
              <a:tr h="271876">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SBI Large and Midcap Fund</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200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9400138"/>
                  </a:ext>
                </a:extLst>
              </a:tr>
              <a:tr h="271876">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Multicap</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30.00%</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6887561"/>
                  </a:ext>
                </a:extLst>
              </a:tr>
              <a:tr h="271876">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Nippon Multi Cap</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631614"/>
                  </a:ext>
                </a:extLst>
              </a:tr>
              <a:tr h="271876">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AAA IOP PMS / AIF</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9757718"/>
                  </a:ext>
                </a:extLst>
              </a:tr>
              <a:tr h="271876">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SBI Contra</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9671808"/>
                  </a:ext>
                </a:extLst>
              </a:tr>
              <a:tr h="271876">
                <a:tc>
                  <a:txBody>
                    <a:bodyPr/>
                    <a:lstStyle/>
                    <a:p>
                      <a:pPr algn="l" rtl="0" fontAlgn="b"/>
                      <a:r>
                        <a:rPr lang="en-US" sz="900" b="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Abakkus</a:t>
                      </a:r>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All Cap PMS</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4032520"/>
                  </a:ext>
                </a:extLst>
              </a:tr>
              <a:tr h="281732">
                <a:tc>
                  <a:txBody>
                    <a:bodyPr/>
                    <a:lstStyle/>
                    <a:p>
                      <a:pPr algn="l" rtl="0" fontAlgn="b"/>
                      <a:r>
                        <a:rPr lang="fr-FR"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Renaissance </a:t>
                      </a:r>
                      <a:r>
                        <a:rPr lang="fr-FR" sz="900" b="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India</a:t>
                      </a:r>
                      <a:r>
                        <a:rPr lang="fr-FR"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Next PMS/AIF</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endParaRPr lang="en-US" sz="9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1228053"/>
                  </a:ext>
                </a:extLst>
              </a:tr>
              <a:tr h="281732">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Parag Parikh Flexi Cap Fund</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endParaRPr lang="en-US" sz="9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865367"/>
                  </a:ext>
                </a:extLst>
              </a:tr>
              <a:tr h="271876">
                <a:tc>
                  <a:txBody>
                    <a:bodyPr/>
                    <a:lstStyle/>
                    <a:p>
                      <a:pPr algn="l" rtl="0" fontAlgn="b"/>
                      <a:r>
                        <a:rPr lang="en-US" sz="9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Mid/Small Cap</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20.00%</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6561488"/>
                  </a:ext>
                </a:extLst>
              </a:tr>
              <a:tr h="281732">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Alta Cura Data Chameleon fund*</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NSE </a:t>
                      </a:r>
                      <a:r>
                        <a:rPr lang="en-US" sz="900" b="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Smallcap</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2117860"/>
                  </a:ext>
                </a:extLst>
              </a:tr>
              <a:tr h="281732">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AAA Budding Beast*</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NSE </a:t>
                      </a:r>
                      <a:r>
                        <a:rPr lang="en-US" sz="900" b="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Smallcap</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9656941"/>
                  </a:ext>
                </a:extLst>
              </a:tr>
              <a:tr h="271876">
                <a:tc>
                  <a:txBody>
                    <a:bodyPr/>
                    <a:lstStyle/>
                    <a:p>
                      <a:pPr algn="l" rtl="0" fontAlgn="b"/>
                      <a:r>
                        <a:rPr lang="en-US" sz="900" b="1" u="none" strike="noStrike">
                          <a:solidFill>
                            <a:srgbClr val="333333"/>
                          </a:solidFill>
                          <a:effectLst/>
                          <a:latin typeface="Roboto" panose="02000000000000000000" pitchFamily="2" charset="0"/>
                          <a:ea typeface="Roboto" panose="02000000000000000000" pitchFamily="2" charset="0"/>
                          <a:cs typeface="Roboto" panose="02000000000000000000" pitchFamily="2" charset="0"/>
                        </a:rPr>
                        <a:t>Total</a:t>
                      </a:r>
                      <a:endParaRPr lang="en-US" sz="900" b="1" i="0" u="none" strike="noStrike" dirty="0">
                        <a:solidFill>
                          <a:srgbClr val="333333"/>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100.00%</a:t>
                      </a:r>
                      <a:endParaRPr lang="en-US" sz="9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900" b="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9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BSE 500</a:t>
                      </a:r>
                      <a:endParaRPr lang="en-US" sz="9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008" marR="4008" marT="400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1264228"/>
                  </a:ext>
                </a:extLst>
              </a:tr>
            </a:tbl>
          </a:graphicData>
        </a:graphic>
      </p:graphicFrame>
      <p:sp>
        <p:nvSpPr>
          <p:cNvPr id="2" name="TextBox 1">
            <a:extLst>
              <a:ext uri="{FF2B5EF4-FFF2-40B4-BE49-F238E27FC236}">
                <a16:creationId xmlns:a16="http://schemas.microsoft.com/office/drawing/2014/main" id="{56C46266-BC4A-7481-EE48-37C387F42CCE}"/>
              </a:ext>
            </a:extLst>
          </p:cNvPr>
          <p:cNvSpPr txBox="1"/>
          <p:nvPr/>
        </p:nvSpPr>
        <p:spPr>
          <a:xfrm>
            <a:off x="9896816" y="6565246"/>
            <a:ext cx="2071401" cy="235898"/>
          </a:xfrm>
          <a:prstGeom prst="rect">
            <a:avLst/>
          </a:prstGeom>
          <a:noFill/>
        </p:spPr>
        <p:txBody>
          <a:bodyPr wrap="none" rtlCol="0">
            <a:spAutoFit/>
          </a:bodyPr>
          <a:lstStyle/>
          <a:p>
            <a:r>
              <a:rPr lang="en-US" sz="933" i="1" dirty="0"/>
              <a:t>*AIF Returns are on a  post-tax basis</a:t>
            </a:r>
          </a:p>
        </p:txBody>
      </p:sp>
      <p:pic>
        <p:nvPicPr>
          <p:cNvPr id="3" name="Picture 22">
            <a:extLst>
              <a:ext uri="{FF2B5EF4-FFF2-40B4-BE49-F238E27FC236}">
                <a16:creationId xmlns:a16="http://schemas.microsoft.com/office/drawing/2014/main" id="{E3C75100-71EA-2C54-C36C-46DA17AEAFEB}"/>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887014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895E0-63C5-C333-7ABB-DDA51BB5235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FF0E380-46E8-9FD0-806D-6A31EB1DB862}"/>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6D0B405D-A6E4-A856-A85F-86D590853A69}"/>
              </a:ext>
            </a:extLst>
          </p:cNvPr>
          <p:cNvGrpSpPr/>
          <p:nvPr/>
        </p:nvGrpSpPr>
        <p:grpSpPr>
          <a:xfrm>
            <a:off x="5639" y="161637"/>
            <a:ext cx="9842022" cy="461665"/>
            <a:chOff x="7048" y="445733"/>
            <a:chExt cx="14765313" cy="692604"/>
          </a:xfrm>
        </p:grpSpPr>
        <p:sp>
          <p:nvSpPr>
            <p:cNvPr id="9" name="TextBox 8">
              <a:extLst>
                <a:ext uri="{FF2B5EF4-FFF2-40B4-BE49-F238E27FC236}">
                  <a16:creationId xmlns:a16="http://schemas.microsoft.com/office/drawing/2014/main" id="{40F7DC78-679B-44A7-E8D7-EC1CE52D007C}"/>
                </a:ext>
              </a:extLst>
            </p:cNvPr>
            <p:cNvSpPr txBox="1"/>
            <p:nvPr/>
          </p:nvSpPr>
          <p:spPr>
            <a:xfrm>
              <a:off x="496538" y="445733"/>
              <a:ext cx="14275823"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Outperforming &amp; Underperforming Equity Schemes (Since Inception)</a:t>
              </a:r>
            </a:p>
          </p:txBody>
        </p:sp>
        <p:cxnSp>
          <p:nvCxnSpPr>
            <p:cNvPr id="11" name="Straight Connector 10">
              <a:extLst>
                <a:ext uri="{FF2B5EF4-FFF2-40B4-BE49-F238E27FC236}">
                  <a16:creationId xmlns:a16="http://schemas.microsoft.com/office/drawing/2014/main" id="{66A10A62-D81B-07EC-646B-4527F4B2E7CA}"/>
                </a:ext>
              </a:extLst>
            </p:cNvPr>
            <p:cNvCxnSpPr>
              <a:cxnSpLocks/>
            </p:cNvCxnSpPr>
            <p:nvPr/>
          </p:nvCxnSpPr>
          <p:spPr>
            <a:xfrm>
              <a:off x="7048" y="1138337"/>
              <a:ext cx="14433670"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25" name="Table 24">
            <a:extLst>
              <a:ext uri="{FF2B5EF4-FFF2-40B4-BE49-F238E27FC236}">
                <a16:creationId xmlns:a16="http://schemas.microsoft.com/office/drawing/2014/main" id="{20DB09B2-CEFC-A0B4-64C7-A4EA678FA883}"/>
              </a:ext>
            </a:extLst>
          </p:cNvPr>
          <p:cNvGraphicFramePr>
            <a:graphicFrameLocks noGrp="1"/>
          </p:cNvGraphicFramePr>
          <p:nvPr>
            <p:extLst>
              <p:ext uri="{D42A27DB-BD31-4B8C-83A1-F6EECF244321}">
                <p14:modId xmlns:p14="http://schemas.microsoft.com/office/powerpoint/2010/main" val="3408056400"/>
              </p:ext>
            </p:extLst>
          </p:nvPr>
        </p:nvGraphicFramePr>
        <p:xfrm>
          <a:off x="6277232" y="1421027"/>
          <a:ext cx="5230395" cy="2983762"/>
        </p:xfrm>
        <a:graphic>
          <a:graphicData uri="http://schemas.openxmlformats.org/drawingml/2006/table">
            <a:tbl>
              <a:tblPr>
                <a:tableStyleId>{2D5ABB26-0587-4C30-8999-92F81FD0307C}</a:tableStyleId>
              </a:tblPr>
              <a:tblGrid>
                <a:gridCol w="2346390">
                  <a:extLst>
                    <a:ext uri="{9D8B030D-6E8A-4147-A177-3AD203B41FA5}">
                      <a16:colId xmlns:a16="http://schemas.microsoft.com/office/drawing/2014/main" val="3988721725"/>
                    </a:ext>
                  </a:extLst>
                </a:gridCol>
                <a:gridCol w="881194">
                  <a:extLst>
                    <a:ext uri="{9D8B030D-6E8A-4147-A177-3AD203B41FA5}">
                      <a16:colId xmlns:a16="http://schemas.microsoft.com/office/drawing/2014/main" val="856967181"/>
                    </a:ext>
                  </a:extLst>
                </a:gridCol>
                <a:gridCol w="807762">
                  <a:extLst>
                    <a:ext uri="{9D8B030D-6E8A-4147-A177-3AD203B41FA5}">
                      <a16:colId xmlns:a16="http://schemas.microsoft.com/office/drawing/2014/main" val="537246312"/>
                    </a:ext>
                  </a:extLst>
                </a:gridCol>
                <a:gridCol w="1195049">
                  <a:extLst>
                    <a:ext uri="{9D8B030D-6E8A-4147-A177-3AD203B41FA5}">
                      <a16:colId xmlns:a16="http://schemas.microsoft.com/office/drawing/2014/main" val="2445433435"/>
                    </a:ext>
                  </a:extLst>
                </a:gridCol>
              </a:tblGrid>
              <a:tr h="432962">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Schemes Outperforming Benchmark</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Allocation</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Outperformance</a:t>
                      </a:r>
                      <a:endPar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376745470"/>
                  </a:ext>
                </a:extLst>
              </a:tr>
              <a:tr h="318850">
                <a:tc>
                  <a:txBody>
                    <a:bodyPr/>
                    <a:lstStyle/>
                    <a:p>
                      <a:pPr algn="ctr" fontAlgn="b"/>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Edelweiss Nifty 50 Index</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2751976"/>
                  </a:ext>
                </a:extLst>
              </a:tr>
              <a:tr h="318850">
                <a:tc>
                  <a:txBody>
                    <a:bodyPr/>
                    <a:lstStyle/>
                    <a:p>
                      <a:pPr marL="0" marR="0" lvl="0" indent="0" algn="ctr" defTabSz="914400" rtl="0" eaLnBrk="1" fontAlgn="b" latinLnBrk="1" hangingPunct="1">
                        <a:lnSpc>
                          <a:spcPct val="100000"/>
                        </a:lnSpc>
                        <a:spcBef>
                          <a:spcPts val="0"/>
                        </a:spcBef>
                        <a:spcAft>
                          <a:spcPts val="0"/>
                        </a:spcAft>
                        <a:buClrTx/>
                        <a:buSzTx/>
                        <a:buFontTx/>
                        <a:buNone/>
                        <a:tabLst/>
                        <a:defRPr/>
                      </a:pPr>
                      <a:r>
                        <a:rPr lang="en-US" sz="1000" b="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ICICI Pru Bank Nifty Index</a:t>
                      </a:r>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6080492"/>
                  </a:ext>
                </a:extLst>
              </a:tr>
              <a:tr h="318850">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ASK IEP PMS</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2897580"/>
                  </a:ext>
                </a:extLst>
              </a:tr>
              <a:tr h="318850">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Whiteoak IPE PMA</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4526951"/>
                  </a:ext>
                </a:extLst>
              </a:tr>
              <a:tr h="318850">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UTI Flexi Cap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5108614"/>
                  </a:ext>
                </a:extLst>
              </a:tr>
              <a:tr h="318850">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Canara Robeco Emerging Equities</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47889"/>
                  </a:ext>
                </a:extLst>
              </a:tr>
              <a:tr h="318850">
                <a:tc>
                  <a:txBody>
                    <a:bodyPr/>
                    <a:lstStyle/>
                    <a:p>
                      <a:pPr algn="ctr" fontAlgn="ctr"/>
                      <a:r>
                        <a:rPr lang="en-US" sz="1000" b="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Whitespace Alpha Equity Plus </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FF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10505"/>
                  </a:ext>
                </a:extLst>
              </a:tr>
              <a:tr h="318850">
                <a:tc>
                  <a:txBody>
                    <a:bodyPr/>
                    <a:lstStyle/>
                    <a:p>
                      <a:pPr algn="ctr" fontAlgn="ctr"/>
                      <a:r>
                        <a:rPr lang="en-US" sz="1000" b="1"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Total</a:t>
                      </a: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algn="ctr" defTabSz="914400" rtl="0" eaLnBrk="1" fontAlgn="ctr" latinLnBrk="1" hangingPunct="1"/>
                      <a:endParaRPr lang="en-IN" sz="1000" b="1" i="0" u="none" strike="noStrike" kern="120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708634504"/>
                  </a:ext>
                </a:extLst>
              </a:tr>
            </a:tbl>
          </a:graphicData>
        </a:graphic>
      </p:graphicFrame>
      <p:graphicFrame>
        <p:nvGraphicFramePr>
          <p:cNvPr id="26" name="Table 25">
            <a:extLst>
              <a:ext uri="{FF2B5EF4-FFF2-40B4-BE49-F238E27FC236}">
                <a16:creationId xmlns:a16="http://schemas.microsoft.com/office/drawing/2014/main" id="{CBF5BA2E-EF1D-BDFF-E931-C64EF3319055}"/>
              </a:ext>
            </a:extLst>
          </p:cNvPr>
          <p:cNvGraphicFramePr>
            <a:graphicFrameLocks noGrp="1"/>
          </p:cNvGraphicFramePr>
          <p:nvPr>
            <p:extLst>
              <p:ext uri="{D42A27DB-BD31-4B8C-83A1-F6EECF244321}">
                <p14:modId xmlns:p14="http://schemas.microsoft.com/office/powerpoint/2010/main" val="2498022469"/>
              </p:ext>
            </p:extLst>
          </p:nvPr>
        </p:nvGraphicFramePr>
        <p:xfrm>
          <a:off x="6301946" y="4605440"/>
          <a:ext cx="5210525" cy="1093053"/>
        </p:xfrm>
        <a:graphic>
          <a:graphicData uri="http://schemas.openxmlformats.org/drawingml/2006/table">
            <a:tbl>
              <a:tblPr/>
              <a:tblGrid>
                <a:gridCol w="2353140">
                  <a:extLst>
                    <a:ext uri="{9D8B030D-6E8A-4147-A177-3AD203B41FA5}">
                      <a16:colId xmlns:a16="http://schemas.microsoft.com/office/drawing/2014/main" val="3125479441"/>
                    </a:ext>
                  </a:extLst>
                </a:gridCol>
                <a:gridCol w="868421">
                  <a:extLst>
                    <a:ext uri="{9D8B030D-6E8A-4147-A177-3AD203B41FA5}">
                      <a16:colId xmlns:a16="http://schemas.microsoft.com/office/drawing/2014/main" val="3766241621"/>
                    </a:ext>
                  </a:extLst>
                </a:gridCol>
                <a:gridCol w="798387">
                  <a:extLst>
                    <a:ext uri="{9D8B030D-6E8A-4147-A177-3AD203B41FA5}">
                      <a16:colId xmlns:a16="http://schemas.microsoft.com/office/drawing/2014/main" val="1716874632"/>
                    </a:ext>
                  </a:extLst>
                </a:gridCol>
                <a:gridCol w="1190577">
                  <a:extLst>
                    <a:ext uri="{9D8B030D-6E8A-4147-A177-3AD203B41FA5}">
                      <a16:colId xmlns:a16="http://schemas.microsoft.com/office/drawing/2014/main" val="2990852637"/>
                    </a:ext>
                  </a:extLst>
                </a:gridCol>
              </a:tblGrid>
              <a:tr h="367523">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Schemes Underperforming 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Value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Under</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Performance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041186705"/>
                  </a:ext>
                </a:extLst>
              </a:tr>
              <a:tr h="362765">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Alpha Grep Index Plus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FF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438768"/>
                  </a:ext>
                </a:extLst>
              </a:tr>
              <a:tr h="362765">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algn="ctr" defTabSz="914400" rtl="0" eaLnBrk="1" fontAlgn="ctr" latinLnBrk="1" hangingPunct="1"/>
                      <a:endParaRPr lang="en-IN" sz="1000" b="1" i="0" u="none" strike="noStrike" kern="120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771387319"/>
                  </a:ext>
                </a:extLst>
              </a:tr>
            </a:tbl>
          </a:graphicData>
        </a:graphic>
      </p:graphicFrame>
      <p:graphicFrame>
        <p:nvGraphicFramePr>
          <p:cNvPr id="35" name="Chart 34">
            <a:extLst>
              <a:ext uri="{FF2B5EF4-FFF2-40B4-BE49-F238E27FC236}">
                <a16:creationId xmlns:a16="http://schemas.microsoft.com/office/drawing/2014/main" id="{03FB1589-6C09-83B3-668F-50FFC503FEC2}"/>
              </a:ext>
            </a:extLst>
          </p:cNvPr>
          <p:cNvGraphicFramePr/>
          <p:nvPr>
            <p:extLst>
              <p:ext uri="{D42A27DB-BD31-4B8C-83A1-F6EECF244321}">
                <p14:modId xmlns:p14="http://schemas.microsoft.com/office/powerpoint/2010/main" val="2343008005"/>
              </p:ext>
            </p:extLst>
          </p:nvPr>
        </p:nvGraphicFramePr>
        <p:xfrm>
          <a:off x="438573" y="1680545"/>
          <a:ext cx="5412352" cy="43495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A45B1E06-6F57-4B77-D59F-A05E16F524A6}"/>
              </a:ext>
            </a:extLst>
          </p:cNvPr>
          <p:cNvSpPr txBox="1"/>
          <p:nvPr/>
        </p:nvSpPr>
        <p:spPr>
          <a:xfrm>
            <a:off x="2057398" y="3649537"/>
            <a:ext cx="1841159" cy="830997"/>
          </a:xfrm>
          <a:prstGeom prst="rect">
            <a:avLst/>
          </a:prstGeom>
          <a:noFill/>
        </p:spPr>
        <p:txBody>
          <a:bodyPr wrap="square" rtlCol="0">
            <a:spAutoFit/>
          </a:bodyPr>
          <a:lstStyle>
            <a:defPPr>
              <a:defRPr lang="en-US"/>
            </a:defPPr>
            <a:lvl1pPr>
              <a:defRPr sz="2400">
                <a:solidFill>
                  <a:srgbClr val="084795"/>
                </a:solidFill>
                <a:latin typeface="Roboto" panose="02000000000000000000" pitchFamily="2" charset="0"/>
                <a:ea typeface="Roboto" panose="02000000000000000000" pitchFamily="2" charset="0"/>
              </a:defRPr>
            </a:lvl1pPr>
          </a:lstStyle>
          <a:p>
            <a:pPr algn="ctr"/>
            <a:r>
              <a:rPr lang="en-IN" sz="1600" b="1" dirty="0"/>
              <a:t>Equity Portfolio Alpha: </a:t>
            </a:r>
          </a:p>
          <a:p>
            <a:pPr algn="ctr"/>
            <a:endParaRPr lang="en-IN" sz="1600" b="1" dirty="0"/>
          </a:p>
        </p:txBody>
      </p:sp>
      <p:sp>
        <p:nvSpPr>
          <p:cNvPr id="13" name="TextBox 12">
            <a:extLst>
              <a:ext uri="{FF2B5EF4-FFF2-40B4-BE49-F238E27FC236}">
                <a16:creationId xmlns:a16="http://schemas.microsoft.com/office/drawing/2014/main" id="{08B92DC6-5453-0C5A-91B1-8A859460FDDB}"/>
              </a:ext>
            </a:extLst>
          </p:cNvPr>
          <p:cNvSpPr txBox="1"/>
          <p:nvPr/>
        </p:nvSpPr>
        <p:spPr>
          <a:xfrm>
            <a:off x="563777" y="1403178"/>
            <a:ext cx="4601347" cy="369332"/>
          </a:xfrm>
          <a:prstGeom prst="rect">
            <a:avLst/>
          </a:prstGeom>
          <a:noFill/>
        </p:spPr>
        <p:txBody>
          <a:bodyPr wrap="square">
            <a:spAutoFit/>
          </a:bodyPr>
          <a:lstStyle>
            <a:defPPr>
              <a:defRPr lang="en-US"/>
            </a:defPPr>
            <a:lvl1pPr algn="ctr">
              <a:defRPr b="1">
                <a:solidFill>
                  <a:srgbClr val="084795"/>
                </a:solidFill>
                <a:latin typeface="Roboto" panose="02000000000000000000" pitchFamily="2" charset="0"/>
                <a:ea typeface="Roboto" panose="02000000000000000000" pitchFamily="2" charset="0"/>
              </a:defRPr>
            </a:lvl1pPr>
          </a:lstStyle>
          <a:p>
            <a:r>
              <a:rPr lang="en-IN" b="0" dirty="0"/>
              <a:t>Equity Portfolio Performance </a:t>
            </a:r>
          </a:p>
        </p:txBody>
      </p:sp>
      <p:pic>
        <p:nvPicPr>
          <p:cNvPr id="2" name="Picture 22">
            <a:extLst>
              <a:ext uri="{FF2B5EF4-FFF2-40B4-BE49-F238E27FC236}">
                <a16:creationId xmlns:a16="http://schemas.microsoft.com/office/drawing/2014/main" id="{519E030C-AE6C-4A2C-654E-725203D81A4E}"/>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343580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cNvSpPr>
            <a:spLocks noGrp="1"/>
          </p:cNvSpPr>
          <p:nvPr/>
        </p:nvSpPr>
        <p:spPr>
          <a:xfrm>
            <a:off x="329701" y="2832812"/>
            <a:ext cx="11743766" cy="446421"/>
          </a:xfrm>
          <a:prstGeom prst="rect">
            <a:avLst/>
          </a:prstGeom>
          <a:ln>
            <a:solidFill>
              <a:schemeClr val="bg1"/>
            </a:solidFill>
          </a:ln>
        </p:spPr>
        <p:txBody>
          <a:bodyPr wrap="square" lIns="0" tIns="0" rIns="0" bIns="0" rtlCol="0" anchor="t"/>
          <a:lstStyle/>
          <a:p>
            <a:pPr algn="ctr">
              <a:lnSpc>
                <a:spcPct val="100000"/>
              </a:lnSpc>
              <a:defRPr sz="1200" b="1">
                <a:solidFill>
                  <a:srgbClr val="1F497D"/>
                </a:solidFill>
                <a:latin typeface="SansSerif"/>
                <a:ea typeface="SansSerif"/>
                <a:cs typeface="SansSerif"/>
              </a:defRPr>
            </a:pPr>
            <a:r>
              <a:rPr lang="en-US" sz="2670" b="1" dirty="0">
                <a:solidFill>
                  <a:srgbClr val="1F497D"/>
                </a:solidFill>
                <a:latin typeface="Roboto" panose="02000000000000000000" pitchFamily="2" charset="0"/>
                <a:ea typeface="Roboto" panose="02000000000000000000" pitchFamily="2" charset="0"/>
                <a:cs typeface="Roboto" panose="02000000000000000000" pitchFamily="2" charset="0"/>
              </a:rPr>
              <a:t>Debt Portfolio Review</a:t>
            </a:r>
            <a:endParaRPr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6" name="Line"/>
          <p:cNvSpPr>
            <a:spLocks noGrp="1"/>
          </p:cNvSpPr>
          <p:nvPr/>
        </p:nvSpPr>
        <p:spPr>
          <a:xfrm>
            <a:off x="318267" y="3279233"/>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pic>
        <p:nvPicPr>
          <p:cNvPr id="2" name="Picture 22">
            <a:extLst>
              <a:ext uri="{FF2B5EF4-FFF2-40B4-BE49-F238E27FC236}">
                <a16:creationId xmlns:a16="http://schemas.microsoft.com/office/drawing/2014/main" id="{D0872121-DD17-A920-2125-C0394B3DD87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805823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8799-4238-3009-5426-4CB21EBB6D7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9BBCBDE-578F-C63A-43C3-0EFCCF2AA73A}"/>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EE99324B-ABBA-526C-CD49-12F027D15C0B}"/>
              </a:ext>
            </a:extLst>
          </p:cNvPr>
          <p:cNvGrpSpPr/>
          <p:nvPr/>
        </p:nvGrpSpPr>
        <p:grpSpPr>
          <a:xfrm>
            <a:off x="5638" y="299502"/>
            <a:ext cx="9891178" cy="461665"/>
            <a:chOff x="7048" y="449323"/>
            <a:chExt cx="14839060" cy="692604"/>
          </a:xfrm>
        </p:grpSpPr>
        <p:sp>
          <p:nvSpPr>
            <p:cNvPr id="9" name="TextBox 8">
              <a:extLst>
                <a:ext uri="{FF2B5EF4-FFF2-40B4-BE49-F238E27FC236}">
                  <a16:creationId xmlns:a16="http://schemas.microsoft.com/office/drawing/2014/main" id="{1BF78C7B-3D76-A30E-EAE6-E4B9FC58E5CE}"/>
                </a:ext>
              </a:extLst>
            </p:cNvPr>
            <p:cNvSpPr txBox="1"/>
            <p:nvPr/>
          </p:nvSpPr>
          <p:spPr>
            <a:xfrm>
              <a:off x="481303" y="449323"/>
              <a:ext cx="14364805"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Debt Portfolio Performance : Last Quarter | 1 Year | Since Inception </a:t>
              </a:r>
            </a:p>
          </p:txBody>
        </p:sp>
        <p:cxnSp>
          <p:nvCxnSpPr>
            <p:cNvPr id="11" name="Straight Connector 10">
              <a:extLst>
                <a:ext uri="{FF2B5EF4-FFF2-40B4-BE49-F238E27FC236}">
                  <a16:creationId xmlns:a16="http://schemas.microsoft.com/office/drawing/2014/main" id="{312F173E-3660-E02D-9EB9-AB7DD9A43295}"/>
                </a:ext>
              </a:extLst>
            </p:cNvPr>
            <p:cNvCxnSpPr>
              <a:cxnSpLocks/>
            </p:cNvCxnSpPr>
            <p:nvPr/>
          </p:nvCxnSpPr>
          <p:spPr>
            <a:xfrm>
              <a:off x="7048" y="1138337"/>
              <a:ext cx="14090720"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7" name="Table 6">
            <a:extLst>
              <a:ext uri="{FF2B5EF4-FFF2-40B4-BE49-F238E27FC236}">
                <a16:creationId xmlns:a16="http://schemas.microsoft.com/office/drawing/2014/main" id="{B943E5C2-2934-AB17-F2D3-86705F61E272}"/>
              </a:ext>
            </a:extLst>
          </p:cNvPr>
          <p:cNvGraphicFramePr>
            <a:graphicFrameLocks noGrp="1"/>
          </p:cNvGraphicFramePr>
          <p:nvPr>
            <p:extLst>
              <p:ext uri="{D42A27DB-BD31-4B8C-83A1-F6EECF244321}">
                <p14:modId xmlns:p14="http://schemas.microsoft.com/office/powerpoint/2010/main" val="3664256755"/>
              </p:ext>
            </p:extLst>
          </p:nvPr>
        </p:nvGraphicFramePr>
        <p:xfrm>
          <a:off x="696685" y="1146842"/>
          <a:ext cx="10695224" cy="5062390"/>
        </p:xfrm>
        <a:graphic>
          <a:graphicData uri="http://schemas.openxmlformats.org/drawingml/2006/table">
            <a:tbl>
              <a:tblPr/>
              <a:tblGrid>
                <a:gridCol w="2681031">
                  <a:extLst>
                    <a:ext uri="{9D8B030D-6E8A-4147-A177-3AD203B41FA5}">
                      <a16:colId xmlns:a16="http://schemas.microsoft.com/office/drawing/2014/main" val="1670286294"/>
                    </a:ext>
                  </a:extLst>
                </a:gridCol>
                <a:gridCol w="701435">
                  <a:extLst>
                    <a:ext uri="{9D8B030D-6E8A-4147-A177-3AD203B41FA5}">
                      <a16:colId xmlns:a16="http://schemas.microsoft.com/office/drawing/2014/main" val="1431314323"/>
                    </a:ext>
                  </a:extLst>
                </a:gridCol>
                <a:gridCol w="649194">
                  <a:extLst>
                    <a:ext uri="{9D8B030D-6E8A-4147-A177-3AD203B41FA5}">
                      <a16:colId xmlns:a16="http://schemas.microsoft.com/office/drawing/2014/main" val="723731869"/>
                    </a:ext>
                  </a:extLst>
                </a:gridCol>
                <a:gridCol w="493671">
                  <a:extLst>
                    <a:ext uri="{9D8B030D-6E8A-4147-A177-3AD203B41FA5}">
                      <a16:colId xmlns:a16="http://schemas.microsoft.com/office/drawing/2014/main" val="3726083923"/>
                    </a:ext>
                  </a:extLst>
                </a:gridCol>
                <a:gridCol w="603378">
                  <a:extLst>
                    <a:ext uri="{9D8B030D-6E8A-4147-A177-3AD203B41FA5}">
                      <a16:colId xmlns:a16="http://schemas.microsoft.com/office/drawing/2014/main" val="494711264"/>
                    </a:ext>
                  </a:extLst>
                </a:gridCol>
                <a:gridCol w="781649">
                  <a:extLst>
                    <a:ext uri="{9D8B030D-6E8A-4147-A177-3AD203B41FA5}">
                      <a16:colId xmlns:a16="http://schemas.microsoft.com/office/drawing/2014/main" val="382779345"/>
                    </a:ext>
                  </a:extLst>
                </a:gridCol>
                <a:gridCol w="740508">
                  <a:extLst>
                    <a:ext uri="{9D8B030D-6E8A-4147-A177-3AD203B41FA5}">
                      <a16:colId xmlns:a16="http://schemas.microsoft.com/office/drawing/2014/main" val="2673545692"/>
                    </a:ext>
                  </a:extLst>
                </a:gridCol>
                <a:gridCol w="658230">
                  <a:extLst>
                    <a:ext uri="{9D8B030D-6E8A-4147-A177-3AD203B41FA5}">
                      <a16:colId xmlns:a16="http://schemas.microsoft.com/office/drawing/2014/main" val="2662246228"/>
                    </a:ext>
                  </a:extLst>
                </a:gridCol>
                <a:gridCol w="775652">
                  <a:extLst>
                    <a:ext uri="{9D8B030D-6E8A-4147-A177-3AD203B41FA5}">
                      <a16:colId xmlns:a16="http://schemas.microsoft.com/office/drawing/2014/main" val="3350145109"/>
                    </a:ext>
                  </a:extLst>
                </a:gridCol>
                <a:gridCol w="658230">
                  <a:extLst>
                    <a:ext uri="{9D8B030D-6E8A-4147-A177-3AD203B41FA5}">
                      <a16:colId xmlns:a16="http://schemas.microsoft.com/office/drawing/2014/main" val="3061871604"/>
                    </a:ext>
                  </a:extLst>
                </a:gridCol>
                <a:gridCol w="745490">
                  <a:extLst>
                    <a:ext uri="{9D8B030D-6E8A-4147-A177-3AD203B41FA5}">
                      <a16:colId xmlns:a16="http://schemas.microsoft.com/office/drawing/2014/main" val="2744186159"/>
                    </a:ext>
                  </a:extLst>
                </a:gridCol>
                <a:gridCol w="1206756">
                  <a:extLst>
                    <a:ext uri="{9D8B030D-6E8A-4147-A177-3AD203B41FA5}">
                      <a16:colId xmlns:a16="http://schemas.microsoft.com/office/drawing/2014/main" val="1377738726"/>
                    </a:ext>
                  </a:extLst>
                </a:gridCol>
              </a:tblGrid>
              <a:tr h="814805">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Debt Index Funds/ETFs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Amount        Invested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WA.      Days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a:t>
                      </a:r>
                      <a:r>
                        <a:rPr lang="en-US" sz="1000" b="1" i="0"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Qx’YY</a:t>
                      </a: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a:t>
                      </a:r>
                      <a:r>
                        <a:rPr lang="en-US" sz="1000" b="1" i="0"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Qx’YY</a:t>
                      </a: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XIRR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(1 Yr.)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XIRR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(1 Yr.)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XIRR (SI)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XIRR (SI)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84795"/>
                    </a:solidFill>
                  </a:tcPr>
                </a:tc>
                <a:extLst>
                  <a:ext uri="{0D108BD9-81ED-4DB2-BD59-A6C34878D82A}">
                    <a16:rowId xmlns:a16="http://schemas.microsoft.com/office/drawing/2014/main" val="2662343043"/>
                  </a:ext>
                </a:extLst>
              </a:tr>
              <a:tr h="389492">
                <a:tc>
                  <a:txBody>
                    <a:bodyPr/>
                    <a:lstStyle/>
                    <a:p>
                      <a:pPr algn="l"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 Alternatives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10">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1544245166"/>
                  </a:ext>
                </a:extLst>
              </a:tr>
              <a:tr h="389492">
                <a:tc>
                  <a:txBody>
                    <a:bodyPr/>
                    <a:lstStyle/>
                    <a:p>
                      <a:pPr algn="l" rtl="0" fontAlgn="b"/>
                      <a:r>
                        <a:rPr lang="en-US"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Altacura</a:t>
                      </a: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AI Absolute Return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8218645"/>
                  </a:ext>
                </a:extLst>
              </a:tr>
              <a:tr h="389492">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ASK Absolute Return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b" latinLnBrk="0" hangingPunct="1"/>
                      <a:r>
                        <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46473143"/>
                  </a:ext>
                </a:extLst>
              </a:tr>
              <a:tr h="389492">
                <a:tc>
                  <a:txBody>
                    <a:bodyPr/>
                    <a:lstStyle/>
                    <a:p>
                      <a:pPr algn="l"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 MFs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20%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10">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3482797571"/>
                  </a:ext>
                </a:extLst>
              </a:tr>
              <a:tr h="462207">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Edelweiss NIFTY PSU Bond Plus SDL Index Fund'27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6310305"/>
                  </a:ext>
                </a:extLst>
              </a:tr>
              <a:tr h="462207">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Nippon India Nifty AAA CPSE Bond Plus SDL - Apr'27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7789230"/>
                  </a:ext>
                </a:extLst>
              </a:tr>
              <a:tr h="365086">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Structured Credit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10">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3830359096"/>
                  </a:ext>
                </a:extLst>
              </a:tr>
              <a:tr h="462207">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Vivriti Alpha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6197582"/>
                  </a:ext>
                </a:extLst>
              </a:tr>
              <a:tr h="462207">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UTI SDOF III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229015"/>
                  </a:ext>
                </a:extLst>
              </a:tr>
              <a:tr h="462207">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Total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130921"/>
                  </a:ext>
                </a:extLst>
              </a:tr>
            </a:tbl>
          </a:graphicData>
        </a:graphic>
      </p:graphicFrame>
      <p:pic>
        <p:nvPicPr>
          <p:cNvPr id="2" name="Picture 22">
            <a:extLst>
              <a:ext uri="{FF2B5EF4-FFF2-40B4-BE49-F238E27FC236}">
                <a16:creationId xmlns:a16="http://schemas.microsoft.com/office/drawing/2014/main" id="{459463AB-6E5A-5236-D37A-D166FC87140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641019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0AD3B-4342-DA42-233D-6BA00BAAFFC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1371BDA-F16F-D604-AE9D-A0CF3A5432EA}"/>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8B587468-5CCF-1BE1-5A8E-DB10BED1A2E1}"/>
              </a:ext>
            </a:extLst>
          </p:cNvPr>
          <p:cNvGrpSpPr/>
          <p:nvPr/>
        </p:nvGrpSpPr>
        <p:grpSpPr>
          <a:xfrm>
            <a:off x="5638" y="299502"/>
            <a:ext cx="7124395" cy="461665"/>
            <a:chOff x="7048" y="449323"/>
            <a:chExt cx="10688249" cy="692604"/>
          </a:xfrm>
        </p:grpSpPr>
        <p:sp>
          <p:nvSpPr>
            <p:cNvPr id="9" name="TextBox 8">
              <a:extLst>
                <a:ext uri="{FF2B5EF4-FFF2-40B4-BE49-F238E27FC236}">
                  <a16:creationId xmlns:a16="http://schemas.microsoft.com/office/drawing/2014/main" id="{2AB43032-6835-1D15-E617-3197C734E7DA}"/>
                </a:ext>
              </a:extLst>
            </p:cNvPr>
            <p:cNvSpPr txBox="1"/>
            <p:nvPr/>
          </p:nvSpPr>
          <p:spPr>
            <a:xfrm>
              <a:off x="481303" y="449323"/>
              <a:ext cx="10213994"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Debt Portfolio Attributes (Optional for Debt MFs)</a:t>
              </a:r>
            </a:p>
          </p:txBody>
        </p:sp>
        <p:cxnSp>
          <p:nvCxnSpPr>
            <p:cNvPr id="11" name="Straight Connector 10">
              <a:extLst>
                <a:ext uri="{FF2B5EF4-FFF2-40B4-BE49-F238E27FC236}">
                  <a16:creationId xmlns:a16="http://schemas.microsoft.com/office/drawing/2014/main" id="{B112A27D-BFBE-1EE1-38A6-1780D104DC48}"/>
                </a:ext>
              </a:extLst>
            </p:cNvPr>
            <p:cNvCxnSpPr>
              <a:cxnSpLocks/>
            </p:cNvCxnSpPr>
            <p:nvPr/>
          </p:nvCxnSpPr>
          <p:spPr>
            <a:xfrm>
              <a:off x="7048" y="1138337"/>
              <a:ext cx="10424234"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7" name="Table 6">
            <a:extLst>
              <a:ext uri="{FF2B5EF4-FFF2-40B4-BE49-F238E27FC236}">
                <a16:creationId xmlns:a16="http://schemas.microsoft.com/office/drawing/2014/main" id="{BAF49EF3-388C-42E7-72CA-2E23368DB6A6}"/>
              </a:ext>
            </a:extLst>
          </p:cNvPr>
          <p:cNvGraphicFramePr>
            <a:graphicFrameLocks noGrp="1"/>
          </p:cNvGraphicFramePr>
          <p:nvPr>
            <p:extLst>
              <p:ext uri="{D42A27DB-BD31-4B8C-83A1-F6EECF244321}">
                <p14:modId xmlns:p14="http://schemas.microsoft.com/office/powerpoint/2010/main" val="487852994"/>
              </p:ext>
            </p:extLst>
          </p:nvPr>
        </p:nvGraphicFramePr>
        <p:xfrm>
          <a:off x="331039" y="1175912"/>
          <a:ext cx="11529922" cy="5101482"/>
        </p:xfrm>
        <a:graphic>
          <a:graphicData uri="http://schemas.openxmlformats.org/drawingml/2006/table">
            <a:tbl>
              <a:tblPr/>
              <a:tblGrid>
                <a:gridCol w="2931334">
                  <a:extLst>
                    <a:ext uri="{9D8B030D-6E8A-4147-A177-3AD203B41FA5}">
                      <a16:colId xmlns:a16="http://schemas.microsoft.com/office/drawing/2014/main" val="1670286294"/>
                    </a:ext>
                  </a:extLst>
                </a:gridCol>
                <a:gridCol w="766922">
                  <a:extLst>
                    <a:ext uri="{9D8B030D-6E8A-4147-A177-3AD203B41FA5}">
                      <a16:colId xmlns:a16="http://schemas.microsoft.com/office/drawing/2014/main" val="1431314323"/>
                    </a:ext>
                  </a:extLst>
                </a:gridCol>
                <a:gridCol w="709803">
                  <a:extLst>
                    <a:ext uri="{9D8B030D-6E8A-4147-A177-3AD203B41FA5}">
                      <a16:colId xmlns:a16="http://schemas.microsoft.com/office/drawing/2014/main" val="723731869"/>
                    </a:ext>
                  </a:extLst>
                </a:gridCol>
                <a:gridCol w="539761">
                  <a:extLst>
                    <a:ext uri="{9D8B030D-6E8A-4147-A177-3AD203B41FA5}">
                      <a16:colId xmlns:a16="http://schemas.microsoft.com/office/drawing/2014/main" val="3726083923"/>
                    </a:ext>
                  </a:extLst>
                </a:gridCol>
                <a:gridCol w="659710">
                  <a:extLst>
                    <a:ext uri="{9D8B030D-6E8A-4147-A177-3AD203B41FA5}">
                      <a16:colId xmlns:a16="http://schemas.microsoft.com/office/drawing/2014/main" val="494711264"/>
                    </a:ext>
                  </a:extLst>
                </a:gridCol>
                <a:gridCol w="854624">
                  <a:extLst>
                    <a:ext uri="{9D8B030D-6E8A-4147-A177-3AD203B41FA5}">
                      <a16:colId xmlns:a16="http://schemas.microsoft.com/office/drawing/2014/main" val="382779345"/>
                    </a:ext>
                  </a:extLst>
                </a:gridCol>
                <a:gridCol w="809643">
                  <a:extLst>
                    <a:ext uri="{9D8B030D-6E8A-4147-A177-3AD203B41FA5}">
                      <a16:colId xmlns:a16="http://schemas.microsoft.com/office/drawing/2014/main" val="2673545692"/>
                    </a:ext>
                  </a:extLst>
                </a:gridCol>
                <a:gridCol w="719683">
                  <a:extLst>
                    <a:ext uri="{9D8B030D-6E8A-4147-A177-3AD203B41FA5}">
                      <a16:colId xmlns:a16="http://schemas.microsoft.com/office/drawing/2014/main" val="2662246228"/>
                    </a:ext>
                  </a:extLst>
                </a:gridCol>
                <a:gridCol w="719683">
                  <a:extLst>
                    <a:ext uri="{9D8B030D-6E8A-4147-A177-3AD203B41FA5}">
                      <a16:colId xmlns:a16="http://schemas.microsoft.com/office/drawing/2014/main" val="3350145109"/>
                    </a:ext>
                  </a:extLst>
                </a:gridCol>
                <a:gridCol w="719683">
                  <a:extLst>
                    <a:ext uri="{9D8B030D-6E8A-4147-A177-3AD203B41FA5}">
                      <a16:colId xmlns:a16="http://schemas.microsoft.com/office/drawing/2014/main" val="3061871604"/>
                    </a:ext>
                  </a:extLst>
                </a:gridCol>
                <a:gridCol w="779656">
                  <a:extLst>
                    <a:ext uri="{9D8B030D-6E8A-4147-A177-3AD203B41FA5}">
                      <a16:colId xmlns:a16="http://schemas.microsoft.com/office/drawing/2014/main" val="2744186159"/>
                    </a:ext>
                  </a:extLst>
                </a:gridCol>
                <a:gridCol w="1319420">
                  <a:extLst>
                    <a:ext uri="{9D8B030D-6E8A-4147-A177-3AD203B41FA5}">
                      <a16:colId xmlns:a16="http://schemas.microsoft.com/office/drawing/2014/main" val="1377738726"/>
                    </a:ext>
                  </a:extLst>
                </a:gridCol>
              </a:tblGrid>
              <a:tr h="957189">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Debt Index Funds/ETFs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a:t>
                      </a:r>
                    </a:p>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Value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YTM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MoD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Average</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Maturity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AAA</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SOV</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 &amp; Below</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Unrated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Others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662343043"/>
                  </a:ext>
                </a:extLst>
              </a:tr>
              <a:tr h="457554">
                <a:tc>
                  <a:txBody>
                    <a:bodyPr/>
                    <a:lstStyle/>
                    <a:p>
                      <a:pPr algn="l"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 MFs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0">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82797571"/>
                  </a:ext>
                </a:extLst>
              </a:tr>
              <a:tr h="542976">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Edelweiss NIFTY PSU Bond Plus SDL Index Fund'27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16.70%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6310305"/>
                  </a:ext>
                </a:extLst>
              </a:tr>
              <a:tr h="542976">
                <a:tc>
                  <a:txBody>
                    <a:bodyPr/>
                    <a:lstStyle/>
                    <a:p>
                      <a:pPr algn="l" rtl="0" fontAlgn="b"/>
                      <a:r>
                        <a:rPr lang="fr-FR"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ICICI </a:t>
                      </a:r>
                      <a:r>
                        <a:rPr lang="fr-FR"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Pru</a:t>
                      </a:r>
                      <a:r>
                        <a:rPr lang="fr-FR"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PSU Bond Plus SDL 2027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16.70%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5011056"/>
                  </a:ext>
                </a:extLst>
              </a:tr>
              <a:tr h="542976">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Nippon India Nifty AAA CPSE Bond Plus SDL - Apr'27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16.70%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7789230"/>
                  </a:ext>
                </a:extLst>
              </a:tr>
              <a:tr h="428883">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Structured Credit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10">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30359096"/>
                  </a:ext>
                </a:extLst>
              </a:tr>
              <a:tr h="542976">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Vivriti Alpha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6197582"/>
                  </a:ext>
                </a:extLst>
              </a:tr>
              <a:tr h="542976">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UTI SDOF III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rPr>
                        <a:t>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229015"/>
                  </a:ext>
                </a:extLst>
              </a:tr>
              <a:tr h="542976">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Total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Crisil Short-Term Bond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130921"/>
                  </a:ext>
                </a:extLst>
              </a:tr>
            </a:tbl>
          </a:graphicData>
        </a:graphic>
      </p:graphicFrame>
      <p:pic>
        <p:nvPicPr>
          <p:cNvPr id="2" name="Picture 22">
            <a:extLst>
              <a:ext uri="{FF2B5EF4-FFF2-40B4-BE49-F238E27FC236}">
                <a16:creationId xmlns:a16="http://schemas.microsoft.com/office/drawing/2014/main" id="{538FB7C2-17A2-76DE-461B-00B8B2DACBD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332257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E416A-42E1-BDA9-52AA-57C225995EC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9B756E2-36D3-7157-6817-95CC7A2FC974}"/>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3567D967-C7C3-909D-E61C-43742CF911B6}"/>
              </a:ext>
            </a:extLst>
          </p:cNvPr>
          <p:cNvGrpSpPr/>
          <p:nvPr/>
        </p:nvGrpSpPr>
        <p:grpSpPr>
          <a:xfrm>
            <a:off x="5639" y="161637"/>
            <a:ext cx="9640044" cy="461665"/>
            <a:chOff x="7048" y="445733"/>
            <a:chExt cx="14462299" cy="692604"/>
          </a:xfrm>
        </p:grpSpPr>
        <p:sp>
          <p:nvSpPr>
            <p:cNvPr id="9" name="TextBox 8">
              <a:extLst>
                <a:ext uri="{FF2B5EF4-FFF2-40B4-BE49-F238E27FC236}">
                  <a16:creationId xmlns:a16="http://schemas.microsoft.com/office/drawing/2014/main" id="{3B68A057-A891-844B-1DFE-D370704AE3AE}"/>
                </a:ext>
              </a:extLst>
            </p:cNvPr>
            <p:cNvSpPr txBox="1"/>
            <p:nvPr/>
          </p:nvSpPr>
          <p:spPr>
            <a:xfrm>
              <a:off x="496538" y="445733"/>
              <a:ext cx="13972809"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Outperforming &amp; Underperforming Debt Schemes (Since Inception)</a:t>
              </a:r>
            </a:p>
          </p:txBody>
        </p:sp>
        <p:cxnSp>
          <p:nvCxnSpPr>
            <p:cNvPr id="11" name="Straight Connector 10">
              <a:extLst>
                <a:ext uri="{FF2B5EF4-FFF2-40B4-BE49-F238E27FC236}">
                  <a16:creationId xmlns:a16="http://schemas.microsoft.com/office/drawing/2014/main" id="{E273074E-CAFF-9A69-441D-8440B6AC8F58}"/>
                </a:ext>
              </a:extLst>
            </p:cNvPr>
            <p:cNvCxnSpPr>
              <a:cxnSpLocks/>
            </p:cNvCxnSpPr>
            <p:nvPr/>
          </p:nvCxnSpPr>
          <p:spPr>
            <a:xfrm>
              <a:off x="7048" y="1138337"/>
              <a:ext cx="14433670"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25" name="Table 24">
            <a:extLst>
              <a:ext uri="{FF2B5EF4-FFF2-40B4-BE49-F238E27FC236}">
                <a16:creationId xmlns:a16="http://schemas.microsoft.com/office/drawing/2014/main" id="{86192F35-78CA-4C5E-CA9D-6114BB73D7ED}"/>
              </a:ext>
            </a:extLst>
          </p:cNvPr>
          <p:cNvGraphicFramePr>
            <a:graphicFrameLocks noGrp="1"/>
          </p:cNvGraphicFramePr>
          <p:nvPr>
            <p:extLst>
              <p:ext uri="{D42A27DB-BD31-4B8C-83A1-F6EECF244321}">
                <p14:modId xmlns:p14="http://schemas.microsoft.com/office/powerpoint/2010/main" val="2568243275"/>
              </p:ext>
            </p:extLst>
          </p:nvPr>
        </p:nvGraphicFramePr>
        <p:xfrm>
          <a:off x="6788071" y="1569073"/>
          <a:ext cx="4719556" cy="2820480"/>
        </p:xfrm>
        <a:graphic>
          <a:graphicData uri="http://schemas.openxmlformats.org/drawingml/2006/table">
            <a:tbl>
              <a:tblPr/>
              <a:tblGrid>
                <a:gridCol w="2117224">
                  <a:extLst>
                    <a:ext uri="{9D8B030D-6E8A-4147-A177-3AD203B41FA5}">
                      <a16:colId xmlns:a16="http://schemas.microsoft.com/office/drawing/2014/main" val="3988721725"/>
                    </a:ext>
                  </a:extLst>
                </a:gridCol>
                <a:gridCol w="795130">
                  <a:extLst>
                    <a:ext uri="{9D8B030D-6E8A-4147-A177-3AD203B41FA5}">
                      <a16:colId xmlns:a16="http://schemas.microsoft.com/office/drawing/2014/main" val="856967181"/>
                    </a:ext>
                  </a:extLst>
                </a:gridCol>
                <a:gridCol w="728870">
                  <a:extLst>
                    <a:ext uri="{9D8B030D-6E8A-4147-A177-3AD203B41FA5}">
                      <a16:colId xmlns:a16="http://schemas.microsoft.com/office/drawing/2014/main" val="537246312"/>
                    </a:ext>
                  </a:extLst>
                </a:gridCol>
                <a:gridCol w="1078332">
                  <a:extLst>
                    <a:ext uri="{9D8B030D-6E8A-4147-A177-3AD203B41FA5}">
                      <a16:colId xmlns:a16="http://schemas.microsoft.com/office/drawing/2014/main" val="2445433435"/>
                    </a:ext>
                  </a:extLst>
                </a:gridCol>
              </a:tblGrid>
              <a:tr h="303030">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Schemes Outperforming Benchmark</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Allocation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Outperformance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376745470"/>
                  </a:ext>
                </a:extLst>
              </a:tr>
              <a:tr h="303030">
                <a:tc>
                  <a:txBody>
                    <a:bodyPr/>
                    <a:lstStyle/>
                    <a:p>
                      <a:pPr algn="ctr"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2751976"/>
                  </a:ext>
                </a:extLst>
              </a:tr>
              <a:tr h="303030">
                <a:tc>
                  <a:txBody>
                    <a:bodyPr/>
                    <a:lstStyle/>
                    <a:p>
                      <a:pPr marL="0" marR="0" lvl="0" indent="0" algn="ctr" defTabSz="914400" rtl="0" eaLnBrk="1" fontAlgn="b" latinLnBrk="1" hangingPunct="1">
                        <a:lnSpc>
                          <a:spcPct val="100000"/>
                        </a:lnSpc>
                        <a:spcBef>
                          <a:spcPts val="0"/>
                        </a:spcBef>
                        <a:spcAft>
                          <a:spcPts val="0"/>
                        </a:spcAft>
                        <a:buClrTx/>
                        <a:buSzTx/>
                        <a:buFontTx/>
                        <a:buNone/>
                        <a:tabLst/>
                        <a:defRPr/>
                      </a:pPr>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6080492"/>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2897580"/>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4526951"/>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5108614"/>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47889"/>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FF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10505"/>
                  </a:ext>
                </a:extLst>
              </a:tr>
              <a:tr h="303030">
                <a:tc>
                  <a:txBody>
                    <a:bodyPr/>
                    <a:lstStyle/>
                    <a:p>
                      <a:pPr algn="ctr"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algn="ctr" defTabSz="914400" rtl="0" eaLnBrk="1" fontAlgn="ctr" latinLnBrk="1" hangingPunct="1"/>
                      <a:endParaRPr lang="en-IN" sz="1000" b="1" i="0" u="none" strike="noStrike" kern="120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708634504"/>
                  </a:ext>
                </a:extLst>
              </a:tr>
            </a:tbl>
          </a:graphicData>
        </a:graphic>
      </p:graphicFrame>
      <p:graphicFrame>
        <p:nvGraphicFramePr>
          <p:cNvPr id="26" name="Table 25">
            <a:extLst>
              <a:ext uri="{FF2B5EF4-FFF2-40B4-BE49-F238E27FC236}">
                <a16:creationId xmlns:a16="http://schemas.microsoft.com/office/drawing/2014/main" id="{85C8A9DE-EC40-24B3-3E63-9F4052E84C7A}"/>
              </a:ext>
            </a:extLst>
          </p:cNvPr>
          <p:cNvGraphicFramePr>
            <a:graphicFrameLocks noGrp="1"/>
          </p:cNvGraphicFramePr>
          <p:nvPr>
            <p:extLst>
              <p:ext uri="{D42A27DB-BD31-4B8C-83A1-F6EECF244321}">
                <p14:modId xmlns:p14="http://schemas.microsoft.com/office/powerpoint/2010/main" val="2965018051"/>
              </p:ext>
            </p:extLst>
          </p:nvPr>
        </p:nvGraphicFramePr>
        <p:xfrm>
          <a:off x="6788071" y="4605440"/>
          <a:ext cx="4724400" cy="1093053"/>
        </p:xfrm>
        <a:graphic>
          <a:graphicData uri="http://schemas.openxmlformats.org/drawingml/2006/table">
            <a:tbl>
              <a:tblPr/>
              <a:tblGrid>
                <a:gridCol w="2133600">
                  <a:extLst>
                    <a:ext uri="{9D8B030D-6E8A-4147-A177-3AD203B41FA5}">
                      <a16:colId xmlns:a16="http://schemas.microsoft.com/office/drawing/2014/main" val="3125479441"/>
                    </a:ext>
                  </a:extLst>
                </a:gridCol>
                <a:gridCol w="787400">
                  <a:extLst>
                    <a:ext uri="{9D8B030D-6E8A-4147-A177-3AD203B41FA5}">
                      <a16:colId xmlns:a16="http://schemas.microsoft.com/office/drawing/2014/main" val="3766241621"/>
                    </a:ext>
                  </a:extLst>
                </a:gridCol>
                <a:gridCol w="723900">
                  <a:extLst>
                    <a:ext uri="{9D8B030D-6E8A-4147-A177-3AD203B41FA5}">
                      <a16:colId xmlns:a16="http://schemas.microsoft.com/office/drawing/2014/main" val="1716874632"/>
                    </a:ext>
                  </a:extLst>
                </a:gridCol>
                <a:gridCol w="1079500">
                  <a:extLst>
                    <a:ext uri="{9D8B030D-6E8A-4147-A177-3AD203B41FA5}">
                      <a16:colId xmlns:a16="http://schemas.microsoft.com/office/drawing/2014/main" val="2990852637"/>
                    </a:ext>
                  </a:extLst>
                </a:gridCol>
              </a:tblGrid>
              <a:tr h="367523">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Schemes Underperforming 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Value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Under</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Performance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041186705"/>
                  </a:ext>
                </a:extLst>
              </a:tr>
              <a:tr h="362765">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FF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438768"/>
                  </a:ext>
                </a:extLst>
              </a:tr>
              <a:tr h="362765">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algn="ctr" defTabSz="914400" rtl="0" eaLnBrk="1" fontAlgn="ctr" latinLnBrk="1" hangingPunct="1"/>
                      <a:endParaRPr lang="en-IN" sz="1000" b="1" i="0" u="none" strike="noStrike" kern="120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771387319"/>
                  </a:ext>
                </a:extLst>
              </a:tr>
            </a:tbl>
          </a:graphicData>
        </a:graphic>
      </p:graphicFrame>
      <p:graphicFrame>
        <p:nvGraphicFramePr>
          <p:cNvPr id="2" name="Chart 1">
            <a:extLst>
              <a:ext uri="{FF2B5EF4-FFF2-40B4-BE49-F238E27FC236}">
                <a16:creationId xmlns:a16="http://schemas.microsoft.com/office/drawing/2014/main" id="{0E78CC80-BF9D-D24E-CA98-A4131A87885F}"/>
              </a:ext>
            </a:extLst>
          </p:cNvPr>
          <p:cNvGraphicFramePr/>
          <p:nvPr>
            <p:extLst>
              <p:ext uri="{D42A27DB-BD31-4B8C-83A1-F6EECF244321}">
                <p14:modId xmlns:p14="http://schemas.microsoft.com/office/powerpoint/2010/main" val="2659831957"/>
              </p:ext>
            </p:extLst>
          </p:nvPr>
        </p:nvGraphicFramePr>
        <p:xfrm>
          <a:off x="438573" y="1680545"/>
          <a:ext cx="5412352" cy="4349552"/>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E447E41C-7F7A-620C-6447-93BC8BF56D93}"/>
              </a:ext>
            </a:extLst>
          </p:cNvPr>
          <p:cNvSpPr txBox="1"/>
          <p:nvPr/>
        </p:nvSpPr>
        <p:spPr>
          <a:xfrm>
            <a:off x="2057398" y="3649537"/>
            <a:ext cx="1841159" cy="830997"/>
          </a:xfrm>
          <a:prstGeom prst="rect">
            <a:avLst/>
          </a:prstGeom>
          <a:noFill/>
        </p:spPr>
        <p:txBody>
          <a:bodyPr wrap="square" rtlCol="0">
            <a:spAutoFit/>
          </a:bodyPr>
          <a:lstStyle>
            <a:defPPr>
              <a:defRPr lang="en-US"/>
            </a:defPPr>
            <a:lvl1pPr>
              <a:defRPr sz="2400">
                <a:solidFill>
                  <a:srgbClr val="084795"/>
                </a:solidFill>
                <a:latin typeface="Roboto" panose="02000000000000000000" pitchFamily="2" charset="0"/>
                <a:ea typeface="Roboto" panose="02000000000000000000" pitchFamily="2" charset="0"/>
              </a:defRPr>
            </a:lvl1pPr>
          </a:lstStyle>
          <a:p>
            <a:pPr algn="ctr"/>
            <a:r>
              <a:rPr lang="en-IN" sz="1600" b="1" dirty="0"/>
              <a:t>Debt Portfolio Alpha: </a:t>
            </a:r>
          </a:p>
          <a:p>
            <a:pPr algn="ctr"/>
            <a:endParaRPr lang="en-IN" sz="1600" b="1" dirty="0"/>
          </a:p>
        </p:txBody>
      </p:sp>
      <p:sp>
        <p:nvSpPr>
          <p:cNvPr id="5" name="TextBox 4">
            <a:extLst>
              <a:ext uri="{FF2B5EF4-FFF2-40B4-BE49-F238E27FC236}">
                <a16:creationId xmlns:a16="http://schemas.microsoft.com/office/drawing/2014/main" id="{8932C27A-595E-8C2E-69BD-C98CE91C0E4C}"/>
              </a:ext>
            </a:extLst>
          </p:cNvPr>
          <p:cNvSpPr txBox="1"/>
          <p:nvPr/>
        </p:nvSpPr>
        <p:spPr>
          <a:xfrm>
            <a:off x="563777" y="1403178"/>
            <a:ext cx="4601347" cy="369332"/>
          </a:xfrm>
          <a:prstGeom prst="rect">
            <a:avLst/>
          </a:prstGeom>
          <a:noFill/>
        </p:spPr>
        <p:txBody>
          <a:bodyPr wrap="square">
            <a:spAutoFit/>
          </a:bodyPr>
          <a:lstStyle>
            <a:defPPr>
              <a:defRPr lang="en-US"/>
            </a:defPPr>
            <a:lvl1pPr algn="ctr">
              <a:defRPr b="1">
                <a:solidFill>
                  <a:srgbClr val="084795"/>
                </a:solidFill>
                <a:latin typeface="Roboto" panose="02000000000000000000" pitchFamily="2" charset="0"/>
                <a:ea typeface="Roboto" panose="02000000000000000000" pitchFamily="2" charset="0"/>
              </a:defRPr>
            </a:lvl1pPr>
          </a:lstStyle>
          <a:p>
            <a:r>
              <a:rPr lang="en-IN" b="0" dirty="0"/>
              <a:t>Debt Portfolio Performance </a:t>
            </a:r>
          </a:p>
        </p:txBody>
      </p:sp>
      <p:pic>
        <p:nvPicPr>
          <p:cNvPr id="6" name="Picture 22">
            <a:extLst>
              <a:ext uri="{FF2B5EF4-FFF2-40B4-BE49-F238E27FC236}">
                <a16:creationId xmlns:a16="http://schemas.microsoft.com/office/drawing/2014/main" id="{61CC6B4A-E072-56B6-D47D-733E471CE95C}"/>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4018658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cNvSpPr>
            <a:spLocks noGrp="1"/>
          </p:cNvSpPr>
          <p:nvPr/>
        </p:nvSpPr>
        <p:spPr>
          <a:xfrm>
            <a:off x="329701" y="2832812"/>
            <a:ext cx="11755200" cy="525111"/>
          </a:xfrm>
          <a:prstGeom prst="rect">
            <a:avLst/>
          </a:prstGeom>
          <a:ln>
            <a:solidFill>
              <a:schemeClr val="bg1"/>
            </a:solidFill>
          </a:ln>
        </p:spPr>
        <p:txBody>
          <a:bodyPr wrap="square" lIns="0" tIns="0" rIns="0" bIns="0" rtlCol="0" anchor="t"/>
          <a:lstStyle/>
          <a:p>
            <a:pPr algn="ctr">
              <a:lnSpc>
                <a:spcPct val="100000"/>
              </a:lnSpc>
              <a:defRPr sz="1200" b="1">
                <a:solidFill>
                  <a:srgbClr val="1F497D"/>
                </a:solidFill>
                <a:latin typeface="SansSerif"/>
                <a:ea typeface="SansSerif"/>
                <a:cs typeface="SansSerif"/>
              </a:defRPr>
            </a:pPr>
            <a:r>
              <a:rPr lang="en-US" sz="2670" b="1" dirty="0">
                <a:solidFill>
                  <a:srgbClr val="1F497D"/>
                </a:solidFill>
                <a:latin typeface="Roboto" panose="02000000000000000000" pitchFamily="2" charset="0"/>
                <a:ea typeface="Roboto" panose="02000000000000000000" pitchFamily="2" charset="0"/>
                <a:cs typeface="Roboto" panose="02000000000000000000" pitchFamily="2" charset="0"/>
              </a:rPr>
              <a:t>Hybrid Portfolio Review</a:t>
            </a:r>
            <a:endParaRPr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6" name="Line"/>
          <p:cNvSpPr>
            <a:spLocks noGrp="1"/>
          </p:cNvSpPr>
          <p:nvPr/>
        </p:nvSpPr>
        <p:spPr>
          <a:xfrm>
            <a:off x="318267" y="3279233"/>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pic>
        <p:nvPicPr>
          <p:cNvPr id="2" name="Picture 22">
            <a:extLst>
              <a:ext uri="{FF2B5EF4-FFF2-40B4-BE49-F238E27FC236}">
                <a16:creationId xmlns:a16="http://schemas.microsoft.com/office/drawing/2014/main" id="{F0DE8063-B359-BEB9-384D-F38F9372BA2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300995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17DDE-C1C3-5EB7-D889-95B419E13A3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35B663A-A2BF-FF2E-18A9-249FC347E201}"/>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32B578A4-0D04-3772-3F62-9A2479D76D59}"/>
              </a:ext>
            </a:extLst>
          </p:cNvPr>
          <p:cNvGrpSpPr/>
          <p:nvPr/>
        </p:nvGrpSpPr>
        <p:grpSpPr>
          <a:xfrm>
            <a:off x="5638" y="299502"/>
            <a:ext cx="9940872" cy="461665"/>
            <a:chOff x="7048" y="449323"/>
            <a:chExt cx="14913613" cy="692604"/>
          </a:xfrm>
        </p:grpSpPr>
        <p:sp>
          <p:nvSpPr>
            <p:cNvPr id="9" name="TextBox 8">
              <a:extLst>
                <a:ext uri="{FF2B5EF4-FFF2-40B4-BE49-F238E27FC236}">
                  <a16:creationId xmlns:a16="http://schemas.microsoft.com/office/drawing/2014/main" id="{C5CB6D8A-C0CB-A3DF-58FB-E1301F97FE6C}"/>
                </a:ext>
              </a:extLst>
            </p:cNvPr>
            <p:cNvSpPr txBox="1"/>
            <p:nvPr/>
          </p:nvSpPr>
          <p:spPr>
            <a:xfrm>
              <a:off x="481303" y="449323"/>
              <a:ext cx="14439358"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Hybrid Portfolio Performance : Last Quarter | 1 Year | Since Inception </a:t>
              </a:r>
            </a:p>
          </p:txBody>
        </p:sp>
        <p:cxnSp>
          <p:nvCxnSpPr>
            <p:cNvPr id="11" name="Straight Connector 10">
              <a:extLst>
                <a:ext uri="{FF2B5EF4-FFF2-40B4-BE49-F238E27FC236}">
                  <a16:creationId xmlns:a16="http://schemas.microsoft.com/office/drawing/2014/main" id="{AFD39197-ECE7-4105-C104-D2327AFFBAE7}"/>
                </a:ext>
              </a:extLst>
            </p:cNvPr>
            <p:cNvCxnSpPr>
              <a:cxnSpLocks/>
            </p:cNvCxnSpPr>
            <p:nvPr/>
          </p:nvCxnSpPr>
          <p:spPr>
            <a:xfrm>
              <a:off x="7048" y="1138337"/>
              <a:ext cx="14470499"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2" name="Table 1">
            <a:extLst>
              <a:ext uri="{FF2B5EF4-FFF2-40B4-BE49-F238E27FC236}">
                <a16:creationId xmlns:a16="http://schemas.microsoft.com/office/drawing/2014/main" id="{F7F4BE41-A0DA-5EC8-5912-9D48B47F43BD}"/>
              </a:ext>
            </a:extLst>
          </p:cNvPr>
          <p:cNvGraphicFramePr>
            <a:graphicFrameLocks noGrp="1"/>
          </p:cNvGraphicFramePr>
          <p:nvPr>
            <p:extLst>
              <p:ext uri="{D42A27DB-BD31-4B8C-83A1-F6EECF244321}">
                <p14:modId xmlns:p14="http://schemas.microsoft.com/office/powerpoint/2010/main" val="42837131"/>
              </p:ext>
            </p:extLst>
          </p:nvPr>
        </p:nvGraphicFramePr>
        <p:xfrm>
          <a:off x="152884" y="1525913"/>
          <a:ext cx="11799734" cy="2919385"/>
        </p:xfrm>
        <a:graphic>
          <a:graphicData uri="http://schemas.openxmlformats.org/drawingml/2006/table">
            <a:tbl>
              <a:tblPr/>
              <a:tblGrid>
                <a:gridCol w="2125249">
                  <a:extLst>
                    <a:ext uri="{9D8B030D-6E8A-4147-A177-3AD203B41FA5}">
                      <a16:colId xmlns:a16="http://schemas.microsoft.com/office/drawing/2014/main" val="501939378"/>
                    </a:ext>
                  </a:extLst>
                </a:gridCol>
                <a:gridCol w="925064">
                  <a:extLst>
                    <a:ext uri="{9D8B030D-6E8A-4147-A177-3AD203B41FA5}">
                      <a16:colId xmlns:a16="http://schemas.microsoft.com/office/drawing/2014/main" val="2358608019"/>
                    </a:ext>
                  </a:extLst>
                </a:gridCol>
                <a:gridCol w="1005724">
                  <a:extLst>
                    <a:ext uri="{9D8B030D-6E8A-4147-A177-3AD203B41FA5}">
                      <a16:colId xmlns:a16="http://schemas.microsoft.com/office/drawing/2014/main" val="114556264"/>
                    </a:ext>
                  </a:extLst>
                </a:gridCol>
                <a:gridCol w="838104">
                  <a:extLst>
                    <a:ext uri="{9D8B030D-6E8A-4147-A177-3AD203B41FA5}">
                      <a16:colId xmlns:a16="http://schemas.microsoft.com/office/drawing/2014/main" val="3190738785"/>
                    </a:ext>
                  </a:extLst>
                </a:gridCol>
                <a:gridCol w="838104">
                  <a:extLst>
                    <a:ext uri="{9D8B030D-6E8A-4147-A177-3AD203B41FA5}">
                      <a16:colId xmlns:a16="http://schemas.microsoft.com/office/drawing/2014/main" val="606572164"/>
                    </a:ext>
                  </a:extLst>
                </a:gridCol>
                <a:gridCol w="921915">
                  <a:extLst>
                    <a:ext uri="{9D8B030D-6E8A-4147-A177-3AD203B41FA5}">
                      <a16:colId xmlns:a16="http://schemas.microsoft.com/office/drawing/2014/main" val="979439031"/>
                    </a:ext>
                  </a:extLst>
                </a:gridCol>
                <a:gridCol w="921915">
                  <a:extLst>
                    <a:ext uri="{9D8B030D-6E8A-4147-A177-3AD203B41FA5}">
                      <a16:colId xmlns:a16="http://schemas.microsoft.com/office/drawing/2014/main" val="1597453989"/>
                    </a:ext>
                  </a:extLst>
                </a:gridCol>
                <a:gridCol w="921915">
                  <a:extLst>
                    <a:ext uri="{9D8B030D-6E8A-4147-A177-3AD203B41FA5}">
                      <a16:colId xmlns:a16="http://schemas.microsoft.com/office/drawing/2014/main" val="2250079211"/>
                    </a:ext>
                  </a:extLst>
                </a:gridCol>
                <a:gridCol w="921915">
                  <a:extLst>
                    <a:ext uri="{9D8B030D-6E8A-4147-A177-3AD203B41FA5}">
                      <a16:colId xmlns:a16="http://schemas.microsoft.com/office/drawing/2014/main" val="1895081802"/>
                    </a:ext>
                  </a:extLst>
                </a:gridCol>
                <a:gridCol w="850572">
                  <a:extLst>
                    <a:ext uri="{9D8B030D-6E8A-4147-A177-3AD203B41FA5}">
                      <a16:colId xmlns:a16="http://schemas.microsoft.com/office/drawing/2014/main" val="3127361674"/>
                    </a:ext>
                  </a:extLst>
                </a:gridCol>
                <a:gridCol w="760731">
                  <a:extLst>
                    <a:ext uri="{9D8B030D-6E8A-4147-A177-3AD203B41FA5}">
                      <a16:colId xmlns:a16="http://schemas.microsoft.com/office/drawing/2014/main" val="4068456675"/>
                    </a:ext>
                  </a:extLst>
                </a:gridCol>
                <a:gridCol w="768526">
                  <a:extLst>
                    <a:ext uri="{9D8B030D-6E8A-4147-A177-3AD203B41FA5}">
                      <a16:colId xmlns:a16="http://schemas.microsoft.com/office/drawing/2014/main" val="1984274104"/>
                    </a:ext>
                  </a:extLst>
                </a:gridCol>
              </a:tblGrid>
              <a:tr h="658924">
                <a:tc>
                  <a:txBody>
                    <a:bodyPr/>
                    <a:lstStyle/>
                    <a:p>
                      <a:pPr algn="ctr"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Hybrid Funds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Allocation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Amount                Invested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Weighted       Avg. Days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Market            Value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Scheme              (Jul-Sep’22)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Benchmark       (Jul-Sep’22)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Scheme             XIRR  (1 Yr.)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Benchmark            XIRR  (1 Yr.)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Scheme           XIRR (SI)</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Benchmark       XIRR (SI)</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694328871"/>
                  </a:ext>
                </a:extLst>
              </a:tr>
              <a:tr h="570607">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ICICI </a:t>
                      </a:r>
                      <a:r>
                        <a:rPr lang="en-US"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Pru</a:t>
                      </a: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Balanced Advantage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CA Blended         Index</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1161165"/>
                  </a:ext>
                </a:extLst>
              </a:tr>
              <a:tr h="570607">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Edelweiss Balanced Advantage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CA Blended         Index</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615378"/>
                  </a:ext>
                </a:extLst>
              </a:tr>
              <a:tr h="570607">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Tata Balanced Advantage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40.0%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CA Blended         Index</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6382895"/>
                  </a:ext>
                </a:extLst>
              </a:tr>
              <a:tr h="529849">
                <a:tc>
                  <a:txBody>
                    <a:bodyPr/>
                    <a:lstStyle/>
                    <a:p>
                      <a:pPr algn="l" fontAlgn="b"/>
                      <a:r>
                        <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Total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CA Blended         Index</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616593"/>
                  </a:ext>
                </a:extLst>
              </a:tr>
            </a:tbl>
          </a:graphicData>
        </a:graphic>
      </p:graphicFrame>
      <p:sp>
        <p:nvSpPr>
          <p:cNvPr id="4" name="TextBox 3">
            <a:extLst>
              <a:ext uri="{FF2B5EF4-FFF2-40B4-BE49-F238E27FC236}">
                <a16:creationId xmlns:a16="http://schemas.microsoft.com/office/drawing/2014/main" id="{2B482E29-4D91-CD34-6D0E-1697EFA11376}"/>
              </a:ext>
            </a:extLst>
          </p:cNvPr>
          <p:cNvSpPr txBox="1"/>
          <p:nvPr/>
        </p:nvSpPr>
        <p:spPr>
          <a:xfrm>
            <a:off x="8705088" y="6510528"/>
            <a:ext cx="3419856" cy="253916"/>
          </a:xfrm>
          <a:prstGeom prst="rect">
            <a:avLst/>
          </a:prstGeom>
          <a:noFill/>
        </p:spPr>
        <p:txBody>
          <a:bodyPr wrap="square" rtlCol="0">
            <a:spAutoFit/>
          </a:bodyPr>
          <a:lstStyle/>
          <a:p>
            <a:r>
              <a:rPr lang="en-US" sz="1050" dirty="0"/>
              <a:t>CA Blended Index: </a:t>
            </a:r>
            <a:r>
              <a:rPr lang="en-US" sz="1050" dirty="0">
                <a:effectLst/>
                <a:latin typeface="Calibri" panose="020F0502020204030204" pitchFamily="34" charset="0"/>
                <a:ea typeface="Times New Roman" panose="02020603050405020304" pitchFamily="18" charset="0"/>
              </a:rPr>
              <a:t>Balanced Advantage Category Average</a:t>
            </a:r>
            <a:endParaRPr lang="en-US" sz="1050" dirty="0"/>
          </a:p>
        </p:txBody>
      </p:sp>
      <p:pic>
        <p:nvPicPr>
          <p:cNvPr id="5" name="Picture 22">
            <a:extLst>
              <a:ext uri="{FF2B5EF4-FFF2-40B4-BE49-F238E27FC236}">
                <a16:creationId xmlns:a16="http://schemas.microsoft.com/office/drawing/2014/main" id="{1C554DDB-1F31-C860-5D6C-EE000020FFB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47062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416B8-0804-0951-41AA-DD775407F65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8E4FFD1-C58A-E6F9-225E-9103CBE39CD4}"/>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191F089C-D661-E587-5DE2-F3267DCCA4E5}"/>
              </a:ext>
            </a:extLst>
          </p:cNvPr>
          <p:cNvGrpSpPr/>
          <p:nvPr/>
        </p:nvGrpSpPr>
        <p:grpSpPr>
          <a:xfrm>
            <a:off x="5639" y="161637"/>
            <a:ext cx="9891715" cy="461665"/>
            <a:chOff x="7048" y="445733"/>
            <a:chExt cx="14839864" cy="692604"/>
          </a:xfrm>
        </p:grpSpPr>
        <p:sp>
          <p:nvSpPr>
            <p:cNvPr id="9" name="TextBox 8">
              <a:extLst>
                <a:ext uri="{FF2B5EF4-FFF2-40B4-BE49-F238E27FC236}">
                  <a16:creationId xmlns:a16="http://schemas.microsoft.com/office/drawing/2014/main" id="{C757ADAE-2120-2D9B-928B-981534440A5D}"/>
                </a:ext>
              </a:extLst>
            </p:cNvPr>
            <p:cNvSpPr txBox="1"/>
            <p:nvPr/>
          </p:nvSpPr>
          <p:spPr>
            <a:xfrm>
              <a:off x="496538" y="445733"/>
              <a:ext cx="14350374"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Outperforming &amp; Underperforming Hybrid Schemes (Since Inception)</a:t>
              </a:r>
            </a:p>
          </p:txBody>
        </p:sp>
        <p:cxnSp>
          <p:nvCxnSpPr>
            <p:cNvPr id="11" name="Straight Connector 10">
              <a:extLst>
                <a:ext uri="{FF2B5EF4-FFF2-40B4-BE49-F238E27FC236}">
                  <a16:creationId xmlns:a16="http://schemas.microsoft.com/office/drawing/2014/main" id="{0453DF16-ADA0-D783-5A0E-AAC676FE66AF}"/>
                </a:ext>
              </a:extLst>
            </p:cNvPr>
            <p:cNvCxnSpPr>
              <a:cxnSpLocks/>
            </p:cNvCxnSpPr>
            <p:nvPr/>
          </p:nvCxnSpPr>
          <p:spPr>
            <a:xfrm>
              <a:off x="7048" y="1138337"/>
              <a:ext cx="14433670"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25" name="Table 24">
            <a:extLst>
              <a:ext uri="{FF2B5EF4-FFF2-40B4-BE49-F238E27FC236}">
                <a16:creationId xmlns:a16="http://schemas.microsoft.com/office/drawing/2014/main" id="{2488E31C-0FAA-8BA7-87AA-238E59E82C7C}"/>
              </a:ext>
            </a:extLst>
          </p:cNvPr>
          <p:cNvGraphicFramePr>
            <a:graphicFrameLocks noGrp="1"/>
          </p:cNvGraphicFramePr>
          <p:nvPr>
            <p:extLst>
              <p:ext uri="{D42A27DB-BD31-4B8C-83A1-F6EECF244321}">
                <p14:modId xmlns:p14="http://schemas.microsoft.com/office/powerpoint/2010/main" val="3441011089"/>
              </p:ext>
            </p:extLst>
          </p:nvPr>
        </p:nvGraphicFramePr>
        <p:xfrm>
          <a:off x="6788071" y="1697764"/>
          <a:ext cx="4719556" cy="2820480"/>
        </p:xfrm>
        <a:graphic>
          <a:graphicData uri="http://schemas.openxmlformats.org/drawingml/2006/table">
            <a:tbl>
              <a:tblPr/>
              <a:tblGrid>
                <a:gridCol w="2117224">
                  <a:extLst>
                    <a:ext uri="{9D8B030D-6E8A-4147-A177-3AD203B41FA5}">
                      <a16:colId xmlns:a16="http://schemas.microsoft.com/office/drawing/2014/main" val="3988721725"/>
                    </a:ext>
                  </a:extLst>
                </a:gridCol>
                <a:gridCol w="795130">
                  <a:extLst>
                    <a:ext uri="{9D8B030D-6E8A-4147-A177-3AD203B41FA5}">
                      <a16:colId xmlns:a16="http://schemas.microsoft.com/office/drawing/2014/main" val="856967181"/>
                    </a:ext>
                  </a:extLst>
                </a:gridCol>
                <a:gridCol w="728870">
                  <a:extLst>
                    <a:ext uri="{9D8B030D-6E8A-4147-A177-3AD203B41FA5}">
                      <a16:colId xmlns:a16="http://schemas.microsoft.com/office/drawing/2014/main" val="537246312"/>
                    </a:ext>
                  </a:extLst>
                </a:gridCol>
                <a:gridCol w="1078332">
                  <a:extLst>
                    <a:ext uri="{9D8B030D-6E8A-4147-A177-3AD203B41FA5}">
                      <a16:colId xmlns:a16="http://schemas.microsoft.com/office/drawing/2014/main" val="2445433435"/>
                    </a:ext>
                  </a:extLst>
                </a:gridCol>
              </a:tblGrid>
              <a:tr h="282789">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Schemes Outperforming Benchmark</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Allocation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Outperformance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376745470"/>
                  </a:ext>
                </a:extLst>
              </a:tr>
              <a:tr h="303030">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2751976"/>
                  </a:ext>
                </a:extLst>
              </a:tr>
              <a:tr h="303030">
                <a:tc>
                  <a:txBody>
                    <a:bodyPr/>
                    <a:lstStyle/>
                    <a:p>
                      <a:pPr marL="0" marR="0" lvl="0" indent="0" algn="ctr" defTabSz="914400" rtl="0" eaLnBrk="1" fontAlgn="b" latinLnBrk="1" hangingPunct="1">
                        <a:lnSpc>
                          <a:spcPct val="100000"/>
                        </a:lnSpc>
                        <a:spcBef>
                          <a:spcPts val="0"/>
                        </a:spcBef>
                        <a:spcAft>
                          <a:spcPts val="0"/>
                        </a:spcAft>
                        <a:buClrTx/>
                        <a:buSzTx/>
                        <a:buFontTx/>
                        <a:buNone/>
                        <a:tabLst/>
                        <a:defRPr/>
                      </a:pPr>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6080492"/>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2897580"/>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4526951"/>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5108614"/>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00A288"/>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47889"/>
                  </a:ext>
                </a:extLst>
              </a:tr>
              <a:tr h="303030">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FF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10505"/>
                  </a:ext>
                </a:extLst>
              </a:tr>
              <a:tr h="303030">
                <a:tc>
                  <a:txBody>
                    <a:bodyPr/>
                    <a:lstStyle/>
                    <a:p>
                      <a:pPr algn="ctr"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algn="ctr" defTabSz="914400" rtl="0" eaLnBrk="1" fontAlgn="ctr" latinLnBrk="1" hangingPunct="1"/>
                      <a:endParaRPr lang="en-IN" sz="1000" b="1" i="0" u="none" strike="noStrike" kern="120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2708634504"/>
                  </a:ext>
                </a:extLst>
              </a:tr>
            </a:tbl>
          </a:graphicData>
        </a:graphic>
      </p:graphicFrame>
      <p:graphicFrame>
        <p:nvGraphicFramePr>
          <p:cNvPr id="26" name="Table 25">
            <a:extLst>
              <a:ext uri="{FF2B5EF4-FFF2-40B4-BE49-F238E27FC236}">
                <a16:creationId xmlns:a16="http://schemas.microsoft.com/office/drawing/2014/main" id="{F7542DA7-772D-726F-19AD-8F8D723165C7}"/>
              </a:ext>
            </a:extLst>
          </p:cNvPr>
          <p:cNvGraphicFramePr>
            <a:graphicFrameLocks noGrp="1"/>
          </p:cNvGraphicFramePr>
          <p:nvPr>
            <p:extLst>
              <p:ext uri="{D42A27DB-BD31-4B8C-83A1-F6EECF244321}">
                <p14:modId xmlns:p14="http://schemas.microsoft.com/office/powerpoint/2010/main" val="4216909343"/>
              </p:ext>
            </p:extLst>
          </p:nvPr>
        </p:nvGraphicFramePr>
        <p:xfrm>
          <a:off x="6788071" y="4605440"/>
          <a:ext cx="4724400" cy="1093053"/>
        </p:xfrm>
        <a:graphic>
          <a:graphicData uri="http://schemas.openxmlformats.org/drawingml/2006/table">
            <a:tbl>
              <a:tblPr/>
              <a:tblGrid>
                <a:gridCol w="2133600">
                  <a:extLst>
                    <a:ext uri="{9D8B030D-6E8A-4147-A177-3AD203B41FA5}">
                      <a16:colId xmlns:a16="http://schemas.microsoft.com/office/drawing/2014/main" val="3125479441"/>
                    </a:ext>
                  </a:extLst>
                </a:gridCol>
                <a:gridCol w="787400">
                  <a:extLst>
                    <a:ext uri="{9D8B030D-6E8A-4147-A177-3AD203B41FA5}">
                      <a16:colId xmlns:a16="http://schemas.microsoft.com/office/drawing/2014/main" val="3766241621"/>
                    </a:ext>
                  </a:extLst>
                </a:gridCol>
                <a:gridCol w="723900">
                  <a:extLst>
                    <a:ext uri="{9D8B030D-6E8A-4147-A177-3AD203B41FA5}">
                      <a16:colId xmlns:a16="http://schemas.microsoft.com/office/drawing/2014/main" val="1716874632"/>
                    </a:ext>
                  </a:extLst>
                </a:gridCol>
                <a:gridCol w="1079500">
                  <a:extLst>
                    <a:ext uri="{9D8B030D-6E8A-4147-A177-3AD203B41FA5}">
                      <a16:colId xmlns:a16="http://schemas.microsoft.com/office/drawing/2014/main" val="2990852637"/>
                    </a:ext>
                  </a:extLst>
                </a:gridCol>
              </a:tblGrid>
              <a:tr h="367523">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Schemes Underperforming 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Value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Under</a:t>
                      </a:r>
                    </a:p>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Performance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041186705"/>
                  </a:ext>
                </a:extLst>
              </a:tr>
              <a:tr h="362765">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1" hangingPunct="1"/>
                      <a:endParaRPr lang="en-IN" sz="1000" b="0" i="0" u="none" strike="noStrike" kern="1200" dirty="0">
                        <a:solidFill>
                          <a:srgbClr val="FF0000"/>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438768"/>
                  </a:ext>
                </a:extLst>
              </a:tr>
              <a:tr h="362765">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marL="0" algn="ctr" defTabSz="914400" rtl="0" eaLnBrk="1" fontAlgn="ctr" latinLnBrk="1" hangingPunct="1"/>
                      <a:endParaRPr lang="en-IN" sz="1000" b="1" i="0" u="none" strike="noStrike" kern="1200"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771387319"/>
                  </a:ext>
                </a:extLst>
              </a:tr>
            </a:tbl>
          </a:graphicData>
        </a:graphic>
      </p:graphicFrame>
      <p:graphicFrame>
        <p:nvGraphicFramePr>
          <p:cNvPr id="2" name="Chart 1">
            <a:extLst>
              <a:ext uri="{FF2B5EF4-FFF2-40B4-BE49-F238E27FC236}">
                <a16:creationId xmlns:a16="http://schemas.microsoft.com/office/drawing/2014/main" id="{B36F81EB-3C9A-BBE3-2326-AA4CCD293E7C}"/>
              </a:ext>
            </a:extLst>
          </p:cNvPr>
          <p:cNvGraphicFramePr/>
          <p:nvPr>
            <p:extLst>
              <p:ext uri="{D42A27DB-BD31-4B8C-83A1-F6EECF244321}">
                <p14:modId xmlns:p14="http://schemas.microsoft.com/office/powerpoint/2010/main" val="1902373096"/>
              </p:ext>
            </p:extLst>
          </p:nvPr>
        </p:nvGraphicFramePr>
        <p:xfrm>
          <a:off x="438573" y="1680545"/>
          <a:ext cx="5412352" cy="4349552"/>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AAE9BCA9-C8B5-97D4-80D6-1CF8F06A6987}"/>
              </a:ext>
            </a:extLst>
          </p:cNvPr>
          <p:cNvSpPr txBox="1"/>
          <p:nvPr/>
        </p:nvSpPr>
        <p:spPr>
          <a:xfrm>
            <a:off x="2057398" y="3649537"/>
            <a:ext cx="1841159" cy="830997"/>
          </a:xfrm>
          <a:prstGeom prst="rect">
            <a:avLst/>
          </a:prstGeom>
          <a:noFill/>
        </p:spPr>
        <p:txBody>
          <a:bodyPr wrap="square" rtlCol="0">
            <a:spAutoFit/>
          </a:bodyPr>
          <a:lstStyle>
            <a:defPPr>
              <a:defRPr lang="en-US"/>
            </a:defPPr>
            <a:lvl1pPr>
              <a:defRPr sz="2400">
                <a:solidFill>
                  <a:srgbClr val="084795"/>
                </a:solidFill>
                <a:latin typeface="Roboto" panose="02000000000000000000" pitchFamily="2" charset="0"/>
                <a:ea typeface="Roboto" panose="02000000000000000000" pitchFamily="2" charset="0"/>
              </a:defRPr>
            </a:lvl1pPr>
          </a:lstStyle>
          <a:p>
            <a:pPr algn="ctr"/>
            <a:r>
              <a:rPr lang="en-IN" sz="1600" b="1" dirty="0"/>
              <a:t>Hybrid Portfolio Alpha: </a:t>
            </a:r>
          </a:p>
          <a:p>
            <a:pPr algn="ctr"/>
            <a:endParaRPr lang="en-IN" sz="1600" b="1" dirty="0"/>
          </a:p>
        </p:txBody>
      </p:sp>
      <p:sp>
        <p:nvSpPr>
          <p:cNvPr id="5" name="TextBox 4">
            <a:extLst>
              <a:ext uri="{FF2B5EF4-FFF2-40B4-BE49-F238E27FC236}">
                <a16:creationId xmlns:a16="http://schemas.microsoft.com/office/drawing/2014/main" id="{3BB5FA1C-0DCE-182C-BFBF-6A90EFF53C4F}"/>
              </a:ext>
            </a:extLst>
          </p:cNvPr>
          <p:cNvSpPr txBox="1"/>
          <p:nvPr/>
        </p:nvSpPr>
        <p:spPr>
          <a:xfrm>
            <a:off x="563777" y="1403178"/>
            <a:ext cx="4601347" cy="369332"/>
          </a:xfrm>
          <a:prstGeom prst="rect">
            <a:avLst/>
          </a:prstGeom>
          <a:noFill/>
        </p:spPr>
        <p:txBody>
          <a:bodyPr wrap="square">
            <a:spAutoFit/>
          </a:bodyPr>
          <a:lstStyle>
            <a:defPPr>
              <a:defRPr lang="en-US"/>
            </a:defPPr>
            <a:lvl1pPr algn="ctr">
              <a:defRPr b="1">
                <a:solidFill>
                  <a:srgbClr val="084795"/>
                </a:solidFill>
                <a:latin typeface="Roboto" panose="02000000000000000000" pitchFamily="2" charset="0"/>
                <a:ea typeface="Roboto" panose="02000000000000000000" pitchFamily="2" charset="0"/>
              </a:defRPr>
            </a:lvl1pPr>
          </a:lstStyle>
          <a:p>
            <a:r>
              <a:rPr lang="en-IN" b="0" dirty="0"/>
              <a:t>Hybrid Portfolio Performance </a:t>
            </a:r>
          </a:p>
        </p:txBody>
      </p:sp>
      <p:pic>
        <p:nvPicPr>
          <p:cNvPr id="6" name="Picture 22">
            <a:extLst>
              <a:ext uri="{FF2B5EF4-FFF2-40B4-BE49-F238E27FC236}">
                <a16:creationId xmlns:a16="http://schemas.microsoft.com/office/drawing/2014/main" id="{D6C3ECF7-0FD6-6BCB-05D7-C92830A3442D}"/>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336259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cNvSpPr>
            <a:spLocks noGrp="1"/>
          </p:cNvSpPr>
          <p:nvPr/>
        </p:nvSpPr>
        <p:spPr>
          <a:xfrm>
            <a:off x="329701" y="2832812"/>
            <a:ext cx="11743766" cy="452256"/>
          </a:xfrm>
          <a:prstGeom prst="rect">
            <a:avLst/>
          </a:prstGeom>
          <a:ln>
            <a:solidFill>
              <a:schemeClr val="bg1"/>
            </a:solidFill>
          </a:ln>
        </p:spPr>
        <p:txBody>
          <a:bodyPr wrap="square" lIns="0" tIns="0" rIns="0" bIns="0" rtlCol="0" anchor="t"/>
          <a:lstStyle/>
          <a:p>
            <a:pPr algn="ctr">
              <a:lnSpc>
                <a:spcPct val="100000"/>
              </a:lnSpc>
              <a:defRPr sz="1200" b="1">
                <a:solidFill>
                  <a:srgbClr val="1F497D"/>
                </a:solidFill>
                <a:latin typeface="SansSerif"/>
                <a:ea typeface="SansSerif"/>
                <a:cs typeface="SansSerif"/>
              </a:defRPr>
            </a:pPr>
            <a:r>
              <a:rPr lang="en-US" sz="2670" b="1" dirty="0">
                <a:solidFill>
                  <a:srgbClr val="1F497D"/>
                </a:solidFill>
                <a:latin typeface="Roboto" panose="02000000000000000000" pitchFamily="2" charset="0"/>
                <a:ea typeface="Roboto" panose="02000000000000000000" pitchFamily="2" charset="0"/>
                <a:cs typeface="Roboto" panose="02000000000000000000" pitchFamily="2" charset="0"/>
              </a:rPr>
              <a:t>Alternative Portfolio Review</a:t>
            </a:r>
            <a:endParaRPr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6" name="Line"/>
          <p:cNvSpPr>
            <a:spLocks noGrp="1"/>
          </p:cNvSpPr>
          <p:nvPr/>
        </p:nvSpPr>
        <p:spPr>
          <a:xfrm>
            <a:off x="318267" y="3279233"/>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pic>
        <p:nvPicPr>
          <p:cNvPr id="2" name="Picture 22">
            <a:extLst>
              <a:ext uri="{FF2B5EF4-FFF2-40B4-BE49-F238E27FC236}">
                <a16:creationId xmlns:a16="http://schemas.microsoft.com/office/drawing/2014/main" id="{D475D176-3C34-709E-C898-05760F4675E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59117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EEABC-7F0F-82ED-555D-DC3A2F35983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0F58E83-B371-CFFD-CD0C-55C1E4CE397D}"/>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85D54FCB-55EE-F914-5551-82722E1EF275}"/>
              </a:ext>
            </a:extLst>
          </p:cNvPr>
          <p:cNvGrpSpPr/>
          <p:nvPr/>
        </p:nvGrpSpPr>
        <p:grpSpPr>
          <a:xfrm>
            <a:off x="5638" y="299502"/>
            <a:ext cx="6720438" cy="461665"/>
            <a:chOff x="7048" y="449323"/>
            <a:chExt cx="10082219" cy="692604"/>
          </a:xfrm>
        </p:grpSpPr>
        <p:sp>
          <p:nvSpPr>
            <p:cNvPr id="9" name="TextBox 8">
              <a:extLst>
                <a:ext uri="{FF2B5EF4-FFF2-40B4-BE49-F238E27FC236}">
                  <a16:creationId xmlns:a16="http://schemas.microsoft.com/office/drawing/2014/main" id="{CD7C3576-A75A-14AD-67A9-5E511099C058}"/>
                </a:ext>
              </a:extLst>
            </p:cNvPr>
            <p:cNvSpPr txBox="1"/>
            <p:nvPr/>
          </p:nvSpPr>
          <p:spPr>
            <a:xfrm>
              <a:off x="481303" y="449323"/>
              <a:ext cx="9607964"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Alternative Assets Portfolio – Global &amp; PE/VC</a:t>
              </a:r>
            </a:p>
          </p:txBody>
        </p:sp>
        <p:cxnSp>
          <p:nvCxnSpPr>
            <p:cNvPr id="11" name="Straight Connector 10">
              <a:extLst>
                <a:ext uri="{FF2B5EF4-FFF2-40B4-BE49-F238E27FC236}">
                  <a16:creationId xmlns:a16="http://schemas.microsoft.com/office/drawing/2014/main" id="{B0C052D1-4C05-5FDF-FB97-23338CAC61D0}"/>
                </a:ext>
              </a:extLst>
            </p:cNvPr>
            <p:cNvCxnSpPr>
              <a:cxnSpLocks/>
            </p:cNvCxnSpPr>
            <p:nvPr/>
          </p:nvCxnSpPr>
          <p:spPr>
            <a:xfrm>
              <a:off x="7048" y="1138337"/>
              <a:ext cx="9824787"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73C0A645-75F4-7D98-D02B-BBFE00932831}"/>
              </a:ext>
            </a:extLst>
          </p:cNvPr>
          <p:cNvSpPr txBox="1"/>
          <p:nvPr/>
        </p:nvSpPr>
        <p:spPr>
          <a:xfrm>
            <a:off x="1371605" y="6587035"/>
            <a:ext cx="10931718" cy="200055"/>
          </a:xfrm>
          <a:prstGeom prst="rect">
            <a:avLst/>
          </a:prstGeom>
          <a:noFill/>
        </p:spPr>
        <p:txBody>
          <a:bodyPr wrap="square" rtlCol="0">
            <a:spAutoFit/>
          </a:bodyPr>
          <a:lstStyle/>
          <a:p>
            <a:r>
              <a:rPr lang="en-US" sz="700" dirty="0">
                <a:latin typeface="Calibri" panose="020F0502020204030204" pitchFamily="34" charset="0"/>
                <a:ea typeface="Calibri" panose="020F0502020204030204" pitchFamily="34" charset="0"/>
                <a:cs typeface="Calibri" panose="020F0502020204030204" pitchFamily="34" charset="0"/>
              </a:rPr>
              <a:t>*TVPI – Total Value of Paid-in Capital, DPI – Net Distribution of Paid-in Capital to Investors |  ** BSE 500 Since PE/VC returns are back-ended, its performance with relevant benchmark would be compared upon realization of actual returns by the end of the fund’s tenure.</a:t>
            </a:r>
          </a:p>
        </p:txBody>
      </p:sp>
      <p:graphicFrame>
        <p:nvGraphicFramePr>
          <p:cNvPr id="4" name="Table 3">
            <a:extLst>
              <a:ext uri="{FF2B5EF4-FFF2-40B4-BE49-F238E27FC236}">
                <a16:creationId xmlns:a16="http://schemas.microsoft.com/office/drawing/2014/main" id="{E8CC84DB-8225-BDB0-4178-33392999CD21}"/>
              </a:ext>
            </a:extLst>
          </p:cNvPr>
          <p:cNvGraphicFramePr>
            <a:graphicFrameLocks noGrp="1"/>
          </p:cNvGraphicFramePr>
          <p:nvPr>
            <p:extLst>
              <p:ext uri="{D42A27DB-BD31-4B8C-83A1-F6EECF244321}">
                <p14:modId xmlns:p14="http://schemas.microsoft.com/office/powerpoint/2010/main" val="2971671847"/>
              </p:ext>
            </p:extLst>
          </p:nvPr>
        </p:nvGraphicFramePr>
        <p:xfrm>
          <a:off x="489848" y="1566680"/>
          <a:ext cx="11212301" cy="1793906"/>
        </p:xfrm>
        <a:graphic>
          <a:graphicData uri="http://schemas.openxmlformats.org/drawingml/2006/table">
            <a:tbl>
              <a:tblPr/>
              <a:tblGrid>
                <a:gridCol w="2189291">
                  <a:extLst>
                    <a:ext uri="{9D8B030D-6E8A-4147-A177-3AD203B41FA5}">
                      <a16:colId xmlns:a16="http://schemas.microsoft.com/office/drawing/2014/main" val="3536081817"/>
                    </a:ext>
                  </a:extLst>
                </a:gridCol>
                <a:gridCol w="750615">
                  <a:extLst>
                    <a:ext uri="{9D8B030D-6E8A-4147-A177-3AD203B41FA5}">
                      <a16:colId xmlns:a16="http://schemas.microsoft.com/office/drawing/2014/main" val="4025251342"/>
                    </a:ext>
                  </a:extLst>
                </a:gridCol>
                <a:gridCol w="828804">
                  <a:extLst>
                    <a:ext uri="{9D8B030D-6E8A-4147-A177-3AD203B41FA5}">
                      <a16:colId xmlns:a16="http://schemas.microsoft.com/office/drawing/2014/main" val="2369836669"/>
                    </a:ext>
                  </a:extLst>
                </a:gridCol>
                <a:gridCol w="675804">
                  <a:extLst>
                    <a:ext uri="{9D8B030D-6E8A-4147-A177-3AD203B41FA5}">
                      <a16:colId xmlns:a16="http://schemas.microsoft.com/office/drawing/2014/main" val="2725658583"/>
                    </a:ext>
                  </a:extLst>
                </a:gridCol>
                <a:gridCol w="707081">
                  <a:extLst>
                    <a:ext uri="{9D8B030D-6E8A-4147-A177-3AD203B41FA5}">
                      <a16:colId xmlns:a16="http://schemas.microsoft.com/office/drawing/2014/main" val="1316207226"/>
                    </a:ext>
                  </a:extLst>
                </a:gridCol>
                <a:gridCol w="822042">
                  <a:extLst>
                    <a:ext uri="{9D8B030D-6E8A-4147-A177-3AD203B41FA5}">
                      <a16:colId xmlns:a16="http://schemas.microsoft.com/office/drawing/2014/main" val="732430006"/>
                    </a:ext>
                  </a:extLst>
                </a:gridCol>
                <a:gridCol w="794144">
                  <a:extLst>
                    <a:ext uri="{9D8B030D-6E8A-4147-A177-3AD203B41FA5}">
                      <a16:colId xmlns:a16="http://schemas.microsoft.com/office/drawing/2014/main" val="167746044"/>
                    </a:ext>
                  </a:extLst>
                </a:gridCol>
                <a:gridCol w="769635">
                  <a:extLst>
                    <a:ext uri="{9D8B030D-6E8A-4147-A177-3AD203B41FA5}">
                      <a16:colId xmlns:a16="http://schemas.microsoft.com/office/drawing/2014/main" val="995128036"/>
                    </a:ext>
                  </a:extLst>
                </a:gridCol>
                <a:gridCol w="822634">
                  <a:extLst>
                    <a:ext uri="{9D8B030D-6E8A-4147-A177-3AD203B41FA5}">
                      <a16:colId xmlns:a16="http://schemas.microsoft.com/office/drawing/2014/main" val="3006189"/>
                    </a:ext>
                  </a:extLst>
                </a:gridCol>
                <a:gridCol w="786828">
                  <a:extLst>
                    <a:ext uri="{9D8B030D-6E8A-4147-A177-3AD203B41FA5}">
                      <a16:colId xmlns:a16="http://schemas.microsoft.com/office/drawing/2014/main" val="1402395798"/>
                    </a:ext>
                  </a:extLst>
                </a:gridCol>
                <a:gridCol w="752266">
                  <a:extLst>
                    <a:ext uri="{9D8B030D-6E8A-4147-A177-3AD203B41FA5}">
                      <a16:colId xmlns:a16="http://schemas.microsoft.com/office/drawing/2014/main" val="1717821430"/>
                    </a:ext>
                  </a:extLst>
                </a:gridCol>
                <a:gridCol w="1313157">
                  <a:extLst>
                    <a:ext uri="{9D8B030D-6E8A-4147-A177-3AD203B41FA5}">
                      <a16:colId xmlns:a16="http://schemas.microsoft.com/office/drawing/2014/main" val="2326277400"/>
                    </a:ext>
                  </a:extLst>
                </a:gridCol>
              </a:tblGrid>
              <a:tr h="475521">
                <a:tc>
                  <a:txBody>
                    <a:bodyPr/>
                    <a:lstStyle/>
                    <a:p>
                      <a:pPr algn="ctr"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Alternate Funds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Allocation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Amount          Invested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WA. Days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a:t>
                      </a:r>
                      <a:r>
                        <a:rPr lang="en-US" sz="1000" b="1" i="0"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Qly</a:t>
                      </a: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a:t>
                      </a:r>
                      <a:r>
                        <a:rPr lang="en-US" sz="1000" b="1" i="0"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Qly</a:t>
                      </a: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XIRR (1 Yr.)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XIRR (1 Yr.)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Scheme         XIRR (SI)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    XIRR (SI)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84795"/>
                    </a:solidFill>
                  </a:tcPr>
                </a:tc>
                <a:extLst>
                  <a:ext uri="{0D108BD9-81ED-4DB2-BD59-A6C34878D82A}">
                    <a16:rowId xmlns:a16="http://schemas.microsoft.com/office/drawing/2014/main" val="888280269"/>
                  </a:ext>
                </a:extLst>
              </a:tr>
              <a:tr h="263677">
                <a:tc>
                  <a:txBody>
                    <a:bodyPr/>
                    <a:lstStyle/>
                    <a:p>
                      <a:pPr algn="l"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International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54285812"/>
                  </a:ext>
                </a:extLst>
              </a:tr>
              <a:tr h="263677">
                <a:tc>
                  <a:txBody>
                    <a:bodyPr/>
                    <a:lstStyle/>
                    <a:p>
                      <a:pPr algn="l" rtl="0"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Kristal AI Global Fund of Funds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Blended Index</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4278414"/>
                  </a:ext>
                </a:extLst>
              </a:tr>
              <a:tr h="263677">
                <a:tc>
                  <a:txBody>
                    <a:bodyPr/>
                    <a:lstStyle/>
                    <a:p>
                      <a:pPr algn="l" rtl="0"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Motilal Nasdaq 100 </a:t>
                      </a:r>
                      <a:r>
                        <a:rPr lang="en-US"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FoF</a:t>
                      </a: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Nasdaq 100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2288253"/>
                  </a:ext>
                </a:extLst>
              </a:tr>
              <a:tr h="263677">
                <a:tc>
                  <a:txBody>
                    <a:bodyPr/>
                    <a:lstStyle/>
                    <a:p>
                      <a:pPr algn="l" rtl="0"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S&amp;P 500 ETF</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S&amp;P 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8073979"/>
                  </a:ext>
                </a:extLst>
              </a:tr>
              <a:tr h="263677">
                <a:tc gridSpan="2">
                  <a:txBody>
                    <a:bodyPr/>
                    <a:lstStyle/>
                    <a:p>
                      <a:pPr algn="ctr"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Total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5500" marR="5500" marT="55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en-US" sz="1000" b="0" i="0" u="none" strike="noStrike" kern="1200"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8411975"/>
                  </a:ext>
                </a:extLst>
              </a:tr>
            </a:tbl>
          </a:graphicData>
        </a:graphic>
      </p:graphicFrame>
      <p:graphicFrame>
        <p:nvGraphicFramePr>
          <p:cNvPr id="5" name="Table 4">
            <a:extLst>
              <a:ext uri="{FF2B5EF4-FFF2-40B4-BE49-F238E27FC236}">
                <a16:creationId xmlns:a16="http://schemas.microsoft.com/office/drawing/2014/main" id="{B1C67932-923E-773E-666A-E1C63E6CB8FA}"/>
              </a:ext>
            </a:extLst>
          </p:cNvPr>
          <p:cNvGraphicFramePr>
            <a:graphicFrameLocks noGrp="1"/>
          </p:cNvGraphicFramePr>
          <p:nvPr>
            <p:extLst>
              <p:ext uri="{D42A27DB-BD31-4B8C-83A1-F6EECF244321}">
                <p14:modId xmlns:p14="http://schemas.microsoft.com/office/powerpoint/2010/main" val="1089418950"/>
              </p:ext>
            </p:extLst>
          </p:nvPr>
        </p:nvGraphicFramePr>
        <p:xfrm>
          <a:off x="539496" y="3730752"/>
          <a:ext cx="11192255" cy="1845090"/>
        </p:xfrm>
        <a:graphic>
          <a:graphicData uri="http://schemas.openxmlformats.org/drawingml/2006/table">
            <a:tbl>
              <a:tblPr/>
              <a:tblGrid>
                <a:gridCol w="1977688">
                  <a:extLst>
                    <a:ext uri="{9D8B030D-6E8A-4147-A177-3AD203B41FA5}">
                      <a16:colId xmlns:a16="http://schemas.microsoft.com/office/drawing/2014/main" val="2242456785"/>
                    </a:ext>
                  </a:extLst>
                </a:gridCol>
                <a:gridCol w="893623">
                  <a:extLst>
                    <a:ext uri="{9D8B030D-6E8A-4147-A177-3AD203B41FA5}">
                      <a16:colId xmlns:a16="http://schemas.microsoft.com/office/drawing/2014/main" val="3872548556"/>
                    </a:ext>
                  </a:extLst>
                </a:gridCol>
                <a:gridCol w="1699348">
                  <a:extLst>
                    <a:ext uri="{9D8B030D-6E8A-4147-A177-3AD203B41FA5}">
                      <a16:colId xmlns:a16="http://schemas.microsoft.com/office/drawing/2014/main" val="1842243119"/>
                    </a:ext>
                  </a:extLst>
                </a:gridCol>
                <a:gridCol w="1186613">
                  <a:extLst>
                    <a:ext uri="{9D8B030D-6E8A-4147-A177-3AD203B41FA5}">
                      <a16:colId xmlns:a16="http://schemas.microsoft.com/office/drawing/2014/main" val="1016962043"/>
                    </a:ext>
                  </a:extLst>
                </a:gridCol>
                <a:gridCol w="1421006">
                  <a:extLst>
                    <a:ext uri="{9D8B030D-6E8A-4147-A177-3AD203B41FA5}">
                      <a16:colId xmlns:a16="http://schemas.microsoft.com/office/drawing/2014/main" val="684457169"/>
                    </a:ext>
                  </a:extLst>
                </a:gridCol>
                <a:gridCol w="1025468">
                  <a:extLst>
                    <a:ext uri="{9D8B030D-6E8A-4147-A177-3AD203B41FA5}">
                      <a16:colId xmlns:a16="http://schemas.microsoft.com/office/drawing/2014/main" val="334668813"/>
                    </a:ext>
                  </a:extLst>
                </a:gridCol>
                <a:gridCol w="761778">
                  <a:extLst>
                    <a:ext uri="{9D8B030D-6E8A-4147-A177-3AD203B41FA5}">
                      <a16:colId xmlns:a16="http://schemas.microsoft.com/office/drawing/2014/main" val="1116028630"/>
                    </a:ext>
                  </a:extLst>
                </a:gridCol>
                <a:gridCol w="615281">
                  <a:extLst>
                    <a:ext uri="{9D8B030D-6E8A-4147-A177-3AD203B41FA5}">
                      <a16:colId xmlns:a16="http://schemas.microsoft.com/office/drawing/2014/main" val="2892569867"/>
                    </a:ext>
                  </a:extLst>
                </a:gridCol>
                <a:gridCol w="673879">
                  <a:extLst>
                    <a:ext uri="{9D8B030D-6E8A-4147-A177-3AD203B41FA5}">
                      <a16:colId xmlns:a16="http://schemas.microsoft.com/office/drawing/2014/main" val="390735182"/>
                    </a:ext>
                  </a:extLst>
                </a:gridCol>
                <a:gridCol w="937571">
                  <a:extLst>
                    <a:ext uri="{9D8B030D-6E8A-4147-A177-3AD203B41FA5}">
                      <a16:colId xmlns:a16="http://schemas.microsoft.com/office/drawing/2014/main" val="106306732"/>
                    </a:ext>
                  </a:extLst>
                </a:gridCol>
              </a:tblGrid>
              <a:tr h="210660">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Alternate Funds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a:solidFill>
                            <a:srgbClr val="FFFFFF"/>
                          </a:solidFill>
                          <a:effectLst/>
                          <a:latin typeface="Roboto" panose="02000000000000000000" pitchFamily="2" charset="0"/>
                          <a:ea typeface="Roboto" panose="02000000000000000000" pitchFamily="2" charset="0"/>
                          <a:cs typeface="Roboto" panose="02000000000000000000" pitchFamily="2" charset="0"/>
                        </a:rPr>
                        <a:t>Allocation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Amount Committed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a:solidFill>
                            <a:srgbClr val="FFFFFF"/>
                          </a:solidFill>
                          <a:effectLst/>
                          <a:latin typeface="Roboto" panose="02000000000000000000" pitchFamily="2" charset="0"/>
                          <a:ea typeface="Roboto" panose="02000000000000000000" pitchFamily="2" charset="0"/>
                          <a:cs typeface="Roboto" panose="02000000000000000000" pitchFamily="2" charset="0"/>
                        </a:rPr>
                        <a:t> Drawn-down %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Weighted Avg. Days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Market Value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TVPI*</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DPI</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XIRR (SI)</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Benchmark**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1525728757"/>
                  </a:ext>
                </a:extLst>
              </a:tr>
              <a:tr h="326886">
                <a:tc>
                  <a:txBody>
                    <a:bodyPr/>
                    <a:lstStyle/>
                    <a:p>
                      <a:pPr algn="l"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Private Equity/Venture Capital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70.00%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5200724"/>
                  </a:ext>
                </a:extLst>
              </a:tr>
              <a:tr h="326886">
                <a:tc>
                  <a:txBody>
                    <a:bodyPr/>
                    <a:lstStyle/>
                    <a:p>
                      <a:pPr algn="l" rtl="0"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Mutliples IV</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40.00%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2758275"/>
                  </a:ext>
                </a:extLst>
              </a:tr>
              <a:tr h="326886">
                <a:tc>
                  <a:txBody>
                    <a:bodyPr/>
                    <a:lstStyle/>
                    <a:p>
                      <a:pPr algn="l" rtl="0"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Investcorp</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20.00%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0221287"/>
                  </a:ext>
                </a:extLst>
              </a:tr>
              <a:tr h="326886">
                <a:tc>
                  <a:txBody>
                    <a:bodyPr/>
                    <a:lstStyle/>
                    <a:p>
                      <a:pPr algn="l" rtl="0"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Blume IY</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20.00%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NA</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4445842"/>
                  </a:ext>
                </a:extLst>
              </a:tr>
              <a:tr h="326886">
                <a:tc gridSpan="2">
                  <a:txBody>
                    <a:bodyPr/>
                    <a:lstStyle/>
                    <a:p>
                      <a:pPr algn="ctr" rtl="0" fontAlgn="ctr"/>
                      <a:r>
                        <a:rPr lang="en-US"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Total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9660170"/>
                  </a:ext>
                </a:extLst>
              </a:tr>
            </a:tbl>
          </a:graphicData>
        </a:graphic>
      </p:graphicFrame>
      <p:pic>
        <p:nvPicPr>
          <p:cNvPr id="3" name="Picture 22">
            <a:extLst>
              <a:ext uri="{FF2B5EF4-FFF2-40B4-BE49-F238E27FC236}">
                <a16:creationId xmlns:a16="http://schemas.microsoft.com/office/drawing/2014/main" id="{2223AAB7-35FA-245B-CA0C-54B8F94CA97E}"/>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6531547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96DD5-4E5F-7C14-55C1-ACF016EC4691}"/>
            </a:ext>
          </a:extLst>
        </p:cNvPr>
        <p:cNvGrpSpPr/>
        <p:nvPr/>
      </p:nvGrpSpPr>
      <p:grpSpPr>
        <a:xfrm>
          <a:off x="0" y="0"/>
          <a:ext cx="0" cy="0"/>
          <a:chOff x="0" y="0"/>
          <a:chExt cx="0" cy="0"/>
        </a:xfrm>
      </p:grpSpPr>
      <p:sp>
        <p:nvSpPr>
          <p:cNvPr id="5" name="Text">
            <a:extLst>
              <a:ext uri="{FF2B5EF4-FFF2-40B4-BE49-F238E27FC236}">
                <a16:creationId xmlns:a16="http://schemas.microsoft.com/office/drawing/2014/main" id="{49343EEF-301C-4D93-21AB-EDAE529A4764}"/>
              </a:ext>
            </a:extLst>
          </p:cNvPr>
          <p:cNvSpPr>
            <a:spLocks noGrp="1"/>
          </p:cNvSpPr>
          <p:nvPr/>
        </p:nvSpPr>
        <p:spPr>
          <a:xfrm>
            <a:off x="239187" y="2720274"/>
            <a:ext cx="10875963" cy="420687"/>
          </a:xfrm>
          <a:prstGeom prst="rect">
            <a:avLst/>
          </a:prstGeom>
          <a:ln>
            <a:solidFill>
              <a:schemeClr val="bg1"/>
            </a:solidFill>
          </a:ln>
        </p:spPr>
        <p:txBody>
          <a:bodyPr lIns="0" tIns="0" rIns="0" bIns="0"/>
          <a:lstStyle/>
          <a:p>
            <a:pPr algn="ctr">
              <a:defRPr sz="1200" b="1">
                <a:solidFill>
                  <a:srgbClr val="1F497D"/>
                </a:solidFill>
                <a:latin typeface="SansSerif"/>
                <a:ea typeface="SansSerif"/>
                <a:cs typeface="SansSerif"/>
              </a:defRPr>
            </a:pPr>
            <a:r>
              <a:rPr lang="en-US" sz="2670" b="1" dirty="0">
                <a:solidFill>
                  <a:srgbClr val="1F497D"/>
                </a:solidFill>
                <a:latin typeface="Roboto" panose="02000000000000000000" pitchFamily="2" charset="0"/>
                <a:ea typeface="Roboto" panose="02000000000000000000" pitchFamily="2" charset="0"/>
                <a:cs typeface="Roboto" panose="02000000000000000000" pitchFamily="2" charset="0"/>
              </a:rPr>
              <a:t>Portfolio Recommendations</a:t>
            </a:r>
            <a:endParaRPr lang="it-IT"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a:p>
            <a:pPr algn="ctr">
              <a:defRPr sz="1200" b="1">
                <a:solidFill>
                  <a:srgbClr val="1F497D"/>
                </a:solidFill>
                <a:latin typeface="SansSerif"/>
                <a:ea typeface="SansSerif"/>
                <a:cs typeface="SansSerif"/>
              </a:defRPr>
            </a:pPr>
            <a:endParaRPr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73732" name="Line">
            <a:extLst>
              <a:ext uri="{FF2B5EF4-FFF2-40B4-BE49-F238E27FC236}">
                <a16:creationId xmlns:a16="http://schemas.microsoft.com/office/drawing/2014/main" id="{258FC121-35F9-9A41-67BC-83F0E753A58B}"/>
              </a:ext>
            </a:extLst>
          </p:cNvPr>
          <p:cNvSpPr>
            <a:spLocks noGrp="1"/>
          </p:cNvSpPr>
          <p:nvPr/>
        </p:nvSpPr>
        <p:spPr bwMode="auto">
          <a:xfrm>
            <a:off x="317501" y="3279776"/>
            <a:ext cx="11755439" cy="4763"/>
          </a:xfrm>
          <a:prstGeom prst="line">
            <a:avLst/>
          </a:prstGeom>
          <a:noFill/>
          <a:ln w="19050">
            <a:solidFill>
              <a:srgbClr val="4AB38B"/>
            </a:solidFill>
            <a:round/>
            <a:headEnd/>
            <a:tailEnd/>
          </a:ln>
          <a:extLst>
            <a:ext uri="{909E8E84-426E-40DD-AFC4-6F175D3DCCD1}">
              <a14:hiddenFill xmlns:a14="http://schemas.microsoft.com/office/drawing/2010/main">
                <a:noFill/>
              </a14:hiddenFill>
            </a:ext>
          </a:extLst>
        </p:spPr>
        <p:txBody>
          <a:bodyPr anchor="ctr"/>
          <a:lstStyle/>
          <a:p>
            <a:endParaRPr lang="en-US" sz="2400"/>
          </a:p>
        </p:txBody>
      </p:sp>
      <p:pic>
        <p:nvPicPr>
          <p:cNvPr id="2" name="Picture 22">
            <a:extLst>
              <a:ext uri="{FF2B5EF4-FFF2-40B4-BE49-F238E27FC236}">
                <a16:creationId xmlns:a16="http://schemas.microsoft.com/office/drawing/2014/main" id="{342DB5C7-882C-D098-6599-63F392EEADB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990087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9E72A-2449-6525-7C92-2E2E3D5D381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A4B7E8C-0D08-8A9E-05CB-2614F95EA0E0}"/>
              </a:ext>
            </a:extLst>
          </p:cNvPr>
          <p:cNvGrpSpPr/>
          <p:nvPr/>
        </p:nvGrpSpPr>
        <p:grpSpPr>
          <a:xfrm>
            <a:off x="5639" y="161637"/>
            <a:ext cx="4358149" cy="461665"/>
            <a:chOff x="7048" y="445733"/>
            <a:chExt cx="6538234" cy="692604"/>
          </a:xfrm>
        </p:grpSpPr>
        <p:sp>
          <p:nvSpPr>
            <p:cNvPr id="3" name="TextBox 2">
              <a:extLst>
                <a:ext uri="{FF2B5EF4-FFF2-40B4-BE49-F238E27FC236}">
                  <a16:creationId xmlns:a16="http://schemas.microsoft.com/office/drawing/2014/main" id="{E717E5E3-B7A0-506C-A34B-F8BC5556466B}"/>
                </a:ext>
              </a:extLst>
            </p:cNvPr>
            <p:cNvSpPr txBox="1"/>
            <p:nvPr/>
          </p:nvSpPr>
          <p:spPr>
            <a:xfrm>
              <a:off x="496538" y="445733"/>
              <a:ext cx="6048744"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Portfolio Recommendations</a:t>
              </a:r>
            </a:p>
          </p:txBody>
        </p:sp>
        <p:cxnSp>
          <p:nvCxnSpPr>
            <p:cNvPr id="4" name="Straight Connector 3">
              <a:extLst>
                <a:ext uri="{FF2B5EF4-FFF2-40B4-BE49-F238E27FC236}">
                  <a16:creationId xmlns:a16="http://schemas.microsoft.com/office/drawing/2014/main" id="{6C3F35B6-2220-E60F-E33F-D8557EFE94CE}"/>
                </a:ext>
              </a:extLst>
            </p:cNvPr>
            <p:cNvCxnSpPr>
              <a:cxnSpLocks/>
            </p:cNvCxnSpPr>
            <p:nvPr/>
          </p:nvCxnSpPr>
          <p:spPr>
            <a:xfrm>
              <a:off x="7048" y="1138337"/>
              <a:ext cx="6297264"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B770F02E-8879-7F84-BE76-12DFF81AD085}"/>
              </a:ext>
            </a:extLst>
          </p:cNvPr>
          <p:cNvSpPr/>
          <p:nvPr/>
        </p:nvSpPr>
        <p:spPr>
          <a:xfrm>
            <a:off x="439666" y="1243277"/>
            <a:ext cx="11312667" cy="17135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The portfolio has a Net Equity exposure of 70.9% and is pretty much aligned with our strategic IPS allocation of 70%/30% in Equity/Debt. </a:t>
            </a:r>
          </a:p>
          <a:p>
            <a:pPr marL="17145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CA's House View: Mid &amp; Small-Cap: Underweight | Large-Cap: Neutral | Value Investing: Underweight </a:t>
            </a:r>
          </a:p>
          <a:p>
            <a:pPr marL="17145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Based on our current stance we recommend the following actions: </a:t>
            </a:r>
          </a:p>
          <a:p>
            <a:pPr marL="685800" lvl="1" indent="-228600" algn="just">
              <a:spcBef>
                <a:spcPts val="300"/>
              </a:spcBef>
              <a:spcAft>
                <a:spcPts val="300"/>
              </a:spcAft>
              <a:buFont typeface="+mj-lt"/>
              <a:buAutoNum type="arabicPeriod"/>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Reduce exposure to the Value (tilt) funds: come out of DSP Equity Opportunities Fund amounting to ~9.2 cr. </a:t>
            </a:r>
          </a:p>
          <a:p>
            <a:pPr marL="685800" lvl="1" indent="-228600" algn="just">
              <a:spcBef>
                <a:spcPts val="300"/>
              </a:spcBef>
              <a:spcAft>
                <a:spcPts val="300"/>
              </a:spcAft>
              <a:buFont typeface="+mj-lt"/>
              <a:buAutoNum type="arabicPeriod"/>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Invest the proceeds  to a Large-cap focused growth fund Nippon India Large Cap Fund. </a:t>
            </a:r>
          </a:p>
          <a:p>
            <a:pPr marL="171450" indent="-171450" algn="just">
              <a:spcBef>
                <a:spcPts val="300"/>
              </a:spcBef>
              <a:spcAft>
                <a:spcPts val="300"/>
              </a:spcAft>
              <a:buFont typeface="Wingdings" panose="05000000000000000000" pitchFamily="2" charset="2"/>
              <a:buChar char="§"/>
              <a:defRPr/>
            </a:pPr>
            <a:r>
              <a:rPr lang="en-US" sz="1100" dirty="0">
                <a:solidFill>
                  <a:srgbClr val="002060"/>
                </a:solidFill>
                <a:latin typeface="Roboto" panose="02000000000000000000" pitchFamily="2" charset="0"/>
                <a:ea typeface="Roboto" panose="02000000000000000000" pitchFamily="2" charset="0"/>
                <a:cs typeface="Roboto" panose="02000000000000000000" pitchFamily="2" charset="0"/>
              </a:rPr>
              <a:t>The proposed allocations would position the portfolio for an imminent reversal in the value cycle in favor of high-quality Growth companies. </a:t>
            </a:r>
          </a:p>
        </p:txBody>
      </p:sp>
      <p:graphicFrame>
        <p:nvGraphicFramePr>
          <p:cNvPr id="7" name="Table 6">
            <a:extLst>
              <a:ext uri="{FF2B5EF4-FFF2-40B4-BE49-F238E27FC236}">
                <a16:creationId xmlns:a16="http://schemas.microsoft.com/office/drawing/2014/main" id="{3C53E14D-FE98-FB69-270A-838B3CAD22AD}"/>
              </a:ext>
            </a:extLst>
          </p:cNvPr>
          <p:cNvGraphicFramePr>
            <a:graphicFrameLocks noGrp="1"/>
          </p:cNvGraphicFramePr>
          <p:nvPr>
            <p:extLst>
              <p:ext uri="{D42A27DB-BD31-4B8C-83A1-F6EECF244321}">
                <p14:modId xmlns:p14="http://schemas.microsoft.com/office/powerpoint/2010/main" val="1365834016"/>
              </p:ext>
            </p:extLst>
          </p:nvPr>
        </p:nvGraphicFramePr>
        <p:xfrm>
          <a:off x="435430" y="3217178"/>
          <a:ext cx="11345444" cy="3258050"/>
        </p:xfrm>
        <a:graphic>
          <a:graphicData uri="http://schemas.openxmlformats.org/drawingml/2006/table">
            <a:tbl>
              <a:tblPr firstRow="1" bandRow="1">
                <a:tableStyleId>{69012ECD-51FC-41F1-AA8D-1B2483CD663E}</a:tableStyleId>
              </a:tblPr>
              <a:tblGrid>
                <a:gridCol w="1029665">
                  <a:extLst>
                    <a:ext uri="{9D8B030D-6E8A-4147-A177-3AD203B41FA5}">
                      <a16:colId xmlns:a16="http://schemas.microsoft.com/office/drawing/2014/main" val="2488736747"/>
                    </a:ext>
                  </a:extLst>
                </a:gridCol>
                <a:gridCol w="2394524">
                  <a:extLst>
                    <a:ext uri="{9D8B030D-6E8A-4147-A177-3AD203B41FA5}">
                      <a16:colId xmlns:a16="http://schemas.microsoft.com/office/drawing/2014/main" val="3661359189"/>
                    </a:ext>
                  </a:extLst>
                </a:gridCol>
                <a:gridCol w="2275367">
                  <a:extLst>
                    <a:ext uri="{9D8B030D-6E8A-4147-A177-3AD203B41FA5}">
                      <a16:colId xmlns:a16="http://schemas.microsoft.com/office/drawing/2014/main" val="1503691747"/>
                    </a:ext>
                  </a:extLst>
                </a:gridCol>
                <a:gridCol w="1825991">
                  <a:extLst>
                    <a:ext uri="{9D8B030D-6E8A-4147-A177-3AD203B41FA5}">
                      <a16:colId xmlns:a16="http://schemas.microsoft.com/office/drawing/2014/main" val="134478066"/>
                    </a:ext>
                  </a:extLst>
                </a:gridCol>
                <a:gridCol w="664024">
                  <a:extLst>
                    <a:ext uri="{9D8B030D-6E8A-4147-A177-3AD203B41FA5}">
                      <a16:colId xmlns:a16="http://schemas.microsoft.com/office/drawing/2014/main" val="3280178488"/>
                    </a:ext>
                  </a:extLst>
                </a:gridCol>
                <a:gridCol w="3155873">
                  <a:extLst>
                    <a:ext uri="{9D8B030D-6E8A-4147-A177-3AD203B41FA5}">
                      <a16:colId xmlns:a16="http://schemas.microsoft.com/office/drawing/2014/main" val="3321174588"/>
                    </a:ext>
                  </a:extLst>
                </a:gridCol>
              </a:tblGrid>
              <a:tr h="427825">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S. No.</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Existing Scheme Name</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Category</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Recommended Exit Amount</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Taxation</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Comment</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18295906"/>
                  </a:ext>
                </a:extLst>
              </a:tr>
              <a:tr h="400400">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1</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DSP Equity Opportunities</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Equity – Large Mid </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5 cr.</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LTCG</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Reducing Value exposure by 50%</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4639734"/>
                  </a:ext>
                </a:extLst>
              </a:tr>
              <a:tr h="400400">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2</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ICIC Value Discovery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Roboto" panose="02000000000000000000" pitchFamily="2" charset="0"/>
                          <a:ea typeface="Roboto" panose="02000000000000000000" pitchFamily="2" charset="0"/>
                          <a:cs typeface="Roboto" panose="02000000000000000000" pitchFamily="2" charset="0"/>
                        </a:rPr>
                        <a:t>Equity – Large Mid </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3.5 cr.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LTCG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Roboto" panose="02000000000000000000" pitchFamily="2" charset="0"/>
                          <a:ea typeface="Roboto" panose="02000000000000000000" pitchFamily="2" charset="0"/>
                          <a:cs typeface="Roboto" panose="02000000000000000000" pitchFamily="2" charset="0"/>
                        </a:rPr>
                        <a:t>Reducing Value exposure by 50%</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6403293"/>
                  </a:ext>
                </a:extLst>
              </a:tr>
              <a:tr h="400400">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8258392"/>
                  </a:ext>
                </a:extLst>
              </a:tr>
              <a:tr h="427825">
                <a:tc>
                  <a:txBody>
                    <a:bodyPr/>
                    <a:lstStyle/>
                    <a:p>
                      <a:pPr algn="ctr"/>
                      <a:r>
                        <a:rPr lang="en-US" sz="1000" b="1" dirty="0">
                          <a:solidFill>
                            <a:schemeClr val="bg1"/>
                          </a:solidFill>
                          <a:latin typeface="Roboto" panose="02000000000000000000" pitchFamily="2" charset="0"/>
                          <a:ea typeface="Roboto" panose="02000000000000000000" pitchFamily="2" charset="0"/>
                          <a:cs typeface="Roboto" panose="02000000000000000000" pitchFamily="2" charset="0"/>
                        </a:rPr>
                        <a:t>S. No.</a:t>
                      </a:r>
                      <a:endParaRPr lang="en-IN" sz="10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b="1" dirty="0">
                          <a:solidFill>
                            <a:schemeClr val="bg1"/>
                          </a:solidFill>
                          <a:latin typeface="Roboto" panose="02000000000000000000" pitchFamily="2" charset="0"/>
                          <a:ea typeface="Roboto" panose="02000000000000000000" pitchFamily="2" charset="0"/>
                          <a:cs typeface="Roboto" panose="02000000000000000000" pitchFamily="2" charset="0"/>
                        </a:rPr>
                        <a:t>Investing Scheme Name</a:t>
                      </a:r>
                      <a:endParaRPr lang="en-IN" sz="10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b="1" dirty="0">
                          <a:solidFill>
                            <a:schemeClr val="bg1"/>
                          </a:solidFill>
                          <a:latin typeface="Roboto" panose="02000000000000000000" pitchFamily="2" charset="0"/>
                          <a:ea typeface="Roboto" panose="02000000000000000000" pitchFamily="2" charset="0"/>
                          <a:cs typeface="Roboto" panose="02000000000000000000" pitchFamily="2" charset="0"/>
                        </a:rPr>
                        <a:t>Category</a:t>
                      </a:r>
                      <a:endParaRPr lang="en-IN" sz="10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b="1" dirty="0">
                          <a:solidFill>
                            <a:schemeClr val="bg1"/>
                          </a:solidFill>
                          <a:latin typeface="Roboto" panose="02000000000000000000" pitchFamily="2" charset="0"/>
                          <a:ea typeface="Roboto" panose="02000000000000000000" pitchFamily="2" charset="0"/>
                          <a:cs typeface="Roboto" panose="02000000000000000000" pitchFamily="2" charset="0"/>
                        </a:rPr>
                        <a:t>Recommended Amount</a:t>
                      </a:r>
                      <a:endParaRPr lang="en-IN" sz="10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b="1" dirty="0">
                          <a:solidFill>
                            <a:schemeClr val="bg1"/>
                          </a:solidFill>
                          <a:latin typeface="Roboto" panose="02000000000000000000" pitchFamily="2" charset="0"/>
                          <a:ea typeface="Roboto" panose="02000000000000000000" pitchFamily="2" charset="0"/>
                          <a:cs typeface="Roboto" panose="02000000000000000000" pitchFamily="2" charset="0"/>
                        </a:rPr>
                        <a:t>Type</a:t>
                      </a:r>
                      <a:endParaRPr lang="en-IN" sz="10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US" sz="1000" b="1" dirty="0">
                          <a:solidFill>
                            <a:schemeClr val="bg1"/>
                          </a:solidFill>
                          <a:latin typeface="Roboto" panose="02000000000000000000" pitchFamily="2" charset="0"/>
                          <a:ea typeface="Roboto" panose="02000000000000000000" pitchFamily="2" charset="0"/>
                          <a:cs typeface="Roboto" panose="02000000000000000000" pitchFamily="2" charset="0"/>
                        </a:rPr>
                        <a:t>Comment</a:t>
                      </a:r>
                      <a:endParaRPr lang="en-IN" sz="10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4228724289"/>
                  </a:ext>
                </a:extLst>
              </a:tr>
              <a:tr h="400400">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1</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Nippon India Large Cap</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Equity-Large Cap</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4 cr.</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Fresh</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Reallocation from Value to Growth </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3793289"/>
                  </a:ext>
                </a:extLst>
              </a:tr>
              <a:tr h="400400">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2</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Renaissance Opportunities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Index-Plus Strategy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3 cr.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Top-up</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Roboto" panose="02000000000000000000" pitchFamily="2" charset="0"/>
                          <a:ea typeface="Roboto" panose="02000000000000000000" pitchFamily="2" charset="0"/>
                          <a:cs typeface="Roboto" panose="02000000000000000000" pitchFamily="2" charset="0"/>
                        </a:rPr>
                        <a:t>Reallocation from Value to Growth </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2515405"/>
                  </a:ext>
                </a:extLst>
              </a:tr>
              <a:tr h="400400">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3</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ICICI </a:t>
                      </a:r>
                      <a:r>
                        <a:rPr lang="en-IN" sz="1000" dirty="0" err="1">
                          <a:latin typeface="Roboto" panose="02000000000000000000" pitchFamily="2" charset="0"/>
                          <a:ea typeface="Roboto" panose="02000000000000000000" pitchFamily="2" charset="0"/>
                          <a:cs typeface="Roboto" panose="02000000000000000000" pitchFamily="2" charset="0"/>
                        </a:rPr>
                        <a:t>Pru</a:t>
                      </a:r>
                      <a:r>
                        <a:rPr lang="en-IN" sz="1000" dirty="0">
                          <a:latin typeface="Roboto" panose="02000000000000000000" pitchFamily="2" charset="0"/>
                          <a:ea typeface="Roboto" panose="02000000000000000000" pitchFamily="2" charset="0"/>
                          <a:cs typeface="Roboto" panose="02000000000000000000" pitchFamily="2" charset="0"/>
                        </a:rPr>
                        <a:t> Equity Arbitrage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Debt-Arbitrage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50 lacs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latin typeface="Roboto" panose="02000000000000000000" pitchFamily="2" charset="0"/>
                          <a:ea typeface="Roboto" panose="02000000000000000000" pitchFamily="2" charset="0"/>
                          <a:cs typeface="Roboto" panose="02000000000000000000" pitchFamily="2" charset="0"/>
                        </a:rPr>
                        <a:t>Top-up</a:t>
                      </a:r>
                      <a:endParaRPr lang="en-IN" sz="1000" dirty="0">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Provisioning for CG Tax</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8744797"/>
                  </a:ext>
                </a:extLst>
              </a:tr>
            </a:tbl>
          </a:graphicData>
        </a:graphic>
      </p:graphicFrame>
      <p:sp>
        <p:nvSpPr>
          <p:cNvPr id="8" name="TextBox 7">
            <a:extLst>
              <a:ext uri="{FF2B5EF4-FFF2-40B4-BE49-F238E27FC236}">
                <a16:creationId xmlns:a16="http://schemas.microsoft.com/office/drawing/2014/main" id="{B03C5255-8BDE-9291-CD80-A12BA6940DD0}"/>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pic>
        <p:nvPicPr>
          <p:cNvPr id="9" name="Picture 22">
            <a:extLst>
              <a:ext uri="{FF2B5EF4-FFF2-40B4-BE49-F238E27FC236}">
                <a16:creationId xmlns:a16="http://schemas.microsoft.com/office/drawing/2014/main" id="{A4D2BE05-1260-4C08-8167-A417701D20F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007432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AF824-2BAD-32AB-F3B7-0297F234CEF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0627A63-C375-D3C2-7AD4-5B7283095E6F}"/>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B578D439-E099-0ADC-0E60-D26AFED5A211}"/>
              </a:ext>
            </a:extLst>
          </p:cNvPr>
          <p:cNvGrpSpPr/>
          <p:nvPr/>
        </p:nvGrpSpPr>
        <p:grpSpPr>
          <a:xfrm>
            <a:off x="5639" y="249773"/>
            <a:ext cx="6090361" cy="509001"/>
            <a:chOff x="7048" y="374718"/>
            <a:chExt cx="9136955" cy="763619"/>
          </a:xfrm>
        </p:grpSpPr>
        <p:sp>
          <p:nvSpPr>
            <p:cNvPr id="9" name="TextBox 8">
              <a:extLst>
                <a:ext uri="{FF2B5EF4-FFF2-40B4-BE49-F238E27FC236}">
                  <a16:creationId xmlns:a16="http://schemas.microsoft.com/office/drawing/2014/main" id="{4C612E59-232B-930B-110C-F66A5BC00242}"/>
                </a:ext>
              </a:extLst>
            </p:cNvPr>
            <p:cNvSpPr txBox="1"/>
            <p:nvPr/>
          </p:nvSpPr>
          <p:spPr>
            <a:xfrm>
              <a:off x="457107" y="374718"/>
              <a:ext cx="8686896"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Asset Allocation Post Recommendations</a:t>
              </a:r>
            </a:p>
          </p:txBody>
        </p:sp>
        <p:cxnSp>
          <p:nvCxnSpPr>
            <p:cNvPr id="11" name="Straight Connector 10">
              <a:extLst>
                <a:ext uri="{FF2B5EF4-FFF2-40B4-BE49-F238E27FC236}">
                  <a16:creationId xmlns:a16="http://schemas.microsoft.com/office/drawing/2014/main" id="{9CB8C6C4-EF44-26FA-60C4-037117857AD1}"/>
                </a:ext>
              </a:extLst>
            </p:cNvPr>
            <p:cNvCxnSpPr>
              <a:cxnSpLocks/>
            </p:cNvCxnSpPr>
            <p:nvPr/>
          </p:nvCxnSpPr>
          <p:spPr>
            <a:xfrm>
              <a:off x="7048" y="1138337"/>
              <a:ext cx="8937139"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86590509-2AAD-BDE1-E275-D211D4A934B8}"/>
              </a:ext>
            </a:extLst>
          </p:cNvPr>
          <p:cNvGraphicFramePr>
            <a:graphicFrameLocks noGrp="1"/>
          </p:cNvGraphicFramePr>
          <p:nvPr>
            <p:extLst>
              <p:ext uri="{D42A27DB-BD31-4B8C-83A1-F6EECF244321}">
                <p14:modId xmlns:p14="http://schemas.microsoft.com/office/powerpoint/2010/main" val="3460897060"/>
              </p:ext>
            </p:extLst>
          </p:nvPr>
        </p:nvGraphicFramePr>
        <p:xfrm>
          <a:off x="6348471" y="2120038"/>
          <a:ext cx="5425269" cy="2595880"/>
        </p:xfrm>
        <a:graphic>
          <a:graphicData uri="http://schemas.openxmlformats.org/drawingml/2006/table">
            <a:tbl>
              <a:tblPr firstRow="1" bandRow="1">
                <a:tableStyleId>{69012ECD-51FC-41F1-AA8D-1B2483CD663E}</a:tableStyleId>
              </a:tblPr>
              <a:tblGrid>
                <a:gridCol w="2240358">
                  <a:extLst>
                    <a:ext uri="{9D8B030D-6E8A-4147-A177-3AD203B41FA5}">
                      <a16:colId xmlns:a16="http://schemas.microsoft.com/office/drawing/2014/main" val="967619359"/>
                    </a:ext>
                  </a:extLst>
                </a:gridCol>
                <a:gridCol w="1828800">
                  <a:extLst>
                    <a:ext uri="{9D8B030D-6E8A-4147-A177-3AD203B41FA5}">
                      <a16:colId xmlns:a16="http://schemas.microsoft.com/office/drawing/2014/main" val="4120578850"/>
                    </a:ext>
                  </a:extLst>
                </a:gridCol>
                <a:gridCol w="1356111">
                  <a:extLst>
                    <a:ext uri="{9D8B030D-6E8A-4147-A177-3AD203B41FA5}">
                      <a16:colId xmlns:a16="http://schemas.microsoft.com/office/drawing/2014/main" val="777457457"/>
                    </a:ext>
                  </a:extLst>
                </a:gridCol>
              </a:tblGrid>
              <a:tr h="370840">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Asset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Market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 Assets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728747019"/>
                  </a:ext>
                </a:extLst>
              </a:tr>
              <a:tr h="370840">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Equity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64.41%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3517106"/>
                  </a:ext>
                </a:extLst>
              </a:tr>
              <a:tr h="370840">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Debt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9.58%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8421212"/>
                  </a:ext>
                </a:extLst>
              </a:tr>
              <a:tr h="370840">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Hybrid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17.38%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7131661"/>
                  </a:ext>
                </a:extLst>
              </a:tr>
              <a:tr h="370840">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Alternate (PE/VC + Global…)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2.74%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3343176"/>
                  </a:ext>
                </a:extLst>
              </a:tr>
              <a:tr h="370840">
                <a:tc>
                  <a:txBody>
                    <a:bodyPr/>
                    <a:lstStyle/>
                    <a:p>
                      <a:pPr algn="l"/>
                      <a:r>
                        <a:rPr lang="en-IN" sz="1000" dirty="0">
                          <a:latin typeface="Roboto" panose="02000000000000000000" pitchFamily="2" charset="0"/>
                          <a:ea typeface="Roboto" panose="02000000000000000000" pitchFamily="2" charset="0"/>
                          <a:cs typeface="Roboto" panose="02000000000000000000" pitchFamily="2" charset="0"/>
                        </a:rPr>
                        <a:t>Liquid Equivalent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dirty="0">
                          <a:latin typeface="Roboto" panose="02000000000000000000" pitchFamily="2" charset="0"/>
                          <a:ea typeface="Roboto" panose="02000000000000000000" pitchFamily="2" charset="0"/>
                          <a:cs typeface="Roboto" panose="02000000000000000000" pitchFamily="2" charset="0"/>
                        </a:rPr>
                        <a:t>5.90%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3145110"/>
                  </a:ext>
                </a:extLst>
              </a:tr>
              <a:tr h="370840">
                <a:tc>
                  <a:txBody>
                    <a:bodyPr/>
                    <a:lstStyle/>
                    <a:p>
                      <a:pPr algn="l"/>
                      <a:r>
                        <a:rPr lang="en-IN" sz="1000" b="1" dirty="0">
                          <a:latin typeface="Roboto" panose="02000000000000000000" pitchFamily="2" charset="0"/>
                          <a:ea typeface="Roboto" panose="02000000000000000000" pitchFamily="2" charset="0"/>
                          <a:cs typeface="Roboto" panose="02000000000000000000" pitchFamily="2" charset="0"/>
                        </a:rPr>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1000" b="1" dirty="0">
                        <a:latin typeface="Roboto" panose="02000000000000000000" pitchFamily="2" charset="0"/>
                        <a:ea typeface="Roboto" panose="02000000000000000000" pitchFamily="2" charset="0"/>
                        <a:cs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000" b="1" dirty="0">
                          <a:latin typeface="Roboto" panose="02000000000000000000" pitchFamily="2" charset="0"/>
                          <a:ea typeface="Roboto" panose="02000000000000000000" pitchFamily="2" charset="0"/>
                          <a:cs typeface="Roboto" panose="02000000000000000000" pitchFamily="2" charset="0"/>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4916926"/>
                  </a:ext>
                </a:extLst>
              </a:tr>
            </a:tbl>
          </a:graphicData>
        </a:graphic>
      </p:graphicFrame>
      <p:graphicFrame>
        <p:nvGraphicFramePr>
          <p:cNvPr id="14" name="Chart 13">
            <a:extLst>
              <a:ext uri="{FF2B5EF4-FFF2-40B4-BE49-F238E27FC236}">
                <a16:creationId xmlns:a16="http://schemas.microsoft.com/office/drawing/2014/main" id="{9980411C-82A3-6579-79F6-46699DDFCBFE}"/>
              </a:ext>
            </a:extLst>
          </p:cNvPr>
          <p:cNvGraphicFramePr/>
          <p:nvPr>
            <p:extLst>
              <p:ext uri="{D42A27DB-BD31-4B8C-83A1-F6EECF244321}">
                <p14:modId xmlns:p14="http://schemas.microsoft.com/office/powerpoint/2010/main" val="2377518935"/>
              </p:ext>
            </p:extLst>
          </p:nvPr>
        </p:nvGraphicFramePr>
        <p:xfrm>
          <a:off x="523293" y="1729946"/>
          <a:ext cx="5216422" cy="4124748"/>
        </p:xfrm>
        <a:graphic>
          <a:graphicData uri="http://schemas.openxmlformats.org/drawingml/2006/chart">
            <c:chart xmlns:c="http://schemas.openxmlformats.org/drawingml/2006/chart" xmlns:r="http://schemas.openxmlformats.org/officeDocument/2006/relationships" r:id="rId3"/>
          </a:graphicData>
        </a:graphic>
      </p:graphicFrame>
      <p:sp>
        <p:nvSpPr>
          <p:cNvPr id="16" name="Content Placeholder 2">
            <a:extLst>
              <a:ext uri="{FF2B5EF4-FFF2-40B4-BE49-F238E27FC236}">
                <a16:creationId xmlns:a16="http://schemas.microsoft.com/office/drawing/2014/main" id="{ED1B6888-5F0C-D522-C62A-3E85B8C3C2D2}"/>
              </a:ext>
            </a:extLst>
          </p:cNvPr>
          <p:cNvSpPr txBox="1">
            <a:spLocks/>
          </p:cNvSpPr>
          <p:nvPr/>
        </p:nvSpPr>
        <p:spPr bwMode="auto">
          <a:xfrm>
            <a:off x="6348471" y="5321263"/>
            <a:ext cx="5425268" cy="307263"/>
          </a:xfrm>
          <a:prstGeom prst="rect">
            <a:avLst/>
          </a:prstGeom>
          <a:noFill/>
          <a:ln w="12700" cap="flat" cmpd="sng" algn="ctr">
            <a:solidFill>
              <a:schemeClr val="tx1"/>
            </a:solidFill>
            <a:prstDash val="dash"/>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dk1"/>
                </a:solidFill>
                <a:latin typeface="+mn-lt"/>
                <a:ea typeface="+mn-ea"/>
                <a:cs typeface="+mn-cs"/>
              </a:defRPr>
            </a:lvl1pPr>
            <a:lvl2pPr marL="742950" indent="-285750" algn="l" rtl="0" eaLnBrk="0" fontAlgn="base" hangingPunct="0">
              <a:spcBef>
                <a:spcPct val="20000"/>
              </a:spcBef>
              <a:spcAft>
                <a:spcPct val="0"/>
              </a:spcAft>
              <a:buChar char="–"/>
              <a:defRPr sz="2200">
                <a:solidFill>
                  <a:schemeClr val="dk1"/>
                </a:solidFill>
                <a:latin typeface="+mn-lt"/>
                <a:ea typeface="+mn-ea"/>
                <a:cs typeface="+mn-cs"/>
              </a:defRPr>
            </a:lvl2pPr>
            <a:lvl3pPr marL="1143000" indent="-228600" algn="l" rtl="0" eaLnBrk="0" fontAlgn="base" hangingPunct="0">
              <a:spcBef>
                <a:spcPct val="20000"/>
              </a:spcBef>
              <a:spcAft>
                <a:spcPct val="0"/>
              </a:spcAft>
              <a:buChar char="•"/>
              <a:defRPr sz="2000">
                <a:solidFill>
                  <a:schemeClr val="dk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dk1"/>
                </a:solidFill>
                <a:latin typeface="+mn-lt"/>
                <a:ea typeface="+mn-ea"/>
                <a:cs typeface="+mn-cs"/>
              </a:defRPr>
            </a:lvl4pPr>
            <a:lvl5pPr marL="2057400" indent="-228600" algn="l" rtl="0" eaLnBrk="0" fontAlgn="base" hangingPunct="0">
              <a:spcBef>
                <a:spcPct val="20000"/>
              </a:spcBef>
              <a:spcAft>
                <a:spcPct val="0"/>
              </a:spcAft>
              <a:buChar char="»"/>
              <a:defRPr sz="1600">
                <a:solidFill>
                  <a:schemeClr val="dk1"/>
                </a:solidFill>
                <a:latin typeface="+mn-lt"/>
                <a:ea typeface="+mn-ea"/>
                <a:cs typeface="+mn-cs"/>
              </a:defRPr>
            </a:lvl5pPr>
            <a:lvl6pPr marL="2514600" indent="-228600" algn="l" rtl="0" fontAlgn="base">
              <a:spcBef>
                <a:spcPct val="20000"/>
              </a:spcBef>
              <a:spcAft>
                <a:spcPct val="0"/>
              </a:spcAft>
              <a:buChar char="»"/>
              <a:defRPr sz="1600">
                <a:solidFill>
                  <a:schemeClr val="dk1"/>
                </a:solidFill>
                <a:latin typeface="+mn-lt"/>
                <a:ea typeface="+mn-ea"/>
                <a:cs typeface="+mn-cs"/>
              </a:defRPr>
            </a:lvl6pPr>
            <a:lvl7pPr marL="2971800" indent="-228600" algn="l" rtl="0" fontAlgn="base">
              <a:spcBef>
                <a:spcPct val="20000"/>
              </a:spcBef>
              <a:spcAft>
                <a:spcPct val="0"/>
              </a:spcAft>
              <a:buChar char="»"/>
              <a:defRPr sz="1600">
                <a:solidFill>
                  <a:schemeClr val="dk1"/>
                </a:solidFill>
                <a:latin typeface="+mn-lt"/>
                <a:ea typeface="+mn-ea"/>
                <a:cs typeface="+mn-cs"/>
              </a:defRPr>
            </a:lvl7pPr>
            <a:lvl8pPr marL="3429000" indent="-228600" algn="l" rtl="0" fontAlgn="base">
              <a:spcBef>
                <a:spcPct val="20000"/>
              </a:spcBef>
              <a:spcAft>
                <a:spcPct val="0"/>
              </a:spcAft>
              <a:buChar char="»"/>
              <a:defRPr sz="1600">
                <a:solidFill>
                  <a:schemeClr val="dk1"/>
                </a:solidFill>
                <a:latin typeface="+mn-lt"/>
                <a:ea typeface="+mn-ea"/>
                <a:cs typeface="+mn-cs"/>
              </a:defRPr>
            </a:lvl8pPr>
            <a:lvl9pPr marL="3886200" indent="-228600" algn="l" rtl="0" fontAlgn="base">
              <a:spcBef>
                <a:spcPct val="20000"/>
              </a:spcBef>
              <a:spcAft>
                <a:spcPct val="0"/>
              </a:spcAft>
              <a:buChar char="»"/>
              <a:defRPr sz="1600">
                <a:solidFill>
                  <a:schemeClr val="dk1"/>
                </a:solidFill>
                <a:latin typeface="+mn-lt"/>
                <a:ea typeface="+mn-ea"/>
                <a:cs typeface="+mn-cs"/>
              </a:defRPr>
            </a:lvl9pPr>
          </a:lstStyle>
          <a:p>
            <a:pPr marL="0" indent="0" algn="ctr">
              <a:buNone/>
              <a:defRPr/>
            </a:pPr>
            <a:r>
              <a:rPr kumimoji="0" lang="en-IN" sz="1100" b="1"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rPr>
              <a:t>Net Equity Exposure at portfolio level </a:t>
            </a:r>
            <a:r>
              <a:rPr lang="en-IN" sz="1100" b="1" kern="0" dirty="0">
                <a:solidFill>
                  <a:srgbClr val="000000"/>
                </a:solidFill>
                <a:latin typeface="Roboto" panose="02000000000000000000" pitchFamily="2" charset="0"/>
                <a:ea typeface="Roboto" panose="02000000000000000000" pitchFamily="2" charset="0"/>
                <a:cs typeface="Roboto" panose="02000000000000000000" pitchFamily="2" charset="0"/>
              </a:rPr>
              <a:t>stands at 71.9_%</a:t>
            </a:r>
            <a:r>
              <a:rPr kumimoji="0" lang="en-IN" sz="1100" b="1"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rPr>
              <a:t> and Debt Exposure is 29.1%.</a:t>
            </a:r>
          </a:p>
        </p:txBody>
      </p:sp>
      <p:sp>
        <p:nvSpPr>
          <p:cNvPr id="6" name="TextBox 5">
            <a:extLst>
              <a:ext uri="{FF2B5EF4-FFF2-40B4-BE49-F238E27FC236}">
                <a16:creationId xmlns:a16="http://schemas.microsoft.com/office/drawing/2014/main" id="{3694581B-A1A2-47B6-9A59-2F5322D27030}"/>
              </a:ext>
            </a:extLst>
          </p:cNvPr>
          <p:cNvSpPr txBox="1"/>
          <p:nvPr/>
        </p:nvSpPr>
        <p:spPr>
          <a:xfrm>
            <a:off x="1509610" y="1360614"/>
            <a:ext cx="2949228" cy="369332"/>
          </a:xfrm>
          <a:prstGeom prst="rect">
            <a:avLst/>
          </a:prstGeom>
          <a:noFill/>
        </p:spPr>
        <p:txBody>
          <a:bodyPr wrap="square">
            <a:spAutoFit/>
          </a:bodyPr>
          <a:lstStyle/>
          <a:p>
            <a:r>
              <a:rPr lang="en-US" sz="1800" dirty="0">
                <a:solidFill>
                  <a:srgbClr val="084795"/>
                </a:solidFill>
                <a:latin typeface="Roboto" panose="02000000000000000000" pitchFamily="2" charset="0"/>
                <a:ea typeface="Roboto" panose="02000000000000000000" pitchFamily="2" charset="0"/>
              </a:rPr>
              <a:t>Emerging Asset Allocation </a:t>
            </a:r>
            <a:endParaRPr lang="en-IN" dirty="0"/>
          </a:p>
        </p:txBody>
      </p:sp>
      <p:pic>
        <p:nvPicPr>
          <p:cNvPr id="2" name="Picture 22">
            <a:extLst>
              <a:ext uri="{FF2B5EF4-FFF2-40B4-BE49-F238E27FC236}">
                <a16:creationId xmlns:a16="http://schemas.microsoft.com/office/drawing/2014/main" id="{E1F37551-4BD7-7FF3-9B46-3D68561880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1310897" y="115954"/>
            <a:ext cx="779652" cy="729305"/>
          </a:xfrm>
          <a:prstGeom prst="rect">
            <a:avLst/>
          </a:prstGeom>
        </p:spPr>
      </p:pic>
      <p:sp>
        <p:nvSpPr>
          <p:cNvPr id="3" name="TextBox 2">
            <a:extLst>
              <a:ext uri="{FF2B5EF4-FFF2-40B4-BE49-F238E27FC236}">
                <a16:creationId xmlns:a16="http://schemas.microsoft.com/office/drawing/2014/main" id="{B51EDE41-C570-2992-DEA1-68DA5EC8D2CF}"/>
              </a:ext>
            </a:extLst>
          </p:cNvPr>
          <p:cNvSpPr txBox="1"/>
          <p:nvPr/>
        </p:nvSpPr>
        <p:spPr>
          <a:xfrm>
            <a:off x="8022771" y="6564086"/>
            <a:ext cx="4169229" cy="215444"/>
          </a:xfrm>
          <a:prstGeom prst="rect">
            <a:avLst/>
          </a:prstGeom>
          <a:noFill/>
        </p:spPr>
        <p:txBody>
          <a:bodyPr wrap="square">
            <a:spAutoFit/>
          </a:bodyPr>
          <a:lstStyle/>
          <a:p>
            <a:pPr marL="0" indent="0">
              <a:buNone/>
              <a:defRPr/>
            </a:pPr>
            <a:r>
              <a:rPr lang="en-IN" sz="800" b="1" kern="0" dirty="0">
                <a:solidFill>
                  <a:srgbClr val="000000"/>
                </a:solidFill>
                <a:latin typeface="Roboto" panose="02000000000000000000" pitchFamily="2" charset="0"/>
                <a:ea typeface="Roboto" panose="02000000000000000000" pitchFamily="2" charset="0"/>
                <a:cs typeface="Roboto" panose="02000000000000000000" pitchFamily="2" charset="0"/>
              </a:rPr>
              <a:t>Net Equity exposure = Equity + 50% of Hybrid + 100% of PE/VC &amp; Global Equity Funds   </a:t>
            </a:r>
          </a:p>
        </p:txBody>
      </p:sp>
    </p:spTree>
    <p:extLst>
      <p:ext uri="{BB962C8B-B14F-4D97-AF65-F5344CB8AC3E}">
        <p14:creationId xmlns:p14="http://schemas.microsoft.com/office/powerpoint/2010/main" val="3330383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7FA16A1B-2D4D-4D8C-B41D-51C47F691DE5}"/>
              </a:ext>
            </a:extLst>
          </p:cNvPr>
          <p:cNvSpPr>
            <a:spLocks noGrp="1"/>
          </p:cNvSpPr>
          <p:nvPr/>
        </p:nvSpPr>
        <p:spPr>
          <a:xfrm>
            <a:off x="239187" y="2720274"/>
            <a:ext cx="10875963" cy="420687"/>
          </a:xfrm>
          <a:prstGeom prst="rect">
            <a:avLst/>
          </a:prstGeom>
          <a:ln>
            <a:solidFill>
              <a:schemeClr val="bg1"/>
            </a:solidFill>
          </a:ln>
        </p:spPr>
        <p:txBody>
          <a:bodyPr lIns="0" tIns="0" rIns="0" bIns="0"/>
          <a:lstStyle/>
          <a:p>
            <a:pPr algn="ctr">
              <a:defRPr sz="1200" b="1">
                <a:solidFill>
                  <a:srgbClr val="1F497D"/>
                </a:solidFill>
                <a:latin typeface="SansSerif"/>
                <a:ea typeface="SansSerif"/>
                <a:cs typeface="SansSerif"/>
              </a:defRPr>
            </a:pPr>
            <a:r>
              <a:rPr lang="en-US" sz="2670" b="1" dirty="0">
                <a:solidFill>
                  <a:srgbClr val="1F497D"/>
                </a:solidFill>
                <a:latin typeface="Roboto" panose="02000000000000000000" pitchFamily="2" charset="0"/>
                <a:ea typeface="Roboto" panose="02000000000000000000" pitchFamily="2" charset="0"/>
                <a:cs typeface="Roboto" panose="02000000000000000000" pitchFamily="2" charset="0"/>
              </a:rPr>
              <a:t>New Offerings</a:t>
            </a:r>
            <a:endParaRPr sz="267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73732" name="Line">
            <a:extLst>
              <a:ext uri="{FF2B5EF4-FFF2-40B4-BE49-F238E27FC236}">
                <a16:creationId xmlns:a16="http://schemas.microsoft.com/office/drawing/2014/main" id="{7B298B44-B834-4ABA-A7E9-6D0E8B876B9D}"/>
              </a:ext>
            </a:extLst>
          </p:cNvPr>
          <p:cNvSpPr>
            <a:spLocks noGrp="1"/>
          </p:cNvSpPr>
          <p:nvPr/>
        </p:nvSpPr>
        <p:spPr bwMode="auto">
          <a:xfrm>
            <a:off x="317501" y="3279776"/>
            <a:ext cx="11755439" cy="4763"/>
          </a:xfrm>
          <a:prstGeom prst="line">
            <a:avLst/>
          </a:prstGeom>
          <a:noFill/>
          <a:ln w="19050">
            <a:solidFill>
              <a:srgbClr val="4AB38B"/>
            </a:solidFill>
            <a:round/>
            <a:headEnd/>
            <a:tailEnd/>
          </a:ln>
          <a:extLst>
            <a:ext uri="{909E8E84-426E-40DD-AFC4-6F175D3DCCD1}">
              <a14:hiddenFill xmlns:a14="http://schemas.microsoft.com/office/drawing/2010/main">
                <a:noFill/>
              </a14:hiddenFill>
            </a:ext>
          </a:extLst>
        </p:spPr>
        <p:txBody>
          <a:bodyPr anchor="ctr"/>
          <a:lstStyle/>
          <a:p>
            <a:endParaRPr lang="en-US" sz="2400"/>
          </a:p>
        </p:txBody>
      </p:sp>
      <p:pic>
        <p:nvPicPr>
          <p:cNvPr id="2" name="Picture 22">
            <a:extLst>
              <a:ext uri="{FF2B5EF4-FFF2-40B4-BE49-F238E27FC236}">
                <a16:creationId xmlns:a16="http://schemas.microsoft.com/office/drawing/2014/main" id="{79FE7C17-295D-5895-6BF7-3CEF0663BD9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8A747-DFE1-65DB-74C3-885F2FEDFB8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CE92D43-D43D-6D7D-92DF-2DB59D019C34}"/>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F5FA2B13-DA7B-15BC-5F3A-3BE79DB9DC9E}"/>
              </a:ext>
            </a:extLst>
          </p:cNvPr>
          <p:cNvGrpSpPr/>
          <p:nvPr/>
        </p:nvGrpSpPr>
        <p:grpSpPr>
          <a:xfrm>
            <a:off x="0" y="181389"/>
            <a:ext cx="5786717" cy="584775"/>
            <a:chOff x="-2105300" y="272126"/>
            <a:chExt cx="10785308" cy="877298"/>
          </a:xfrm>
        </p:grpSpPr>
        <p:sp>
          <p:nvSpPr>
            <p:cNvPr id="9" name="TextBox 8">
              <a:extLst>
                <a:ext uri="{FF2B5EF4-FFF2-40B4-BE49-F238E27FC236}">
                  <a16:creationId xmlns:a16="http://schemas.microsoft.com/office/drawing/2014/main" id="{13DAC150-B45D-8144-10B7-771F553CBC23}"/>
                </a:ext>
              </a:extLst>
            </p:cNvPr>
            <p:cNvSpPr txBox="1"/>
            <p:nvPr/>
          </p:nvSpPr>
          <p:spPr>
            <a:xfrm>
              <a:off x="-1701391" y="272126"/>
              <a:ext cx="10381399" cy="877298"/>
            </a:xfrm>
            <a:prstGeom prst="rect">
              <a:avLst/>
            </a:prstGeom>
            <a:noFill/>
          </p:spPr>
          <p:txBody>
            <a:bodyPr wrap="square" rtlCol="0">
              <a:spAutoFit/>
            </a:bodyPr>
            <a:lstStyle/>
            <a:p>
              <a:r>
                <a:rPr lang="en-US" sz="3200" dirty="0">
                  <a:solidFill>
                    <a:srgbClr val="084795"/>
                  </a:solidFill>
                  <a:latin typeface="Roboto" panose="02000000000000000000" pitchFamily="2" charset="0"/>
                  <a:ea typeface="Roboto" panose="02000000000000000000" pitchFamily="2" charset="0"/>
                </a:rPr>
                <a:t>Nippon India Large Cap Fund</a:t>
              </a:r>
            </a:p>
          </p:txBody>
        </p:sp>
        <p:cxnSp>
          <p:nvCxnSpPr>
            <p:cNvPr id="11" name="Straight Connector 10">
              <a:extLst>
                <a:ext uri="{FF2B5EF4-FFF2-40B4-BE49-F238E27FC236}">
                  <a16:creationId xmlns:a16="http://schemas.microsoft.com/office/drawing/2014/main" id="{2845FC07-D7C0-662F-5A71-52E625AB01DA}"/>
                </a:ext>
              </a:extLst>
            </p:cNvPr>
            <p:cNvCxnSpPr>
              <a:cxnSpLocks/>
            </p:cNvCxnSpPr>
            <p:nvPr/>
          </p:nvCxnSpPr>
          <p:spPr>
            <a:xfrm>
              <a:off x="-2105300" y="1138337"/>
              <a:ext cx="10529002" cy="0"/>
            </a:xfrm>
            <a:prstGeom prst="line">
              <a:avLst/>
            </a:prstGeom>
            <a:ln w="44450"/>
          </p:spPr>
          <p:style>
            <a:lnRef idx="1">
              <a:schemeClr val="accent1"/>
            </a:lnRef>
            <a:fillRef idx="0">
              <a:schemeClr val="accent1"/>
            </a:fillRef>
            <a:effectRef idx="0">
              <a:schemeClr val="accent1"/>
            </a:effectRef>
            <a:fontRef idx="minor">
              <a:schemeClr val="tx1"/>
            </a:fontRef>
          </p:style>
        </p:cxnSp>
      </p:grpSp>
      <p:graphicFrame>
        <p:nvGraphicFramePr>
          <p:cNvPr id="2" name="Table 1">
            <a:extLst>
              <a:ext uri="{FF2B5EF4-FFF2-40B4-BE49-F238E27FC236}">
                <a16:creationId xmlns:a16="http://schemas.microsoft.com/office/drawing/2014/main" id="{5C06B740-7A62-1D56-E959-67C71D48307E}"/>
              </a:ext>
            </a:extLst>
          </p:cNvPr>
          <p:cNvGraphicFramePr>
            <a:graphicFrameLocks noGrp="1"/>
          </p:cNvGraphicFramePr>
          <p:nvPr>
            <p:extLst>
              <p:ext uri="{D42A27DB-BD31-4B8C-83A1-F6EECF244321}">
                <p14:modId xmlns:p14="http://schemas.microsoft.com/office/powerpoint/2010/main" val="988750950"/>
              </p:ext>
            </p:extLst>
          </p:nvPr>
        </p:nvGraphicFramePr>
        <p:xfrm>
          <a:off x="321758" y="3920884"/>
          <a:ext cx="6641719" cy="1121140"/>
        </p:xfrm>
        <a:graphic>
          <a:graphicData uri="http://schemas.openxmlformats.org/drawingml/2006/table">
            <a:tbl>
              <a:tblPr/>
              <a:tblGrid>
                <a:gridCol w="1846907">
                  <a:extLst>
                    <a:ext uri="{9D8B030D-6E8A-4147-A177-3AD203B41FA5}">
                      <a16:colId xmlns:a16="http://schemas.microsoft.com/office/drawing/2014/main" val="2048771904"/>
                    </a:ext>
                  </a:extLst>
                </a:gridCol>
                <a:gridCol w="695916">
                  <a:extLst>
                    <a:ext uri="{9D8B030D-6E8A-4147-A177-3AD203B41FA5}">
                      <a16:colId xmlns:a16="http://schemas.microsoft.com/office/drawing/2014/main" val="3188761603"/>
                    </a:ext>
                  </a:extLst>
                </a:gridCol>
                <a:gridCol w="760651">
                  <a:extLst>
                    <a:ext uri="{9D8B030D-6E8A-4147-A177-3AD203B41FA5}">
                      <a16:colId xmlns:a16="http://schemas.microsoft.com/office/drawing/2014/main" val="2291324425"/>
                    </a:ext>
                  </a:extLst>
                </a:gridCol>
                <a:gridCol w="914400">
                  <a:extLst>
                    <a:ext uri="{9D8B030D-6E8A-4147-A177-3AD203B41FA5}">
                      <a16:colId xmlns:a16="http://schemas.microsoft.com/office/drawing/2014/main" val="1591122673"/>
                    </a:ext>
                  </a:extLst>
                </a:gridCol>
                <a:gridCol w="809203">
                  <a:extLst>
                    <a:ext uri="{9D8B030D-6E8A-4147-A177-3AD203B41FA5}">
                      <a16:colId xmlns:a16="http://schemas.microsoft.com/office/drawing/2014/main" val="2797162808"/>
                    </a:ext>
                  </a:extLst>
                </a:gridCol>
                <a:gridCol w="906308">
                  <a:extLst>
                    <a:ext uri="{9D8B030D-6E8A-4147-A177-3AD203B41FA5}">
                      <a16:colId xmlns:a16="http://schemas.microsoft.com/office/drawing/2014/main" val="3845324325"/>
                    </a:ext>
                  </a:extLst>
                </a:gridCol>
                <a:gridCol w="708334">
                  <a:extLst>
                    <a:ext uri="{9D8B030D-6E8A-4147-A177-3AD203B41FA5}">
                      <a16:colId xmlns:a16="http://schemas.microsoft.com/office/drawing/2014/main" val="1119038269"/>
                    </a:ext>
                  </a:extLst>
                </a:gridCol>
              </a:tblGrid>
              <a:tr h="280285">
                <a:tc gridSpan="7">
                  <a:txBody>
                    <a:bodyPr/>
                    <a:lstStyle/>
                    <a:p>
                      <a:pPr algn="ctr" fontAlgn="b"/>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CY Returns</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229793446"/>
                  </a:ext>
                </a:extLst>
              </a:tr>
              <a:tr h="280285">
                <a:tc>
                  <a:txBody>
                    <a:bodyPr/>
                    <a:lstStyle/>
                    <a:p>
                      <a:pPr algn="l"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Fund</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YTD</a:t>
                      </a:r>
                    </a:p>
                  </a:txBody>
                  <a:tcPr marL="8467" marR="8467" marT="846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CY 2024</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CY 2023</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2022</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2021</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2020</a:t>
                      </a:r>
                    </a:p>
                  </a:txBody>
                  <a:tcPr marL="8467" marR="8467" marT="846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187034679"/>
                  </a:ext>
                </a:extLst>
              </a:tr>
              <a:tr h="280285">
                <a:tc>
                  <a:txBody>
                    <a:bodyPr/>
                    <a:lstStyle/>
                    <a:p>
                      <a:pPr algn="l" fontAlgn="b"/>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Nippon India Large Cap Fund</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-0.16%</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18.24%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32.15%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11.33%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32.37%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4.91%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79647440"/>
                  </a:ext>
                </a:extLst>
              </a:tr>
              <a:tr h="280285">
                <a:tc>
                  <a:txBody>
                    <a:bodyPr/>
                    <a:lstStyle/>
                    <a:p>
                      <a:pPr algn="l"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NIFTY 50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2.92%</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8.80%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20.03%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4.33%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24.12%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14.90%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7919819"/>
                  </a:ext>
                </a:extLst>
              </a:tr>
            </a:tbl>
          </a:graphicData>
        </a:graphic>
      </p:graphicFrame>
      <p:graphicFrame>
        <p:nvGraphicFramePr>
          <p:cNvPr id="4" name="Table 3">
            <a:extLst>
              <a:ext uri="{FF2B5EF4-FFF2-40B4-BE49-F238E27FC236}">
                <a16:creationId xmlns:a16="http://schemas.microsoft.com/office/drawing/2014/main" id="{BDD6CB4E-3211-799A-B790-CB3BE0F880DF}"/>
              </a:ext>
            </a:extLst>
          </p:cNvPr>
          <p:cNvGraphicFramePr>
            <a:graphicFrameLocks noGrp="1"/>
          </p:cNvGraphicFramePr>
          <p:nvPr>
            <p:extLst>
              <p:ext uri="{D42A27DB-BD31-4B8C-83A1-F6EECF244321}">
                <p14:modId xmlns:p14="http://schemas.microsoft.com/office/powerpoint/2010/main" val="3146788738"/>
              </p:ext>
            </p:extLst>
          </p:nvPr>
        </p:nvGraphicFramePr>
        <p:xfrm>
          <a:off x="321757" y="5142169"/>
          <a:ext cx="6641719" cy="1121139"/>
        </p:xfrm>
        <a:graphic>
          <a:graphicData uri="http://schemas.openxmlformats.org/drawingml/2006/table">
            <a:tbl>
              <a:tblPr/>
              <a:tblGrid>
                <a:gridCol w="1863091">
                  <a:extLst>
                    <a:ext uri="{9D8B030D-6E8A-4147-A177-3AD203B41FA5}">
                      <a16:colId xmlns:a16="http://schemas.microsoft.com/office/drawing/2014/main" val="724578523"/>
                    </a:ext>
                  </a:extLst>
                </a:gridCol>
                <a:gridCol w="671638">
                  <a:extLst>
                    <a:ext uri="{9D8B030D-6E8A-4147-A177-3AD203B41FA5}">
                      <a16:colId xmlns:a16="http://schemas.microsoft.com/office/drawing/2014/main" val="1503301845"/>
                    </a:ext>
                  </a:extLst>
                </a:gridCol>
                <a:gridCol w="776836">
                  <a:extLst>
                    <a:ext uri="{9D8B030D-6E8A-4147-A177-3AD203B41FA5}">
                      <a16:colId xmlns:a16="http://schemas.microsoft.com/office/drawing/2014/main" val="3942566469"/>
                    </a:ext>
                  </a:extLst>
                </a:gridCol>
                <a:gridCol w="906308">
                  <a:extLst>
                    <a:ext uri="{9D8B030D-6E8A-4147-A177-3AD203B41FA5}">
                      <a16:colId xmlns:a16="http://schemas.microsoft.com/office/drawing/2014/main" val="958552116"/>
                    </a:ext>
                  </a:extLst>
                </a:gridCol>
                <a:gridCol w="833480">
                  <a:extLst>
                    <a:ext uri="{9D8B030D-6E8A-4147-A177-3AD203B41FA5}">
                      <a16:colId xmlns:a16="http://schemas.microsoft.com/office/drawing/2014/main" val="1105756200"/>
                    </a:ext>
                  </a:extLst>
                </a:gridCol>
                <a:gridCol w="898215">
                  <a:extLst>
                    <a:ext uri="{9D8B030D-6E8A-4147-A177-3AD203B41FA5}">
                      <a16:colId xmlns:a16="http://schemas.microsoft.com/office/drawing/2014/main" val="1110231219"/>
                    </a:ext>
                  </a:extLst>
                </a:gridCol>
                <a:gridCol w="692151">
                  <a:extLst>
                    <a:ext uri="{9D8B030D-6E8A-4147-A177-3AD203B41FA5}">
                      <a16:colId xmlns:a16="http://schemas.microsoft.com/office/drawing/2014/main" val="831163009"/>
                    </a:ext>
                  </a:extLst>
                </a:gridCol>
              </a:tblGrid>
              <a:tr h="282640">
                <a:tc gridSpan="7">
                  <a:txBody>
                    <a:bodyPr/>
                    <a:lstStyle/>
                    <a:p>
                      <a:pPr algn="ctr" fontAlgn="ct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Periodical Performance</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901823450"/>
                  </a:ext>
                </a:extLst>
              </a:tr>
              <a:tr h="282640">
                <a:tc>
                  <a:txBody>
                    <a:bodyPr/>
                    <a:lstStyle/>
                    <a:p>
                      <a:pPr algn="l"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Fund</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 month</a:t>
                      </a:r>
                    </a:p>
                  </a:txBody>
                  <a:tcPr marL="8467" marR="8467" marT="846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 months</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6 months</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1 Year</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3 Year</a:t>
                      </a:r>
                    </a:p>
                  </a:txBody>
                  <a:tcPr marL="8467" marR="8467" marT="84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5 Year</a:t>
                      </a:r>
                    </a:p>
                  </a:txBody>
                  <a:tcPr marL="8467" marR="8467" marT="846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240700012"/>
                  </a:ext>
                </a:extLst>
              </a:tr>
              <a:tr h="273219">
                <a:tc>
                  <a:txBody>
                    <a:bodyPr/>
                    <a:lstStyle/>
                    <a:p>
                      <a:pPr algn="l" fontAlgn="b"/>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Nippon India Large Cap Fund</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3.10%</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6.60%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19.97%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25.85%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53033689"/>
                  </a:ext>
                </a:extLst>
              </a:tr>
              <a:tr h="282640">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NIFTY 50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3.46%</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3.51%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0.53%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7.65%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12.45%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19.79%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87831228"/>
                  </a:ext>
                </a:extLst>
              </a:tr>
            </a:tbl>
          </a:graphicData>
        </a:graphic>
      </p:graphicFrame>
      <p:graphicFrame>
        <p:nvGraphicFramePr>
          <p:cNvPr id="5" name="Table 4">
            <a:extLst>
              <a:ext uri="{FF2B5EF4-FFF2-40B4-BE49-F238E27FC236}">
                <a16:creationId xmlns:a16="http://schemas.microsoft.com/office/drawing/2014/main" id="{92D81239-1D4D-40DE-B749-F3A2D094341B}"/>
              </a:ext>
            </a:extLst>
          </p:cNvPr>
          <p:cNvGraphicFramePr>
            <a:graphicFrameLocks noGrp="1"/>
          </p:cNvGraphicFramePr>
          <p:nvPr>
            <p:extLst>
              <p:ext uri="{D42A27DB-BD31-4B8C-83A1-F6EECF244321}">
                <p14:modId xmlns:p14="http://schemas.microsoft.com/office/powerpoint/2010/main" val="1516053514"/>
              </p:ext>
            </p:extLst>
          </p:nvPr>
        </p:nvGraphicFramePr>
        <p:xfrm>
          <a:off x="4416015" y="1218502"/>
          <a:ext cx="1811866" cy="1169009"/>
        </p:xfrm>
        <a:graphic>
          <a:graphicData uri="http://schemas.openxmlformats.org/drawingml/2006/table">
            <a:tbl>
              <a:tblPr/>
              <a:tblGrid>
                <a:gridCol w="1199405">
                  <a:extLst>
                    <a:ext uri="{9D8B030D-6E8A-4147-A177-3AD203B41FA5}">
                      <a16:colId xmlns:a16="http://schemas.microsoft.com/office/drawing/2014/main" val="622557270"/>
                    </a:ext>
                  </a:extLst>
                </a:gridCol>
                <a:gridCol w="612461">
                  <a:extLst>
                    <a:ext uri="{9D8B030D-6E8A-4147-A177-3AD203B41FA5}">
                      <a16:colId xmlns:a16="http://schemas.microsoft.com/office/drawing/2014/main" val="447727444"/>
                    </a:ext>
                  </a:extLst>
                </a:gridCol>
              </a:tblGrid>
              <a:tr h="294708">
                <a:tc gridSpan="2">
                  <a:txBody>
                    <a:bodyPr/>
                    <a:lstStyle/>
                    <a:p>
                      <a:pPr algn="ctr" fontAlgn="ct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Risk Ratios</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extLst>
                  <a:ext uri="{0D108BD9-81ED-4DB2-BD59-A6C34878D82A}">
                    <a16:rowId xmlns:a16="http://schemas.microsoft.com/office/drawing/2014/main" val="2043203693"/>
                  </a:ext>
                </a:extLst>
              </a:tr>
              <a:tr h="284885">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Standard Deviation</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13.33</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4433109"/>
                  </a:ext>
                </a:extLst>
              </a:tr>
              <a:tr h="294708">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Sharpe Ratio</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0.97</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4375187"/>
                  </a:ext>
                </a:extLst>
              </a:tr>
              <a:tr h="294708">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Beta</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0.93</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8211675"/>
                  </a:ext>
                </a:extLst>
              </a:tr>
            </a:tbl>
          </a:graphicData>
        </a:graphic>
      </p:graphicFrame>
      <p:graphicFrame>
        <p:nvGraphicFramePr>
          <p:cNvPr id="6" name="Table 5">
            <a:extLst>
              <a:ext uri="{FF2B5EF4-FFF2-40B4-BE49-F238E27FC236}">
                <a16:creationId xmlns:a16="http://schemas.microsoft.com/office/drawing/2014/main" id="{93C15BB2-3924-48EC-2783-FC8926A220E2}"/>
              </a:ext>
            </a:extLst>
          </p:cNvPr>
          <p:cNvGraphicFramePr>
            <a:graphicFrameLocks noGrp="1"/>
          </p:cNvGraphicFramePr>
          <p:nvPr>
            <p:extLst>
              <p:ext uri="{D42A27DB-BD31-4B8C-83A1-F6EECF244321}">
                <p14:modId xmlns:p14="http://schemas.microsoft.com/office/powerpoint/2010/main" val="3518373346"/>
              </p:ext>
            </p:extLst>
          </p:nvPr>
        </p:nvGraphicFramePr>
        <p:xfrm>
          <a:off x="6471807" y="1218502"/>
          <a:ext cx="2065867" cy="1169009"/>
        </p:xfrm>
        <a:graphic>
          <a:graphicData uri="http://schemas.openxmlformats.org/drawingml/2006/table">
            <a:tbl>
              <a:tblPr/>
              <a:tblGrid>
                <a:gridCol w="1517520">
                  <a:extLst>
                    <a:ext uri="{9D8B030D-6E8A-4147-A177-3AD203B41FA5}">
                      <a16:colId xmlns:a16="http://schemas.microsoft.com/office/drawing/2014/main" val="3789386439"/>
                    </a:ext>
                  </a:extLst>
                </a:gridCol>
                <a:gridCol w="548347">
                  <a:extLst>
                    <a:ext uri="{9D8B030D-6E8A-4147-A177-3AD203B41FA5}">
                      <a16:colId xmlns:a16="http://schemas.microsoft.com/office/drawing/2014/main" val="2069196479"/>
                    </a:ext>
                  </a:extLst>
                </a:gridCol>
              </a:tblGrid>
              <a:tr h="235371">
                <a:tc gridSpan="2">
                  <a:txBody>
                    <a:bodyPr/>
                    <a:lstStyle/>
                    <a:p>
                      <a:pPr algn="ctr" fontAlgn="ct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Portfolio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extLst>
                  <a:ext uri="{0D108BD9-81ED-4DB2-BD59-A6C34878D82A}">
                    <a16:rowId xmlns:a16="http://schemas.microsoft.com/office/drawing/2014/main" val="3589708157"/>
                  </a:ext>
                </a:extLst>
              </a:tr>
              <a:tr h="235371">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Total No. of Stocks</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70</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7116781"/>
                  </a:ext>
                </a:extLst>
              </a:tr>
              <a:tr h="235371">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Top 10 stocks (%)</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46.17</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4423207"/>
                  </a:ext>
                </a:extLst>
              </a:tr>
              <a:tr h="227525">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Top 5 stocks (%)</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30.24</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9421246"/>
                  </a:ext>
                </a:extLst>
              </a:tr>
              <a:tr h="235371">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Top 3 sectors (%)</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58.83</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0875321"/>
                  </a:ext>
                </a:extLst>
              </a:tr>
            </a:tbl>
          </a:graphicData>
        </a:graphic>
      </p:graphicFrame>
      <p:graphicFrame>
        <p:nvGraphicFramePr>
          <p:cNvPr id="7" name="Table 6">
            <a:extLst>
              <a:ext uri="{FF2B5EF4-FFF2-40B4-BE49-F238E27FC236}">
                <a16:creationId xmlns:a16="http://schemas.microsoft.com/office/drawing/2014/main" id="{FB52F4D7-E824-7877-9AD6-4399F8BE649F}"/>
              </a:ext>
            </a:extLst>
          </p:cNvPr>
          <p:cNvGraphicFramePr>
            <a:graphicFrameLocks noGrp="1"/>
          </p:cNvGraphicFramePr>
          <p:nvPr>
            <p:extLst>
              <p:ext uri="{D42A27DB-BD31-4B8C-83A1-F6EECF244321}">
                <p14:modId xmlns:p14="http://schemas.microsoft.com/office/powerpoint/2010/main" val="2279656506"/>
              </p:ext>
            </p:extLst>
          </p:nvPr>
        </p:nvGraphicFramePr>
        <p:xfrm>
          <a:off x="4412157" y="2561161"/>
          <a:ext cx="1811866" cy="1121139"/>
        </p:xfrm>
        <a:graphic>
          <a:graphicData uri="http://schemas.openxmlformats.org/drawingml/2006/table">
            <a:tbl>
              <a:tblPr/>
              <a:tblGrid>
                <a:gridCol w="1128443">
                  <a:extLst>
                    <a:ext uri="{9D8B030D-6E8A-4147-A177-3AD203B41FA5}">
                      <a16:colId xmlns:a16="http://schemas.microsoft.com/office/drawing/2014/main" val="634305427"/>
                    </a:ext>
                  </a:extLst>
                </a:gridCol>
                <a:gridCol w="683423">
                  <a:extLst>
                    <a:ext uri="{9D8B030D-6E8A-4147-A177-3AD203B41FA5}">
                      <a16:colId xmlns:a16="http://schemas.microsoft.com/office/drawing/2014/main" val="747041840"/>
                    </a:ext>
                  </a:extLst>
                </a:gridCol>
              </a:tblGrid>
              <a:tr h="318069">
                <a:tc gridSpan="2">
                  <a:txBody>
                    <a:bodyPr/>
                    <a:lstStyle/>
                    <a:p>
                      <a:pPr algn="ctr" fontAlgn="ct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Valuations</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extLst>
                  <a:ext uri="{0D108BD9-81ED-4DB2-BD59-A6C34878D82A}">
                    <a16:rowId xmlns:a16="http://schemas.microsoft.com/office/drawing/2014/main" val="3660439129"/>
                  </a:ext>
                </a:extLst>
              </a:tr>
              <a:tr h="401535">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P/B Ratio</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3.48</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9263705"/>
                  </a:ext>
                </a:extLst>
              </a:tr>
              <a:tr h="401535">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P/E Ratio</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23.34</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109992"/>
                  </a:ext>
                </a:extLst>
              </a:tr>
            </a:tbl>
          </a:graphicData>
        </a:graphic>
      </p:graphicFrame>
      <p:graphicFrame>
        <p:nvGraphicFramePr>
          <p:cNvPr id="10" name="Table 9">
            <a:extLst>
              <a:ext uri="{FF2B5EF4-FFF2-40B4-BE49-F238E27FC236}">
                <a16:creationId xmlns:a16="http://schemas.microsoft.com/office/drawing/2014/main" id="{6134E046-11EA-3297-56B3-C7A70B296D8F}"/>
              </a:ext>
            </a:extLst>
          </p:cNvPr>
          <p:cNvGraphicFramePr>
            <a:graphicFrameLocks noGrp="1"/>
          </p:cNvGraphicFramePr>
          <p:nvPr>
            <p:extLst>
              <p:ext uri="{D42A27DB-BD31-4B8C-83A1-F6EECF244321}">
                <p14:modId xmlns:p14="http://schemas.microsoft.com/office/powerpoint/2010/main" val="2718763822"/>
              </p:ext>
            </p:extLst>
          </p:nvPr>
        </p:nvGraphicFramePr>
        <p:xfrm>
          <a:off x="321757" y="1106173"/>
          <a:ext cx="3840533" cy="2688452"/>
        </p:xfrm>
        <a:graphic>
          <a:graphicData uri="http://schemas.openxmlformats.org/drawingml/2006/table">
            <a:tbl>
              <a:tblPr/>
              <a:tblGrid>
                <a:gridCol w="1738001">
                  <a:extLst>
                    <a:ext uri="{9D8B030D-6E8A-4147-A177-3AD203B41FA5}">
                      <a16:colId xmlns:a16="http://schemas.microsoft.com/office/drawing/2014/main" val="2135351548"/>
                    </a:ext>
                  </a:extLst>
                </a:gridCol>
                <a:gridCol w="2102532">
                  <a:extLst>
                    <a:ext uri="{9D8B030D-6E8A-4147-A177-3AD203B41FA5}">
                      <a16:colId xmlns:a16="http://schemas.microsoft.com/office/drawing/2014/main" val="2658358281"/>
                    </a:ext>
                  </a:extLst>
                </a:gridCol>
              </a:tblGrid>
              <a:tr h="241659">
                <a:tc gridSpan="2">
                  <a:txBody>
                    <a:bodyPr/>
                    <a:lstStyle/>
                    <a:p>
                      <a:pPr algn="ctr" fontAlgn="ct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Fund Details</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extLst>
                  <a:ext uri="{0D108BD9-81ED-4DB2-BD59-A6C34878D82A}">
                    <a16:rowId xmlns:a16="http://schemas.microsoft.com/office/drawing/2014/main" val="4280853096"/>
                  </a:ext>
                </a:extLst>
              </a:tr>
              <a:tr h="803516">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Investment Rationale</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dirty="0">
                          <a:latin typeface="Roboto" panose="02000000000000000000" pitchFamily="2" charset="0"/>
                          <a:ea typeface="Roboto" panose="02000000000000000000" pitchFamily="2" charset="0"/>
                          <a:cs typeface="Roboto" panose="02000000000000000000" pitchFamily="2" charset="0"/>
                        </a:rPr>
                        <a:t>This Growth Strategy Fund is a top performer, consistently generating strong alpha with controlled valuations and sector alignment with CA's stance.</a:t>
                      </a: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3086475"/>
                  </a:ext>
                </a:extLst>
              </a:tr>
              <a:tr h="23360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Category</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Large Cap</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1323386"/>
                  </a:ext>
                </a:extLst>
              </a:tr>
              <a:tr h="23360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AUM (</a:t>
                      </a:r>
                      <a:r>
                        <a:rPr lang="en-IN"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Crs</a:t>
                      </a: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37,546</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8531186"/>
                  </a:ext>
                </a:extLst>
              </a:tr>
              <a:tr h="23360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Portfolio Style</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Growth</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9881931"/>
                  </a:ext>
                </a:extLst>
              </a:tr>
              <a:tr h="23360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Expense Ratio (Direct)</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0.74%</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4685525"/>
                  </a:ext>
                </a:extLst>
              </a:tr>
              <a:tr h="23360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Expense Ratio (Regular)</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1.56%</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6673952"/>
                  </a:ext>
                </a:extLst>
              </a:tr>
              <a:tr h="23360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Exit Load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 for redemption within 7 days</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6802055"/>
                  </a:ext>
                </a:extLst>
              </a:tr>
              <a:tr h="241659">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Fund Manager</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Sailesh Raj Bhan, Bhavik Dave</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9008781"/>
                  </a:ext>
                </a:extLst>
              </a:tr>
            </a:tbl>
          </a:graphicData>
        </a:graphic>
      </p:graphicFrame>
      <p:graphicFrame>
        <p:nvGraphicFramePr>
          <p:cNvPr id="13" name="Table 12">
            <a:extLst>
              <a:ext uri="{FF2B5EF4-FFF2-40B4-BE49-F238E27FC236}">
                <a16:creationId xmlns:a16="http://schemas.microsoft.com/office/drawing/2014/main" id="{66C7376B-A199-A24F-5EF5-DD9A600CDDBF}"/>
              </a:ext>
            </a:extLst>
          </p:cNvPr>
          <p:cNvGraphicFramePr>
            <a:graphicFrameLocks noGrp="1"/>
          </p:cNvGraphicFramePr>
          <p:nvPr>
            <p:extLst>
              <p:ext uri="{D42A27DB-BD31-4B8C-83A1-F6EECF244321}">
                <p14:modId xmlns:p14="http://schemas.microsoft.com/office/powerpoint/2010/main" val="1642816312"/>
              </p:ext>
            </p:extLst>
          </p:nvPr>
        </p:nvGraphicFramePr>
        <p:xfrm>
          <a:off x="8781600" y="1106173"/>
          <a:ext cx="2912956" cy="2688455"/>
        </p:xfrm>
        <a:graphic>
          <a:graphicData uri="http://schemas.openxmlformats.org/drawingml/2006/table">
            <a:tbl>
              <a:tblPr/>
              <a:tblGrid>
                <a:gridCol w="1768581">
                  <a:extLst>
                    <a:ext uri="{9D8B030D-6E8A-4147-A177-3AD203B41FA5}">
                      <a16:colId xmlns:a16="http://schemas.microsoft.com/office/drawing/2014/main" val="2525296264"/>
                    </a:ext>
                  </a:extLst>
                </a:gridCol>
                <a:gridCol w="1144375">
                  <a:extLst>
                    <a:ext uri="{9D8B030D-6E8A-4147-A177-3AD203B41FA5}">
                      <a16:colId xmlns:a16="http://schemas.microsoft.com/office/drawing/2014/main" val="3819490893"/>
                    </a:ext>
                  </a:extLst>
                </a:gridCol>
              </a:tblGrid>
              <a:tr h="224662">
                <a:tc gridSpan="2">
                  <a:txBody>
                    <a:bodyPr/>
                    <a:lstStyle/>
                    <a:p>
                      <a:pPr algn="ctr" fontAlgn="ct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Top Holdings</a:t>
                      </a:r>
                    </a:p>
                  </a:txBody>
                  <a:tcPr marL="8467" marR="8467" marT="84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extLst>
                  <a:ext uri="{0D108BD9-81ED-4DB2-BD59-A6C34878D82A}">
                    <a16:rowId xmlns:a16="http://schemas.microsoft.com/office/drawing/2014/main" val="458788909"/>
                  </a:ext>
                </a:extLst>
              </a:tr>
              <a:tr h="224662">
                <a:tc>
                  <a:txBody>
                    <a:bodyPr/>
                    <a:lstStyle/>
                    <a:p>
                      <a:pPr algn="ctr" fontAlgn="ctr"/>
                      <a:r>
                        <a:rPr lang="en-IN"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Stock</a:t>
                      </a:r>
                    </a:p>
                  </a:txBody>
                  <a:tcPr marL="8467" marR="8467" marT="846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IN" sz="1000" b="1"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Allocation</a:t>
                      </a:r>
                    </a:p>
                  </a:txBody>
                  <a:tcPr marL="8467" marR="8467" marT="8467"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366018498"/>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HDFC Bank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9.00</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6688871"/>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Reliance Industries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7.45</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7950876"/>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ICICI Bank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6.11</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9606295"/>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Axis Bank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4.92</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2184850"/>
                  </a:ext>
                </a:extLst>
              </a:tr>
              <a:tr h="217173">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Larsen &amp; Toubro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3.71</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6921768"/>
                  </a:ext>
                </a:extLst>
              </a:tr>
              <a:tr h="224662">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State Bank of India</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3.52</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3761443"/>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Bajaj Finance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3.39</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5704548"/>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Tri-Party Repo</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3.04</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684236"/>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Infosys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2.57</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1312324"/>
                  </a:ext>
                </a:extLst>
              </a:tr>
              <a:tr h="224662">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NTPC Ltd</a:t>
                      </a:r>
                    </a:p>
                  </a:txBody>
                  <a:tcPr marL="6350" marR="6350" marT="635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2.56</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1268145"/>
                  </a:ext>
                </a:extLst>
              </a:tr>
            </a:tbl>
          </a:graphicData>
        </a:graphic>
      </p:graphicFrame>
      <p:graphicFrame>
        <p:nvGraphicFramePr>
          <p:cNvPr id="17" name="Table 16">
            <a:extLst>
              <a:ext uri="{FF2B5EF4-FFF2-40B4-BE49-F238E27FC236}">
                <a16:creationId xmlns:a16="http://schemas.microsoft.com/office/drawing/2014/main" id="{B77A0E71-0063-6295-933B-4F866045E731}"/>
              </a:ext>
            </a:extLst>
          </p:cNvPr>
          <p:cNvGraphicFramePr>
            <a:graphicFrameLocks noGrp="1"/>
          </p:cNvGraphicFramePr>
          <p:nvPr>
            <p:extLst>
              <p:ext uri="{D42A27DB-BD31-4B8C-83A1-F6EECF244321}">
                <p14:modId xmlns:p14="http://schemas.microsoft.com/office/powerpoint/2010/main" val="1466205596"/>
              </p:ext>
            </p:extLst>
          </p:nvPr>
        </p:nvGraphicFramePr>
        <p:xfrm>
          <a:off x="6471807" y="2554861"/>
          <a:ext cx="2065867" cy="1116000"/>
        </p:xfrm>
        <a:graphic>
          <a:graphicData uri="http://schemas.openxmlformats.org/drawingml/2006/table">
            <a:tbl>
              <a:tblPr/>
              <a:tblGrid>
                <a:gridCol w="1347851">
                  <a:extLst>
                    <a:ext uri="{9D8B030D-6E8A-4147-A177-3AD203B41FA5}">
                      <a16:colId xmlns:a16="http://schemas.microsoft.com/office/drawing/2014/main" val="804104117"/>
                    </a:ext>
                  </a:extLst>
                </a:gridCol>
                <a:gridCol w="718016">
                  <a:extLst>
                    <a:ext uri="{9D8B030D-6E8A-4147-A177-3AD203B41FA5}">
                      <a16:colId xmlns:a16="http://schemas.microsoft.com/office/drawing/2014/main" val="2352690124"/>
                    </a:ext>
                  </a:extLst>
                </a:gridCol>
              </a:tblGrid>
              <a:tr h="223200">
                <a:tc gridSpan="2">
                  <a:txBody>
                    <a:bodyPr/>
                    <a:lstStyle/>
                    <a:p>
                      <a:pPr algn="ctr" fontAlgn="ctr"/>
                      <a:r>
                        <a:rPr lang="en-IN" sz="1000" b="1" i="0" u="none" strike="noStrike" dirty="0" err="1">
                          <a:solidFill>
                            <a:srgbClr val="FFFFFF"/>
                          </a:solidFill>
                          <a:effectLst/>
                          <a:latin typeface="Roboto" panose="02000000000000000000" pitchFamily="2" charset="0"/>
                          <a:ea typeface="Roboto" panose="02000000000000000000" pitchFamily="2" charset="0"/>
                          <a:cs typeface="Roboto" panose="02000000000000000000" pitchFamily="2" charset="0"/>
                        </a:rPr>
                        <a:t>MCap</a:t>
                      </a:r>
                      <a:r>
                        <a:rPr lang="en-IN"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 Allocation</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4795"/>
                    </a:solidFill>
                  </a:tcPr>
                </a:tc>
                <a:tc hMerge="1">
                  <a:txBody>
                    <a:bodyPr/>
                    <a:lstStyle/>
                    <a:p>
                      <a:endParaRPr lang="en-IN"/>
                    </a:p>
                  </a:txBody>
                  <a:tcPr/>
                </a:tc>
                <a:extLst>
                  <a:ext uri="{0D108BD9-81ED-4DB2-BD59-A6C34878D82A}">
                    <a16:rowId xmlns:a16="http://schemas.microsoft.com/office/drawing/2014/main" val="315435885"/>
                  </a:ext>
                </a:extLst>
              </a:tr>
              <a:tr h="223200">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Large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81.49%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0705704"/>
                  </a:ext>
                </a:extLst>
              </a:tr>
              <a:tr h="223200">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Mid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11.14%</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1278624"/>
                  </a:ext>
                </a:extLst>
              </a:tr>
              <a:tr h="223200">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Small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3.76%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5130674"/>
                  </a:ext>
                </a:extLst>
              </a:tr>
              <a:tr h="223200">
                <a:tc>
                  <a:txBody>
                    <a:bodyPr/>
                    <a:lstStyle/>
                    <a:p>
                      <a:pPr algn="l"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Other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3.60%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4009735"/>
                  </a:ext>
                </a:extLst>
              </a:tr>
            </a:tbl>
          </a:graphicData>
        </a:graphic>
      </p:graphicFrame>
      <p:graphicFrame>
        <p:nvGraphicFramePr>
          <p:cNvPr id="15" name="Chart 14">
            <a:extLst>
              <a:ext uri="{FF2B5EF4-FFF2-40B4-BE49-F238E27FC236}">
                <a16:creationId xmlns:a16="http://schemas.microsoft.com/office/drawing/2014/main" id="{BA131A11-9DC1-C181-66CA-6FAE63C1E30C}"/>
              </a:ext>
            </a:extLst>
          </p:cNvPr>
          <p:cNvGraphicFramePr/>
          <p:nvPr/>
        </p:nvGraphicFramePr>
        <p:xfrm>
          <a:off x="7122119" y="3901958"/>
          <a:ext cx="4588044" cy="2298044"/>
        </p:xfrm>
        <a:graphic>
          <a:graphicData uri="http://schemas.openxmlformats.org/drawingml/2006/chart">
            <c:chart xmlns:c="http://schemas.openxmlformats.org/drawingml/2006/chart" xmlns:r="http://schemas.openxmlformats.org/officeDocument/2006/relationships" r:id="rId2"/>
          </a:graphicData>
        </a:graphic>
      </p:graphicFrame>
      <p:sp>
        <p:nvSpPr>
          <p:cNvPr id="22" name="TextBox 21">
            <a:extLst>
              <a:ext uri="{FF2B5EF4-FFF2-40B4-BE49-F238E27FC236}">
                <a16:creationId xmlns:a16="http://schemas.microsoft.com/office/drawing/2014/main" id="{4D6E2379-1B3D-4FD5-9396-EA0F60A3052B}"/>
              </a:ext>
            </a:extLst>
          </p:cNvPr>
          <p:cNvSpPr txBox="1"/>
          <p:nvPr/>
        </p:nvSpPr>
        <p:spPr>
          <a:xfrm>
            <a:off x="10630070" y="6565245"/>
            <a:ext cx="1351652" cy="235898"/>
          </a:xfrm>
          <a:prstGeom prst="rect">
            <a:avLst/>
          </a:prstGeom>
          <a:noFill/>
        </p:spPr>
        <p:txBody>
          <a:bodyPr wrap="none" rtlCol="0">
            <a:spAutoFit/>
          </a:bodyPr>
          <a:lstStyle/>
          <a:p>
            <a:r>
              <a:rPr lang="en-US" sz="933" dirty="0"/>
              <a:t>Data as on 30/04/2025</a:t>
            </a:r>
          </a:p>
        </p:txBody>
      </p:sp>
      <p:pic>
        <p:nvPicPr>
          <p:cNvPr id="14" name="Picture 22">
            <a:extLst>
              <a:ext uri="{FF2B5EF4-FFF2-40B4-BE49-F238E27FC236}">
                <a16:creationId xmlns:a16="http://schemas.microsoft.com/office/drawing/2014/main" id="{B3CD161D-2E93-21BC-E1E7-6FFD37EA0C7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40527331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7FA16A1B-2D4D-4D8C-B41D-51C47F691DE5}"/>
              </a:ext>
            </a:extLst>
          </p:cNvPr>
          <p:cNvSpPr>
            <a:spLocks noGrp="1"/>
          </p:cNvSpPr>
          <p:nvPr/>
        </p:nvSpPr>
        <p:spPr>
          <a:xfrm>
            <a:off x="317501" y="2859089"/>
            <a:ext cx="10675179" cy="420687"/>
          </a:xfrm>
          <a:prstGeom prst="rect">
            <a:avLst/>
          </a:prstGeom>
          <a:ln>
            <a:solidFill>
              <a:schemeClr val="bg1"/>
            </a:solidFill>
          </a:ln>
        </p:spPr>
        <p:txBody>
          <a:bodyPr lIns="0" tIns="0" rIns="0" bIns="0"/>
          <a:lstStyle/>
          <a:p>
            <a:pPr>
              <a:defRPr sz="1200" b="1">
                <a:solidFill>
                  <a:srgbClr val="1F497D"/>
                </a:solidFill>
                <a:latin typeface="SansSerif"/>
                <a:ea typeface="SansSerif"/>
                <a:cs typeface="SansSerif"/>
              </a:defRPr>
            </a:pPr>
            <a:r>
              <a:rPr lang="en-US" sz="2400" b="1" dirty="0">
                <a:solidFill>
                  <a:srgbClr val="1F497D"/>
                </a:solidFill>
                <a:latin typeface="Roboto" panose="02000000000000000000" pitchFamily="2" charset="0"/>
                <a:ea typeface="Roboto" panose="02000000000000000000" pitchFamily="2" charset="0"/>
                <a:cs typeface="Roboto" panose="02000000000000000000" pitchFamily="2" charset="0"/>
              </a:rPr>
              <a:t>CA Market Update: </a:t>
            </a:r>
            <a:r>
              <a:rPr lang="en-US" sz="2400" dirty="0">
                <a:solidFill>
                  <a:srgbClr val="1F497D"/>
                </a:solidFill>
                <a:latin typeface="Roboto" panose="02000000000000000000" pitchFamily="2" charset="0"/>
                <a:ea typeface="Roboto" panose="02000000000000000000" pitchFamily="2" charset="0"/>
                <a:cs typeface="Roboto" panose="02000000000000000000" pitchFamily="2" charset="0"/>
              </a:rPr>
              <a:t>Indian and Global Economy &amp; Financial Markets </a:t>
            </a:r>
            <a:endParaRPr sz="2400" b="1" dirty="0">
              <a:solidFill>
                <a:srgbClr val="1F497D"/>
              </a:solidFill>
              <a:latin typeface="Roboto" panose="02000000000000000000" pitchFamily="2" charset="0"/>
              <a:ea typeface="Roboto" panose="02000000000000000000" pitchFamily="2" charset="0"/>
              <a:cs typeface="Roboto" panose="02000000000000000000" pitchFamily="2" charset="0"/>
            </a:endParaRPr>
          </a:p>
        </p:txBody>
      </p:sp>
      <p:sp>
        <p:nvSpPr>
          <p:cNvPr id="73732" name="Line">
            <a:extLst>
              <a:ext uri="{FF2B5EF4-FFF2-40B4-BE49-F238E27FC236}">
                <a16:creationId xmlns:a16="http://schemas.microsoft.com/office/drawing/2014/main" id="{7B298B44-B834-4ABA-A7E9-6D0E8B876B9D}"/>
              </a:ext>
            </a:extLst>
          </p:cNvPr>
          <p:cNvSpPr>
            <a:spLocks noGrp="1"/>
          </p:cNvSpPr>
          <p:nvPr/>
        </p:nvSpPr>
        <p:spPr bwMode="auto">
          <a:xfrm>
            <a:off x="317501" y="3279776"/>
            <a:ext cx="11755439" cy="4763"/>
          </a:xfrm>
          <a:prstGeom prst="line">
            <a:avLst/>
          </a:prstGeom>
          <a:noFill/>
          <a:ln w="19050">
            <a:solidFill>
              <a:srgbClr val="4AB38B"/>
            </a:solidFill>
            <a:round/>
            <a:headEnd/>
            <a:tailEnd/>
          </a:ln>
          <a:extLst>
            <a:ext uri="{909E8E84-426E-40DD-AFC4-6F175D3DCCD1}">
              <a14:hiddenFill xmlns:a14="http://schemas.microsoft.com/office/drawing/2010/main">
                <a:noFill/>
              </a14:hiddenFill>
            </a:ext>
          </a:extLst>
        </p:spPr>
        <p:txBody>
          <a:bodyPr anchor="ctr"/>
          <a:lstStyle/>
          <a:p>
            <a:endParaRPr lang="en-US" sz="2400"/>
          </a:p>
        </p:txBody>
      </p:sp>
      <p:pic>
        <p:nvPicPr>
          <p:cNvPr id="2" name="Picture 22">
            <a:extLst>
              <a:ext uri="{FF2B5EF4-FFF2-40B4-BE49-F238E27FC236}">
                <a16:creationId xmlns:a16="http://schemas.microsoft.com/office/drawing/2014/main" id="{FF7B66CC-852C-4030-D636-D49F091294AD}"/>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666783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D32F0-EC18-F675-278A-2C802288751C}"/>
            </a:ext>
          </a:extLst>
        </p:cNvPr>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15EE2AAE-7E2F-A639-070E-950FFF5C0978}"/>
              </a:ext>
            </a:extLst>
          </p:cNvPr>
          <p:cNvPicPr>
            <a:picLocks noChangeAspect="1"/>
          </p:cNvPicPr>
          <p:nvPr/>
        </p:nvPicPr>
        <p:blipFill>
          <a:blip r:embed="rId3">
            <a:alphaModFix amt="4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BD502FD5-9838-68A2-E23C-E87E16CA77F3}"/>
              </a:ext>
            </a:extLst>
          </p:cNvPr>
          <p:cNvPicPr>
            <a:picLocks noChangeAspect="1"/>
          </p:cNvPicPr>
          <p:nvPr/>
        </p:nvPicPr>
        <p:blipFill>
          <a:blip r:embed="rId5">
            <a:alphaModFix amt="2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68560" y="-243840"/>
            <a:ext cx="2367280" cy="2367280"/>
          </a:xfrm>
          <a:prstGeom prst="rect">
            <a:avLst/>
          </a:prstGeom>
        </p:spPr>
      </p:pic>
      <p:pic>
        <p:nvPicPr>
          <p:cNvPr id="11" name="Graphic 10" descr="Presentation with bar chart with solid fill">
            <a:extLst>
              <a:ext uri="{FF2B5EF4-FFF2-40B4-BE49-F238E27FC236}">
                <a16:creationId xmlns:a16="http://schemas.microsoft.com/office/drawing/2014/main" id="{27DF67EC-3690-D619-FA8A-FAA353AB75B1}"/>
              </a:ext>
            </a:extLst>
          </p:cNvPr>
          <p:cNvPicPr>
            <a:picLocks noChangeAspect="1"/>
          </p:cNvPicPr>
          <p:nvPr/>
        </p:nvPicPr>
        <p:blipFill>
          <a:blip r:embed="rId7">
            <a:alphaModFix amt="2000"/>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200" y="4734560"/>
            <a:ext cx="2123440" cy="2123440"/>
          </a:xfrm>
          <a:prstGeom prst="rect">
            <a:avLst/>
          </a:prstGeom>
        </p:spPr>
      </p:pic>
      <p:grpSp>
        <p:nvGrpSpPr>
          <p:cNvPr id="13" name="Group 12">
            <a:extLst>
              <a:ext uri="{FF2B5EF4-FFF2-40B4-BE49-F238E27FC236}">
                <a16:creationId xmlns:a16="http://schemas.microsoft.com/office/drawing/2014/main" id="{8D154B35-E1AE-6AFF-EE4D-5BECCAC7299F}"/>
              </a:ext>
            </a:extLst>
          </p:cNvPr>
          <p:cNvGrpSpPr/>
          <p:nvPr/>
        </p:nvGrpSpPr>
        <p:grpSpPr>
          <a:xfrm>
            <a:off x="7046" y="144535"/>
            <a:ext cx="6088954" cy="546208"/>
            <a:chOff x="7048" y="420014"/>
            <a:chExt cx="4098470" cy="633057"/>
          </a:xfrm>
        </p:grpSpPr>
        <p:sp>
          <p:nvSpPr>
            <p:cNvPr id="14" name="TextBox 13">
              <a:extLst>
                <a:ext uri="{FF2B5EF4-FFF2-40B4-BE49-F238E27FC236}">
                  <a16:creationId xmlns:a16="http://schemas.microsoft.com/office/drawing/2014/main" id="{680EEC7B-4402-53F1-AC85-A090961B1777}"/>
                </a:ext>
              </a:extLst>
            </p:cNvPr>
            <p:cNvSpPr txBox="1"/>
            <p:nvPr/>
          </p:nvSpPr>
          <p:spPr>
            <a:xfrm>
              <a:off x="11206" y="420014"/>
              <a:ext cx="4094312" cy="535072"/>
            </a:xfrm>
            <a:prstGeom prst="rect">
              <a:avLst/>
            </a:prstGeom>
            <a:noFill/>
          </p:spPr>
          <p:txBody>
            <a:bodyPr wrap="square" rtlCol="0">
              <a:spAutoFit/>
            </a:bodyPr>
            <a:lstStyle/>
            <a:p>
              <a:r>
                <a:rPr lang="en-US" sz="2400" dirty="0">
                  <a:solidFill>
                    <a:srgbClr val="084795"/>
                  </a:solidFill>
                  <a:latin typeface="Roboto" panose="02000000000000000000" pitchFamily="2" charset="0"/>
                  <a:ea typeface="Roboto" panose="02000000000000000000" pitchFamily="2" charset="0"/>
                </a:rPr>
                <a:t>Monthly Market Activities (May’25) </a:t>
              </a:r>
            </a:p>
          </p:txBody>
        </p:sp>
        <p:cxnSp>
          <p:nvCxnSpPr>
            <p:cNvPr id="15" name="Straight Connector 14">
              <a:extLst>
                <a:ext uri="{FF2B5EF4-FFF2-40B4-BE49-F238E27FC236}">
                  <a16:creationId xmlns:a16="http://schemas.microsoft.com/office/drawing/2014/main" id="{2471F3EA-6A60-7A52-A886-0717734EF7AE}"/>
                </a:ext>
              </a:extLst>
            </p:cNvPr>
            <p:cNvCxnSpPr>
              <a:cxnSpLocks/>
            </p:cNvCxnSpPr>
            <p:nvPr/>
          </p:nvCxnSpPr>
          <p:spPr>
            <a:xfrm flipV="1">
              <a:off x="7048" y="1053070"/>
              <a:ext cx="3776396" cy="1"/>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805DBECD-04B2-D108-4EDC-2D82913DA8E8}"/>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sp>
        <p:nvSpPr>
          <p:cNvPr id="18" name="TextBox 17">
            <a:extLst>
              <a:ext uri="{FF2B5EF4-FFF2-40B4-BE49-F238E27FC236}">
                <a16:creationId xmlns:a16="http://schemas.microsoft.com/office/drawing/2014/main" id="{5E61ECC2-AF67-ABC0-DF97-A8D47B3808AB}"/>
              </a:ext>
            </a:extLst>
          </p:cNvPr>
          <p:cNvSpPr txBox="1"/>
          <p:nvPr/>
        </p:nvSpPr>
        <p:spPr>
          <a:xfrm>
            <a:off x="5888403" y="1168957"/>
            <a:ext cx="6201147" cy="5544508"/>
          </a:xfrm>
          <a:prstGeom prst="rect">
            <a:avLst/>
          </a:prstGeom>
          <a:noFill/>
        </p:spPr>
        <p:txBody>
          <a:bodyPr wrap="square">
            <a:noAutofit/>
          </a:bodyPr>
          <a:lstStyle/>
          <a:p>
            <a:pPr marL="0" indent="0" algn="just" eaLnBrk="1" fontAlgn="ctr" hangingPunct="1">
              <a:spcBef>
                <a:spcPts val="0"/>
              </a:spcBef>
              <a:spcAft>
                <a:spcPts val="0"/>
              </a:spcAft>
              <a:buNone/>
              <a:defRPr/>
            </a:pPr>
            <a:r>
              <a:rPr lang="en-IN" sz="1200" b="1" u="sng" dirty="0">
                <a:solidFill>
                  <a:schemeClr val="accent1">
                    <a:lumMod val="75000"/>
                  </a:schemeClr>
                </a:solidFill>
                <a:ea typeface="Roboto" panose="02000000000000000000" pitchFamily="2" charset="0"/>
              </a:rPr>
              <a:t>Key Highlights:</a:t>
            </a:r>
            <a:endParaRPr lang="en-IN" sz="1200" b="1" i="1" u="sng" kern="0" dirty="0">
              <a:solidFill>
                <a:schemeClr val="accent1">
                  <a:lumMod val="75000"/>
                </a:schemeClr>
              </a:solidFill>
              <a:ea typeface="Roboto" panose="02000000000000000000" pitchFamily="2" charset="0"/>
            </a:endParaRPr>
          </a:p>
          <a:p>
            <a:pPr marL="0" indent="0" algn="just" eaLnBrk="1" fontAlgn="ctr" hangingPunct="1">
              <a:spcBef>
                <a:spcPts val="0"/>
              </a:spcBef>
              <a:spcAft>
                <a:spcPts val="0"/>
              </a:spcAft>
              <a:buNone/>
              <a:defRPr/>
            </a:pPr>
            <a:endParaRPr lang="en-IN" sz="1200" kern="0" dirty="0">
              <a:solidFill>
                <a:schemeClr val="accent1">
                  <a:lumMod val="75000"/>
                </a:schemeClr>
              </a:solidFill>
              <a:ea typeface="Roboto" panose="02000000000000000000" pitchFamily="2" charset="0"/>
            </a:endParaRPr>
          </a:p>
          <a:p>
            <a:pPr marL="171450" indent="-171450" algn="just" fontAlgn="ctr">
              <a:buFont typeface="Wingdings" panose="05000000000000000000" pitchFamily="2" charset="2"/>
              <a:buChar char="§"/>
              <a:defRPr/>
            </a:pPr>
            <a:r>
              <a:rPr lang="en-US" sz="1200" b="1" kern="0" dirty="0">
                <a:solidFill>
                  <a:srgbClr val="0070C0"/>
                </a:solidFill>
              </a:rPr>
              <a:t>Indian equity markets </a:t>
            </a:r>
            <a:r>
              <a:rPr lang="en-US" sz="1200" kern="0" dirty="0">
                <a:solidFill>
                  <a:schemeClr val="accent1">
                    <a:lumMod val="75000"/>
                  </a:schemeClr>
                </a:solidFill>
                <a:ea typeface="Roboto" panose="02000000000000000000" pitchFamily="2" charset="0"/>
              </a:rPr>
              <a:t>witnessed a broad-based rally, supported by easing geopolitical tensions between India and Pakistan, ongoing progress in global trade negotiations, and a stable domestic macroeconomic environment. Additionally, moderating inflation, a relatively stable rupee, attractive valuations, and renewed FII inflows for the second consecutive month contributed to the upward trajectory.</a:t>
            </a:r>
          </a:p>
          <a:p>
            <a:pPr marL="171450" indent="-171450" algn="just" fontAlgn="ctr">
              <a:buFont typeface="Wingdings" panose="05000000000000000000" pitchFamily="2" charset="2"/>
              <a:buChar char="§"/>
              <a:defRPr/>
            </a:pPr>
            <a:endParaRPr lang="en-US" sz="1200" kern="0" dirty="0">
              <a:solidFill>
                <a:schemeClr val="accent1">
                  <a:lumMod val="75000"/>
                </a:schemeClr>
              </a:solidFill>
              <a:ea typeface="Roboto" panose="02000000000000000000" pitchFamily="2" charset="0"/>
            </a:endParaRPr>
          </a:p>
          <a:p>
            <a:pPr marL="171450" indent="-171450" algn="just" fontAlgn="ctr">
              <a:buFont typeface="Wingdings" panose="05000000000000000000" pitchFamily="2" charset="2"/>
              <a:buChar char="§"/>
              <a:defRPr/>
            </a:pPr>
            <a:r>
              <a:rPr lang="en-US" sz="1200" b="1" kern="0" dirty="0">
                <a:solidFill>
                  <a:srgbClr val="0070C0"/>
                </a:solidFill>
              </a:rPr>
              <a:t>Global equity markets </a:t>
            </a:r>
            <a:r>
              <a:rPr lang="en-US" sz="1200" kern="0" dirty="0">
                <a:solidFill>
                  <a:schemeClr val="accent1">
                    <a:lumMod val="75000"/>
                  </a:schemeClr>
                </a:solidFill>
              </a:rPr>
              <a:t>witnessed positive momentum across regions, albeit at varying paces, underpinned by easing tariff-related volatility and advancements in trade discussion. </a:t>
            </a:r>
            <a:r>
              <a:rPr lang="en-US" sz="1200" b="1" kern="0" dirty="0">
                <a:solidFill>
                  <a:srgbClr val="0070C0"/>
                </a:solidFill>
              </a:rPr>
              <a:t>The S&amp;P 500</a:t>
            </a:r>
            <a:r>
              <a:rPr lang="en-US" sz="1200" kern="0" dirty="0">
                <a:solidFill>
                  <a:schemeClr val="accent1">
                    <a:lumMod val="75000"/>
                  </a:schemeClr>
                </a:solidFill>
              </a:rPr>
              <a:t> rose sharply, buoyed by easing trade tensions following a US-China tariff agreement and supported by strong earnings in the technology sector. Chinese equities saw modest gains; while the truce in trade tensions offered support, the broader </a:t>
            </a:r>
            <a:r>
              <a:rPr lang="en-US" sz="1200" b="1" kern="0" dirty="0">
                <a:solidFill>
                  <a:srgbClr val="0070C0"/>
                </a:solidFill>
              </a:rPr>
              <a:t>Shanghai Composite Index </a:t>
            </a:r>
            <a:r>
              <a:rPr lang="en-US" sz="1200" kern="0" dirty="0">
                <a:solidFill>
                  <a:schemeClr val="accent1">
                    <a:lumMod val="75000"/>
                  </a:schemeClr>
                </a:solidFill>
              </a:rPr>
              <a:t>was weighed down by deflationary concerns and a tepid response to economic stimulus. </a:t>
            </a:r>
            <a:r>
              <a:rPr lang="en-US" sz="1200" b="1" kern="0" dirty="0">
                <a:solidFill>
                  <a:srgbClr val="0070C0"/>
                </a:solidFill>
              </a:rPr>
              <a:t>Germany’s DAX </a:t>
            </a:r>
            <a:r>
              <a:rPr lang="en-US" sz="1200" kern="0" dirty="0">
                <a:solidFill>
                  <a:schemeClr val="accent1">
                    <a:lumMod val="75000"/>
                  </a:schemeClr>
                </a:solidFill>
              </a:rPr>
              <a:t>outperformed major peers, driven by tariff relief, fiscal stimulus measures, and </a:t>
            </a:r>
            <a:r>
              <a:rPr lang="en-GB" sz="1200" kern="0" dirty="0">
                <a:solidFill>
                  <a:schemeClr val="accent1">
                    <a:lumMod val="75000"/>
                  </a:schemeClr>
                </a:solidFill>
              </a:rPr>
              <a:t>a supportive interest rate environment</a:t>
            </a:r>
            <a:r>
              <a:rPr lang="en-US" sz="1200" kern="0" dirty="0">
                <a:solidFill>
                  <a:schemeClr val="accent1">
                    <a:lumMod val="75000"/>
                  </a:schemeClr>
                </a:solidFill>
              </a:rPr>
              <a:t>. </a:t>
            </a:r>
            <a:r>
              <a:rPr lang="en-US" sz="1200" b="1" kern="0" dirty="0">
                <a:solidFill>
                  <a:srgbClr val="0070C0"/>
                </a:solidFill>
              </a:rPr>
              <a:t>Japan’s Nikkei 225 </a:t>
            </a:r>
            <a:r>
              <a:rPr lang="en-US" sz="1200" kern="0" dirty="0">
                <a:solidFill>
                  <a:schemeClr val="accent1">
                    <a:lumMod val="75000"/>
                  </a:schemeClr>
                </a:solidFill>
              </a:rPr>
              <a:t>rallied on the back of a weaker yen, falling bond yields, and the Bank of Japan’s continued accommodative stance. </a:t>
            </a:r>
            <a:r>
              <a:rPr lang="en-US" sz="1200" b="1" kern="0" dirty="0">
                <a:solidFill>
                  <a:srgbClr val="0070C0"/>
                </a:solidFill>
              </a:rPr>
              <a:t>Brazil’s IBOVESPA </a:t>
            </a:r>
            <a:r>
              <a:rPr lang="en-US" sz="1200" kern="0" dirty="0">
                <a:solidFill>
                  <a:schemeClr val="accent1">
                    <a:lumMod val="75000"/>
                  </a:schemeClr>
                </a:solidFill>
              </a:rPr>
              <a:t>reached record highs, underpinned by attractive valuations, strengthening economic fundamentals—particularly in domestic consumption—expectations of interest rate cuts, and sustained FII inflows. In the UK, despite persistent inflationary pressures, </a:t>
            </a:r>
            <a:r>
              <a:rPr lang="en-US" sz="1200" b="1" kern="0" dirty="0">
                <a:solidFill>
                  <a:srgbClr val="0070C0"/>
                </a:solidFill>
              </a:rPr>
              <a:t>the FTSE 100 </a:t>
            </a:r>
            <a:r>
              <a:rPr lang="en-US" sz="1200" kern="0" dirty="0">
                <a:solidFill>
                  <a:schemeClr val="accent1">
                    <a:lumMod val="75000"/>
                  </a:schemeClr>
                </a:solidFill>
              </a:rPr>
              <a:t>delivered modest gains, supported by resilient corporate earnings and appealing dividend yields.</a:t>
            </a:r>
            <a:endParaRPr lang="en-GB" sz="1200" kern="0" dirty="0">
              <a:solidFill>
                <a:schemeClr val="accent1">
                  <a:lumMod val="75000"/>
                </a:schemeClr>
              </a:solidFill>
            </a:endParaRPr>
          </a:p>
          <a:p>
            <a:pPr algn="just" fontAlgn="ctr">
              <a:defRPr/>
            </a:pPr>
            <a:endParaRPr lang="en-US" sz="1200" kern="0" dirty="0">
              <a:solidFill>
                <a:schemeClr val="accent1">
                  <a:lumMod val="75000"/>
                </a:schemeClr>
              </a:solidFill>
            </a:endParaRPr>
          </a:p>
          <a:p>
            <a:pPr marL="171450" indent="-171450" algn="just" fontAlgn="ctr">
              <a:buFont typeface="Wingdings" panose="05000000000000000000" pitchFamily="2" charset="2"/>
              <a:buChar char="§"/>
              <a:defRPr/>
            </a:pPr>
            <a:r>
              <a:rPr lang="en-GB" sz="1200" b="1" kern="0" dirty="0">
                <a:solidFill>
                  <a:srgbClr val="0070C0"/>
                </a:solidFill>
              </a:rPr>
              <a:t>Domestic geopolitical tensions</a:t>
            </a:r>
            <a:r>
              <a:rPr lang="en-GB" sz="1200" kern="0" dirty="0">
                <a:solidFill>
                  <a:schemeClr val="accent1">
                    <a:lumMod val="75000"/>
                  </a:schemeClr>
                </a:solidFill>
              </a:rPr>
              <a:t>, alongside persistent global challenges—particularly in the Russia-Ukraine region and the Middle East — as well as </a:t>
            </a:r>
            <a:r>
              <a:rPr lang="en-GB" sz="1200" b="1" kern="0" dirty="0">
                <a:solidFill>
                  <a:srgbClr val="0070C0"/>
                </a:solidFill>
              </a:rPr>
              <a:t>reciprocal tariffs</a:t>
            </a:r>
            <a:r>
              <a:rPr lang="en-GB" sz="1200" kern="0" dirty="0">
                <a:solidFill>
                  <a:schemeClr val="accent1">
                    <a:lumMod val="75000"/>
                  </a:schemeClr>
                </a:solidFill>
              </a:rPr>
              <a:t> and the threat of potential trade wars, pose risks to the global trade framework and could intensify economic instability.</a:t>
            </a:r>
          </a:p>
          <a:p>
            <a:pPr marL="171450" indent="-171450" algn="just" fontAlgn="ctr">
              <a:buFont typeface="Wingdings" panose="05000000000000000000" pitchFamily="2" charset="2"/>
              <a:buChar char="§"/>
              <a:defRPr/>
            </a:pPr>
            <a:endParaRPr lang="en-US" sz="1200" kern="0" dirty="0">
              <a:solidFill>
                <a:schemeClr val="accent1">
                  <a:lumMod val="75000"/>
                </a:schemeClr>
              </a:solidFill>
              <a:ea typeface="Roboto" panose="02000000000000000000" pitchFamily="2" charset="0"/>
            </a:endParaRPr>
          </a:p>
          <a:p>
            <a:pPr marL="171450" indent="-171450" algn="just" eaLnBrk="1" fontAlgn="ctr" hangingPunct="1">
              <a:spcBef>
                <a:spcPts val="0"/>
              </a:spcBef>
              <a:spcAft>
                <a:spcPts val="0"/>
              </a:spcAft>
              <a:buFont typeface="Wingdings" panose="05000000000000000000" pitchFamily="2" charset="2"/>
              <a:buChar char="§"/>
              <a:defRPr/>
            </a:pPr>
            <a:r>
              <a:rPr lang="en-US" sz="1200" kern="0" dirty="0">
                <a:solidFill>
                  <a:schemeClr val="accent1">
                    <a:lumMod val="75000"/>
                  </a:schemeClr>
                </a:solidFill>
                <a:ea typeface="Roboto" panose="02000000000000000000" pitchFamily="2" charset="0"/>
              </a:rPr>
              <a:t>CA maintains </a:t>
            </a:r>
            <a:r>
              <a:rPr lang="en-US" sz="1200" b="1" kern="0" dirty="0">
                <a:solidFill>
                  <a:srgbClr val="0070C0"/>
                </a:solidFill>
                <a:ea typeface="Roboto" panose="02000000000000000000" pitchFamily="2" charset="0"/>
              </a:rPr>
              <a:t>Neutral</a:t>
            </a:r>
            <a:r>
              <a:rPr lang="en-US" sz="1200" kern="0" dirty="0">
                <a:solidFill>
                  <a:schemeClr val="accent1">
                    <a:lumMod val="75000"/>
                  </a:schemeClr>
                </a:solidFill>
                <a:ea typeface="Roboto" panose="02000000000000000000" pitchFamily="2" charset="0"/>
              </a:rPr>
              <a:t> stance on Equity Markets and </a:t>
            </a:r>
            <a:r>
              <a:rPr lang="en-US" sz="1200" b="1" kern="0" dirty="0">
                <a:solidFill>
                  <a:srgbClr val="0070C0"/>
                </a:solidFill>
                <a:ea typeface="Roboto" panose="02000000000000000000" pitchFamily="2" charset="0"/>
              </a:rPr>
              <a:t>Underweight</a:t>
            </a:r>
            <a:r>
              <a:rPr lang="en-US" sz="1200" kern="0" dirty="0">
                <a:solidFill>
                  <a:schemeClr val="accent1">
                    <a:lumMod val="75000"/>
                  </a:schemeClr>
                </a:solidFill>
                <a:ea typeface="Roboto" panose="02000000000000000000" pitchFamily="2" charset="0"/>
              </a:rPr>
              <a:t> stance on Mid &amp; Small-cap stocks.</a:t>
            </a:r>
          </a:p>
        </p:txBody>
      </p:sp>
      <p:graphicFrame>
        <p:nvGraphicFramePr>
          <p:cNvPr id="3" name="Table 2">
            <a:extLst>
              <a:ext uri="{FF2B5EF4-FFF2-40B4-BE49-F238E27FC236}">
                <a16:creationId xmlns:a16="http://schemas.microsoft.com/office/drawing/2014/main" id="{25D5E509-4FEE-38A7-BA59-E6F1CCDC1D40}"/>
              </a:ext>
            </a:extLst>
          </p:cNvPr>
          <p:cNvGraphicFramePr>
            <a:graphicFrameLocks noGrp="1"/>
          </p:cNvGraphicFramePr>
          <p:nvPr/>
        </p:nvGraphicFramePr>
        <p:xfrm>
          <a:off x="159570" y="941443"/>
          <a:ext cx="5610462" cy="2360421"/>
        </p:xfrm>
        <a:graphic>
          <a:graphicData uri="http://schemas.openxmlformats.org/drawingml/2006/table">
            <a:tbl>
              <a:tblPr/>
              <a:tblGrid>
                <a:gridCol w="1294722">
                  <a:extLst>
                    <a:ext uri="{9D8B030D-6E8A-4147-A177-3AD203B41FA5}">
                      <a16:colId xmlns:a16="http://schemas.microsoft.com/office/drawing/2014/main" val="544686603"/>
                    </a:ext>
                  </a:extLst>
                </a:gridCol>
                <a:gridCol w="863148">
                  <a:extLst>
                    <a:ext uri="{9D8B030D-6E8A-4147-A177-3AD203B41FA5}">
                      <a16:colId xmlns:a16="http://schemas.microsoft.com/office/drawing/2014/main" val="245200993"/>
                    </a:ext>
                  </a:extLst>
                </a:gridCol>
                <a:gridCol w="863148">
                  <a:extLst>
                    <a:ext uri="{9D8B030D-6E8A-4147-A177-3AD203B41FA5}">
                      <a16:colId xmlns:a16="http://schemas.microsoft.com/office/drawing/2014/main" val="659104770"/>
                    </a:ext>
                  </a:extLst>
                </a:gridCol>
                <a:gridCol w="863148">
                  <a:extLst>
                    <a:ext uri="{9D8B030D-6E8A-4147-A177-3AD203B41FA5}">
                      <a16:colId xmlns:a16="http://schemas.microsoft.com/office/drawing/2014/main" val="3530837546"/>
                    </a:ext>
                  </a:extLst>
                </a:gridCol>
                <a:gridCol w="863148">
                  <a:extLst>
                    <a:ext uri="{9D8B030D-6E8A-4147-A177-3AD203B41FA5}">
                      <a16:colId xmlns:a16="http://schemas.microsoft.com/office/drawing/2014/main" val="1493710769"/>
                    </a:ext>
                  </a:extLst>
                </a:gridCol>
                <a:gridCol w="863148">
                  <a:extLst>
                    <a:ext uri="{9D8B030D-6E8A-4147-A177-3AD203B41FA5}">
                      <a16:colId xmlns:a16="http://schemas.microsoft.com/office/drawing/2014/main" val="2572307669"/>
                    </a:ext>
                  </a:extLst>
                </a:gridCol>
              </a:tblGrid>
              <a:tr h="362654">
                <a:tc>
                  <a:txBody>
                    <a:bodyPr/>
                    <a:lstStyle/>
                    <a:p>
                      <a:pPr algn="l" rtl="0" fontAlgn="ctr"/>
                      <a:r>
                        <a:rPr lang="en-GB" sz="1100" b="1" i="0" u="none" strike="noStrike" dirty="0">
                          <a:solidFill>
                            <a:srgbClr val="FFFFFF"/>
                          </a:solidFill>
                          <a:effectLst/>
                          <a:latin typeface="Calibri" panose="020F0502020204030204" pitchFamily="34" charset="0"/>
                        </a:rPr>
                        <a:t>Domestic Indices </a:t>
                      </a:r>
                    </a:p>
                  </a:txBody>
                  <a:tcPr marL="76200" marR="6350" marT="6350" marB="0" anchor="ctr">
                    <a:lnL w="12700" cap="flat" cmpd="sng" algn="ctr">
                      <a:solidFill>
                        <a:srgbClr val="D0D0D0"/>
                      </a:solidFill>
                      <a:prstDash val="solid"/>
                      <a:round/>
                      <a:headEnd type="none" w="med" len="med"/>
                      <a:tailEnd type="none" w="med" len="med"/>
                    </a:lnL>
                    <a:lnR>
                      <a:noFill/>
                    </a:lnR>
                    <a:lnT w="12700" cap="flat" cmpd="sng" algn="ctr">
                      <a:solidFill>
                        <a:srgbClr val="D0D0D0"/>
                      </a:solidFill>
                      <a:prstDash val="solid"/>
                      <a:round/>
                      <a:headEnd type="none" w="med" len="med"/>
                      <a:tailEnd type="none" w="med" len="med"/>
                    </a:lnT>
                    <a:lnB>
                      <a:noFill/>
                    </a:lnB>
                    <a:solidFill>
                      <a:srgbClr val="4472C4"/>
                    </a:solidFill>
                  </a:tcPr>
                </a:tc>
                <a:tc rowSpan="2">
                  <a:txBody>
                    <a:bodyPr/>
                    <a:lstStyle/>
                    <a:p>
                      <a:pPr algn="ctr" rtl="0" fontAlgn="ctr"/>
                      <a:r>
                        <a:rPr lang="en-GB" sz="1100" b="1" i="0" u="none" strike="noStrike" dirty="0">
                          <a:solidFill>
                            <a:srgbClr val="FFFFFF"/>
                          </a:solidFill>
                          <a:effectLst/>
                          <a:latin typeface="Calibri" panose="020F0502020204030204" pitchFamily="34" charset="0"/>
                        </a:rPr>
                        <a:t>1M</a:t>
                      </a:r>
                    </a:p>
                  </a:txBody>
                  <a:tcPr marL="6350" marR="6350" marT="6350" marB="0" anchor="ctr">
                    <a:lnL>
                      <a:noFill/>
                    </a:lnL>
                    <a:lnR>
                      <a:noFill/>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4472C4"/>
                    </a:solidFill>
                  </a:tcPr>
                </a:tc>
                <a:tc rowSpan="2">
                  <a:txBody>
                    <a:bodyPr/>
                    <a:lstStyle/>
                    <a:p>
                      <a:pPr algn="ctr" rtl="0" fontAlgn="ctr"/>
                      <a:r>
                        <a:rPr lang="en-GB" sz="1100" b="1" i="0" u="none" strike="noStrike" dirty="0">
                          <a:solidFill>
                            <a:srgbClr val="FFFFFF"/>
                          </a:solidFill>
                          <a:effectLst/>
                          <a:latin typeface="Calibri" panose="020F0502020204030204" pitchFamily="34" charset="0"/>
                        </a:rPr>
                        <a:t>3M</a:t>
                      </a:r>
                    </a:p>
                  </a:txBody>
                  <a:tcPr marL="6350" marR="6350" marT="6350" marB="0" anchor="ctr">
                    <a:lnL>
                      <a:noFill/>
                    </a:lnL>
                    <a:lnR>
                      <a:noFill/>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6M</a:t>
                      </a:r>
                    </a:p>
                  </a:txBody>
                  <a:tcPr marL="6350" marR="6350" marT="6350" marB="0" anchor="ctr">
                    <a:lnL>
                      <a:noFill/>
                    </a:lnL>
                    <a:lnR>
                      <a:noFill/>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1 Yr</a:t>
                      </a:r>
                    </a:p>
                  </a:txBody>
                  <a:tcPr marL="6350" marR="6350" marT="6350" marB="0" anchor="ctr">
                    <a:lnL>
                      <a:noFill/>
                    </a:lnL>
                    <a:lnR>
                      <a:noFill/>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CY YTD</a:t>
                      </a:r>
                    </a:p>
                  </a:txBody>
                  <a:tcPr marL="6350" marR="6350" marT="6350" marB="0" anchor="ctr">
                    <a:lnL>
                      <a:noFill/>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4472C4"/>
                    </a:solidFill>
                  </a:tcPr>
                </a:tc>
                <a:extLst>
                  <a:ext uri="{0D108BD9-81ED-4DB2-BD59-A6C34878D82A}">
                    <a16:rowId xmlns:a16="http://schemas.microsoft.com/office/drawing/2014/main" val="4053948563"/>
                  </a:ext>
                </a:extLst>
              </a:tr>
              <a:tr h="184497">
                <a:tc>
                  <a:txBody>
                    <a:bodyPr/>
                    <a:lstStyle/>
                    <a:p>
                      <a:pPr algn="l" rtl="0" fontAlgn="ctr"/>
                      <a:r>
                        <a:rPr lang="en-GB" sz="1100" b="1" i="0" u="none" strike="noStrike" dirty="0">
                          <a:solidFill>
                            <a:srgbClr val="FFFFFF"/>
                          </a:solidFill>
                          <a:effectLst/>
                          <a:latin typeface="Calibri" panose="020F0502020204030204" pitchFamily="34" charset="0"/>
                        </a:rPr>
                        <a:t>As on 31st May’25</a:t>
                      </a:r>
                    </a:p>
                  </a:txBody>
                  <a:tcPr marL="76200" marR="6350" marT="6350" marB="0" anchor="ctr">
                    <a:lnL w="12700" cap="flat" cmpd="sng" algn="ctr">
                      <a:solidFill>
                        <a:srgbClr val="D0D0D0"/>
                      </a:solidFill>
                      <a:prstDash val="solid"/>
                      <a:round/>
                      <a:headEnd type="none" w="med" len="med"/>
                      <a:tailEnd type="none" w="med" len="med"/>
                    </a:lnL>
                    <a:lnR>
                      <a:noFill/>
                    </a:lnR>
                    <a:lnT>
                      <a:noFill/>
                    </a:lnT>
                    <a:lnB w="12700" cap="flat" cmpd="sng" algn="ctr">
                      <a:solidFill>
                        <a:srgbClr val="D0D0D0"/>
                      </a:solidFill>
                      <a:prstDash val="solid"/>
                      <a:round/>
                      <a:headEnd type="none" w="med" len="med"/>
                      <a:tailEnd type="none" w="med" len="med"/>
                    </a:lnB>
                    <a:solidFill>
                      <a:srgbClr val="4472C4"/>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703413427"/>
                  </a:ext>
                </a:extLst>
              </a:tr>
              <a:tr h="362654">
                <a:tc>
                  <a:txBody>
                    <a:bodyPr/>
                    <a:lstStyle/>
                    <a:p>
                      <a:pPr algn="l" rtl="0" fontAlgn="ctr"/>
                      <a:r>
                        <a:rPr lang="en-GB" sz="1100" b="1" i="0" u="none" strike="noStrike" dirty="0">
                          <a:solidFill>
                            <a:srgbClr val="FFFFFF"/>
                          </a:solidFill>
                          <a:effectLst/>
                          <a:latin typeface="Calibri" panose="020F0502020204030204" pitchFamily="34" charset="0"/>
                        </a:rPr>
                        <a:t>BSE Sensex</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100" b="0" i="0" u="none" strike="noStrike">
                          <a:solidFill>
                            <a:srgbClr val="000000"/>
                          </a:solidFill>
                          <a:effectLst/>
                          <a:latin typeface="Calibri" panose="020F0502020204030204" pitchFamily="34" charset="0"/>
                        </a:rPr>
                        <a:t>1.51%</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11.27%</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2.07%</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10.13%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4.24%</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2694691179"/>
                  </a:ext>
                </a:extLst>
              </a:tr>
              <a:tr h="362654">
                <a:tc>
                  <a:txBody>
                    <a:bodyPr/>
                    <a:lstStyle/>
                    <a:p>
                      <a:pPr algn="l" rtl="0" fontAlgn="ctr"/>
                      <a:r>
                        <a:rPr lang="en-GB" sz="1100" b="1" i="0" u="none" strike="noStrike" dirty="0">
                          <a:solidFill>
                            <a:srgbClr val="FFFFFF"/>
                          </a:solidFill>
                          <a:effectLst/>
                          <a:latin typeface="Calibri" panose="020F0502020204030204" pitchFamily="34" charset="0"/>
                        </a:rPr>
                        <a:t>Nifty 50</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100" b="0" i="0" u="none" strike="noStrike">
                          <a:solidFill>
                            <a:srgbClr val="000000"/>
                          </a:solidFill>
                          <a:effectLst/>
                          <a:latin typeface="Calibri" panose="020F0502020204030204" pitchFamily="34" charset="0"/>
                        </a:rPr>
                        <a:t>1.71%</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11.87%</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2.57%</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9.85%</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4.68%</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2097338459"/>
                  </a:ext>
                </a:extLst>
              </a:tr>
              <a:tr h="362654">
                <a:tc>
                  <a:txBody>
                    <a:bodyPr/>
                    <a:lstStyle/>
                    <a:p>
                      <a:pPr algn="l" rtl="0" fontAlgn="ctr"/>
                      <a:r>
                        <a:rPr lang="en-GB" sz="1100" b="1" i="0" u="none" strike="noStrike" dirty="0">
                          <a:solidFill>
                            <a:srgbClr val="FFFFFF"/>
                          </a:solidFill>
                          <a:effectLst/>
                          <a:latin typeface="Calibri" panose="020F0502020204030204" pitchFamily="34" charset="0"/>
                        </a:rPr>
                        <a:t>BSE 500</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100" b="0" i="0" u="none" strike="noStrike">
                          <a:solidFill>
                            <a:srgbClr val="000000"/>
                          </a:solidFill>
                          <a:effectLst/>
                          <a:latin typeface="Calibri" panose="020F0502020204030204" pitchFamily="34" charset="0"/>
                        </a:rPr>
                        <a:t>3.39%</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14.44%</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0.25%</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7.41%</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1.78%</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2267867758"/>
                  </a:ext>
                </a:extLst>
              </a:tr>
              <a:tr h="362654">
                <a:tc>
                  <a:txBody>
                    <a:bodyPr/>
                    <a:lstStyle/>
                    <a:p>
                      <a:pPr algn="l" rtl="0" fontAlgn="ctr"/>
                      <a:r>
                        <a:rPr lang="en-GB" sz="1100" b="1" i="0" u="none" strike="noStrike" dirty="0">
                          <a:solidFill>
                            <a:srgbClr val="FFFFFF"/>
                          </a:solidFill>
                          <a:effectLst/>
                          <a:latin typeface="Calibri" panose="020F0502020204030204" pitchFamily="34" charset="0"/>
                        </a:rPr>
                        <a:t>BSE Mid-cap</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100" b="0" i="0" u="none" strike="noStrike">
                          <a:solidFill>
                            <a:srgbClr val="000000"/>
                          </a:solidFill>
                          <a:effectLst/>
                          <a:latin typeface="Calibri" panose="020F0502020204030204" pitchFamily="34" charset="0"/>
                        </a:rPr>
                        <a:t>5.25%</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16.96%</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-2.03%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5.33%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-2.82%</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FFFFFF"/>
                    </a:solidFill>
                  </a:tcPr>
                </a:tc>
                <a:extLst>
                  <a:ext uri="{0D108BD9-81ED-4DB2-BD59-A6C34878D82A}">
                    <a16:rowId xmlns:a16="http://schemas.microsoft.com/office/drawing/2014/main" val="3744465035"/>
                  </a:ext>
                </a:extLst>
              </a:tr>
              <a:tr h="362654">
                <a:tc>
                  <a:txBody>
                    <a:bodyPr/>
                    <a:lstStyle/>
                    <a:p>
                      <a:pPr algn="l" rtl="0" fontAlgn="ctr"/>
                      <a:r>
                        <a:rPr lang="en-GB" sz="1100" b="1" i="0" u="none" strike="noStrike" dirty="0">
                          <a:solidFill>
                            <a:srgbClr val="FFFFFF"/>
                          </a:solidFill>
                          <a:effectLst/>
                          <a:latin typeface="Calibri" panose="020F0502020204030204" pitchFamily="34" charset="0"/>
                        </a:rPr>
                        <a:t>BSE Small-cap</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100" b="0" i="0" u="none" strike="noStrike">
                          <a:solidFill>
                            <a:srgbClr val="000000"/>
                          </a:solidFill>
                          <a:effectLst/>
                          <a:latin typeface="Calibri" panose="020F0502020204030204" pitchFamily="34" charset="0"/>
                        </a:rPr>
                        <a:t>10.58%</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21.66%</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-5.05%</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a:solidFill>
                            <a:srgbClr val="000000"/>
                          </a:solidFill>
                          <a:effectLst/>
                          <a:latin typeface="Calibri" panose="020F0502020204030204" pitchFamily="34" charset="0"/>
                        </a:rPr>
                        <a:t>10.90%</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100" b="0" i="0" u="none" strike="noStrike" dirty="0">
                          <a:solidFill>
                            <a:srgbClr val="000000"/>
                          </a:solidFill>
                          <a:effectLst/>
                          <a:latin typeface="Calibri" panose="020F0502020204030204" pitchFamily="34" charset="0"/>
                        </a:rPr>
                        <a:t>-5.02%</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489989186"/>
                  </a:ext>
                </a:extLst>
              </a:tr>
            </a:tbl>
          </a:graphicData>
        </a:graphic>
      </p:graphicFrame>
      <p:graphicFrame>
        <p:nvGraphicFramePr>
          <p:cNvPr id="24" name="Table 23">
            <a:extLst>
              <a:ext uri="{FF2B5EF4-FFF2-40B4-BE49-F238E27FC236}">
                <a16:creationId xmlns:a16="http://schemas.microsoft.com/office/drawing/2014/main" id="{1C56C12D-962C-9347-CE66-F1289BB07650}"/>
              </a:ext>
            </a:extLst>
          </p:cNvPr>
          <p:cNvGraphicFramePr>
            <a:graphicFrameLocks noGrp="1"/>
          </p:cNvGraphicFramePr>
          <p:nvPr/>
        </p:nvGraphicFramePr>
        <p:xfrm>
          <a:off x="159571" y="3472089"/>
          <a:ext cx="5615422" cy="2978010"/>
        </p:xfrm>
        <a:graphic>
          <a:graphicData uri="http://schemas.openxmlformats.org/drawingml/2006/table">
            <a:tbl>
              <a:tblPr/>
              <a:tblGrid>
                <a:gridCol w="1295867">
                  <a:extLst>
                    <a:ext uri="{9D8B030D-6E8A-4147-A177-3AD203B41FA5}">
                      <a16:colId xmlns:a16="http://schemas.microsoft.com/office/drawing/2014/main" val="331850156"/>
                    </a:ext>
                  </a:extLst>
                </a:gridCol>
                <a:gridCol w="863911">
                  <a:extLst>
                    <a:ext uri="{9D8B030D-6E8A-4147-A177-3AD203B41FA5}">
                      <a16:colId xmlns:a16="http://schemas.microsoft.com/office/drawing/2014/main" val="4287593572"/>
                    </a:ext>
                  </a:extLst>
                </a:gridCol>
                <a:gridCol w="863911">
                  <a:extLst>
                    <a:ext uri="{9D8B030D-6E8A-4147-A177-3AD203B41FA5}">
                      <a16:colId xmlns:a16="http://schemas.microsoft.com/office/drawing/2014/main" val="4066347251"/>
                    </a:ext>
                  </a:extLst>
                </a:gridCol>
                <a:gridCol w="863911">
                  <a:extLst>
                    <a:ext uri="{9D8B030D-6E8A-4147-A177-3AD203B41FA5}">
                      <a16:colId xmlns:a16="http://schemas.microsoft.com/office/drawing/2014/main" val="1662222055"/>
                    </a:ext>
                  </a:extLst>
                </a:gridCol>
                <a:gridCol w="863911">
                  <a:extLst>
                    <a:ext uri="{9D8B030D-6E8A-4147-A177-3AD203B41FA5}">
                      <a16:colId xmlns:a16="http://schemas.microsoft.com/office/drawing/2014/main" val="630775877"/>
                    </a:ext>
                  </a:extLst>
                </a:gridCol>
                <a:gridCol w="863911">
                  <a:extLst>
                    <a:ext uri="{9D8B030D-6E8A-4147-A177-3AD203B41FA5}">
                      <a16:colId xmlns:a16="http://schemas.microsoft.com/office/drawing/2014/main" val="994309474"/>
                    </a:ext>
                  </a:extLst>
                </a:gridCol>
              </a:tblGrid>
              <a:tr h="342000">
                <a:tc>
                  <a:txBody>
                    <a:bodyPr/>
                    <a:lstStyle/>
                    <a:p>
                      <a:pPr algn="l" rtl="0" fontAlgn="ctr"/>
                      <a:r>
                        <a:rPr lang="en-GB" sz="1100" b="1" i="0" u="none" strike="noStrike" dirty="0">
                          <a:solidFill>
                            <a:srgbClr val="FFFFFF"/>
                          </a:solidFill>
                          <a:effectLst/>
                          <a:latin typeface="Calibri" panose="020F0502020204030204" pitchFamily="34" charset="0"/>
                        </a:rPr>
                        <a:t>Global Indices</a:t>
                      </a:r>
                    </a:p>
                  </a:txBody>
                  <a:tcPr marL="76200" marR="6350" marT="6350" marB="0" anchor="ctr">
                    <a:lnL w="12700" cap="flat" cmpd="sng" algn="ctr">
                      <a:solidFill>
                        <a:srgbClr val="A6A6A6"/>
                      </a:solidFill>
                      <a:prstDash val="solid"/>
                      <a:round/>
                      <a:headEnd type="none" w="med" len="med"/>
                      <a:tailEnd type="none" w="med" len="med"/>
                    </a:lnL>
                    <a:lnR>
                      <a:noFill/>
                    </a:lnR>
                    <a:lnT w="12700" cap="flat" cmpd="sng" algn="ctr">
                      <a:solidFill>
                        <a:srgbClr val="A6A6A6"/>
                      </a:solidFill>
                      <a:prstDash val="solid"/>
                      <a:round/>
                      <a:headEnd type="none" w="med" len="med"/>
                      <a:tailEnd type="none" w="med" len="med"/>
                    </a:lnT>
                    <a:lnB>
                      <a:noFill/>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1M</a:t>
                      </a:r>
                    </a:p>
                  </a:txBody>
                  <a:tcPr marL="6350" marR="6350" marT="635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3M</a:t>
                      </a:r>
                    </a:p>
                  </a:txBody>
                  <a:tcPr marL="6350" marR="6350" marT="635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4472C4"/>
                    </a:solidFill>
                  </a:tcPr>
                </a:tc>
                <a:tc rowSpan="2">
                  <a:txBody>
                    <a:bodyPr/>
                    <a:lstStyle/>
                    <a:p>
                      <a:pPr algn="ctr" rtl="0" fontAlgn="ctr"/>
                      <a:r>
                        <a:rPr lang="en-GB" sz="1100" b="1" i="0" u="none" strike="noStrike" dirty="0">
                          <a:solidFill>
                            <a:srgbClr val="FFFFFF"/>
                          </a:solidFill>
                          <a:effectLst/>
                          <a:latin typeface="Calibri" panose="020F0502020204030204" pitchFamily="34" charset="0"/>
                        </a:rPr>
                        <a:t>6M</a:t>
                      </a:r>
                    </a:p>
                  </a:txBody>
                  <a:tcPr marL="6350" marR="6350" marT="635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1 Yr</a:t>
                      </a:r>
                    </a:p>
                  </a:txBody>
                  <a:tcPr marL="6350" marR="6350" marT="6350" marB="0" anchor="ctr">
                    <a:lnL>
                      <a:noFill/>
                    </a:lnL>
                    <a:lnR>
                      <a:noFill/>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4472C4"/>
                    </a:solidFill>
                  </a:tcPr>
                </a:tc>
                <a:tc rowSpan="2">
                  <a:txBody>
                    <a:bodyPr/>
                    <a:lstStyle/>
                    <a:p>
                      <a:pPr algn="ctr" rtl="0" fontAlgn="ctr"/>
                      <a:r>
                        <a:rPr lang="en-GB" sz="1100" b="1" i="0" u="none" strike="noStrike">
                          <a:solidFill>
                            <a:srgbClr val="FFFFFF"/>
                          </a:solidFill>
                          <a:effectLst/>
                          <a:latin typeface="Calibri" panose="020F0502020204030204" pitchFamily="34" charset="0"/>
                        </a:rPr>
                        <a:t>CY YTD</a:t>
                      </a:r>
                    </a:p>
                  </a:txBody>
                  <a:tcPr marL="6350" marR="6350" marT="6350" marB="0" anchor="ctr">
                    <a:lnL>
                      <a:noFill/>
                    </a:lnL>
                    <a:lnR w="12700" cap="flat" cmpd="sng" algn="ctr">
                      <a:solidFill>
                        <a:srgbClr val="D0D0D0"/>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solidFill>
                      <a:srgbClr val="4472C4"/>
                    </a:solidFill>
                  </a:tcPr>
                </a:tc>
                <a:extLst>
                  <a:ext uri="{0D108BD9-81ED-4DB2-BD59-A6C34878D82A}">
                    <a16:rowId xmlns:a16="http://schemas.microsoft.com/office/drawing/2014/main" val="3454584812"/>
                  </a:ext>
                </a:extLst>
              </a:tr>
              <a:tr h="342000">
                <a:tc>
                  <a:txBody>
                    <a:bodyPr/>
                    <a:lstStyle/>
                    <a:p>
                      <a:pPr algn="l" rtl="0" fontAlgn="ctr"/>
                      <a:r>
                        <a:rPr lang="en-GB" sz="1100" b="1" i="0" u="none" strike="noStrike" dirty="0">
                          <a:solidFill>
                            <a:srgbClr val="FFFFFF"/>
                          </a:solidFill>
                          <a:effectLst/>
                          <a:latin typeface="Calibri" panose="020F0502020204030204" pitchFamily="34" charset="0"/>
                        </a:rPr>
                        <a:t>As on 31st May’25</a:t>
                      </a:r>
                    </a:p>
                  </a:txBody>
                  <a:tcPr marL="76200" marR="6350" marT="6350" marB="0" anchor="ctr">
                    <a:lnL w="12700" cap="flat" cmpd="sng" algn="ctr">
                      <a:solidFill>
                        <a:srgbClr val="A6A6A6"/>
                      </a:solidFill>
                      <a:prstDash val="solid"/>
                      <a:round/>
                      <a:headEnd type="none" w="med" len="med"/>
                      <a:tailEnd type="none" w="med" len="med"/>
                    </a:lnL>
                    <a:lnR>
                      <a:noFill/>
                    </a:lnR>
                    <a:lnT>
                      <a:noFill/>
                    </a:lnT>
                    <a:lnB w="12700" cap="flat" cmpd="sng" algn="ctr">
                      <a:solidFill>
                        <a:srgbClr val="A6A6A6"/>
                      </a:solidFill>
                      <a:prstDash val="solid"/>
                      <a:round/>
                      <a:headEnd type="none" w="med" len="med"/>
                      <a:tailEnd type="none" w="med" len="med"/>
                    </a:lnB>
                    <a:solidFill>
                      <a:srgbClr val="4472C4"/>
                    </a:solidFill>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tc vMerge="1">
                  <a:txBody>
                    <a:bodyPr/>
                    <a:lstStyle/>
                    <a:p>
                      <a:endParaRPr lang="en-GB"/>
                    </a:p>
                  </a:txBody>
                  <a:tcPr/>
                </a:tc>
                <a:extLst>
                  <a:ext uri="{0D108BD9-81ED-4DB2-BD59-A6C34878D82A}">
                    <a16:rowId xmlns:a16="http://schemas.microsoft.com/office/drawing/2014/main" val="3464114460"/>
                  </a:ext>
                </a:extLst>
              </a:tr>
              <a:tr h="342000">
                <a:tc>
                  <a:txBody>
                    <a:bodyPr/>
                    <a:lstStyle/>
                    <a:p>
                      <a:pPr algn="l" rtl="0" fontAlgn="ctr"/>
                      <a:r>
                        <a:rPr lang="en-GB" sz="1100" b="1" i="0" u="none" strike="noStrike" dirty="0">
                          <a:solidFill>
                            <a:srgbClr val="FFFFFF"/>
                          </a:solidFill>
                          <a:effectLst/>
                          <a:latin typeface="Calibri" panose="020F0502020204030204" pitchFamily="34" charset="0"/>
                        </a:rPr>
                        <a:t>S&amp;P 500 (US)</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050" b="0" i="0" u="none" strike="noStrike">
                          <a:solidFill>
                            <a:srgbClr val="000000"/>
                          </a:solidFill>
                          <a:effectLst/>
                          <a:latin typeface="Calibri" panose="020F0502020204030204" pitchFamily="34" charset="0"/>
                        </a:rPr>
                        <a:t>6.15%</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-0.72%</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-2.00%</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12.02%</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0.51%</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558669916"/>
                  </a:ext>
                </a:extLst>
              </a:tr>
              <a:tr h="422670">
                <a:tc>
                  <a:txBody>
                    <a:bodyPr/>
                    <a:lstStyle/>
                    <a:p>
                      <a:pPr algn="l" rtl="0" fontAlgn="ctr"/>
                      <a:r>
                        <a:rPr lang="en-GB" sz="1100" b="1" i="0" u="none" strike="noStrike" dirty="0">
                          <a:solidFill>
                            <a:srgbClr val="FFFFFF"/>
                          </a:solidFill>
                          <a:effectLst/>
                          <a:latin typeface="Calibri" panose="020F0502020204030204" pitchFamily="34" charset="0"/>
                        </a:rPr>
                        <a:t>Shanghai Composite</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050" b="0" i="0" u="none" strike="noStrike">
                          <a:solidFill>
                            <a:srgbClr val="000000"/>
                          </a:solidFill>
                          <a:effectLst/>
                          <a:latin typeface="Calibri" panose="020F0502020204030204" pitchFamily="34" charset="0"/>
                        </a:rPr>
                        <a:t>2.09%</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0.80%</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0.63%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8.44%</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-0.13%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103426098"/>
                  </a:ext>
                </a:extLst>
              </a:tr>
              <a:tr h="342000">
                <a:tc>
                  <a:txBody>
                    <a:bodyPr/>
                    <a:lstStyle/>
                    <a:p>
                      <a:pPr algn="l" rtl="0" fontAlgn="ctr"/>
                      <a:r>
                        <a:rPr lang="en-GB" sz="1100" b="1" i="0" u="none" strike="noStrike" dirty="0">
                          <a:solidFill>
                            <a:srgbClr val="FFFFFF"/>
                          </a:solidFill>
                          <a:effectLst/>
                          <a:latin typeface="Calibri" panose="020F0502020204030204" pitchFamily="34" charset="0"/>
                        </a:rPr>
                        <a:t>DAX (Germany)</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050" b="0" i="0" u="none" strike="noStrike">
                          <a:solidFill>
                            <a:srgbClr val="000000"/>
                          </a:solidFill>
                          <a:effectLst/>
                          <a:latin typeface="Calibri" panose="020F0502020204030204" pitchFamily="34" charset="0"/>
                        </a:rPr>
                        <a:t>6.67%</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6.41%</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22.27%</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29.73%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20.53%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968416389"/>
                  </a:ext>
                </a:extLst>
              </a:tr>
              <a:tr h="422670">
                <a:tc>
                  <a:txBody>
                    <a:bodyPr/>
                    <a:lstStyle/>
                    <a:p>
                      <a:pPr algn="l" rtl="0" fontAlgn="ctr"/>
                      <a:r>
                        <a:rPr lang="en-GB" sz="1100" b="1" i="0" u="none" strike="noStrike" dirty="0">
                          <a:solidFill>
                            <a:srgbClr val="FFFFFF"/>
                          </a:solidFill>
                          <a:effectLst/>
                          <a:latin typeface="Calibri" panose="020F0502020204030204" pitchFamily="34" charset="0"/>
                        </a:rPr>
                        <a:t>Nikkei 225 (Japan)</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050" b="0" i="0" u="none" strike="noStrike">
                          <a:solidFill>
                            <a:srgbClr val="000000"/>
                          </a:solidFill>
                          <a:effectLst/>
                          <a:latin typeface="Calibri" panose="020F0502020204030204" pitchFamily="34" charset="0"/>
                        </a:rPr>
                        <a:t>5.33%</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2.18%</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-0.64%</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-1.36%</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-4.84%</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149982349"/>
                  </a:ext>
                </a:extLst>
              </a:tr>
              <a:tr h="422670">
                <a:tc>
                  <a:txBody>
                    <a:bodyPr/>
                    <a:lstStyle/>
                    <a:p>
                      <a:pPr algn="l" rtl="0" fontAlgn="ctr"/>
                      <a:r>
                        <a:rPr lang="en-GB" sz="1100" b="1" i="0" u="none" strike="noStrike" dirty="0">
                          <a:solidFill>
                            <a:srgbClr val="FFFFFF"/>
                          </a:solidFill>
                          <a:effectLst/>
                          <a:latin typeface="Calibri" panose="020F0502020204030204" pitchFamily="34" charset="0"/>
                        </a:rPr>
                        <a:t>IBOVESPA (Brazil)</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050" b="0" i="0" u="none" strike="noStrike">
                          <a:solidFill>
                            <a:srgbClr val="000000"/>
                          </a:solidFill>
                          <a:effectLst/>
                          <a:latin typeface="Calibri" panose="020F0502020204030204" pitchFamily="34" charset="0"/>
                        </a:rPr>
                        <a:t>1.45%</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11.59%</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9.04%</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12.23%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13.92%</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790191684"/>
                  </a:ext>
                </a:extLst>
              </a:tr>
              <a:tr h="342000">
                <a:tc>
                  <a:txBody>
                    <a:bodyPr/>
                    <a:lstStyle/>
                    <a:p>
                      <a:pPr algn="l" rtl="0" fontAlgn="ctr"/>
                      <a:r>
                        <a:rPr lang="en-GB" sz="1100" b="1" i="0" u="none" strike="noStrike" dirty="0">
                          <a:solidFill>
                            <a:srgbClr val="FFFFFF"/>
                          </a:solidFill>
                          <a:effectLst/>
                          <a:latin typeface="Calibri" panose="020F0502020204030204" pitchFamily="34" charset="0"/>
                        </a:rPr>
                        <a:t>FTSE 100 (UK)</a:t>
                      </a:r>
                    </a:p>
                  </a:txBody>
                  <a:tcPr marL="76200" marR="6350" marT="6350" marB="0" anchor="ctr">
                    <a:lnL w="12700" cap="flat" cmpd="sng" algn="ctr">
                      <a:solidFill>
                        <a:srgbClr val="4A9A85"/>
                      </a:solidFill>
                      <a:prstDash val="solid"/>
                      <a:round/>
                      <a:headEnd type="none" w="med" len="med"/>
                      <a:tailEnd type="none" w="med" len="med"/>
                    </a:lnL>
                    <a:lnR w="12700" cap="flat" cmpd="sng" algn="ctr">
                      <a:solidFill>
                        <a:srgbClr val="4A9A85"/>
                      </a:solidFill>
                      <a:prstDash val="solid"/>
                      <a:round/>
                      <a:headEnd type="none" w="med" len="med"/>
                      <a:tailEnd type="none" w="med" len="med"/>
                    </a:lnR>
                    <a:lnT w="12700" cap="flat" cmpd="sng" algn="ctr">
                      <a:solidFill>
                        <a:srgbClr val="4A9A85"/>
                      </a:solidFill>
                      <a:prstDash val="solid"/>
                      <a:round/>
                      <a:headEnd type="none" w="med" len="med"/>
                      <a:tailEnd type="none" w="med" len="med"/>
                    </a:lnT>
                    <a:lnB w="12700" cap="flat" cmpd="sng" algn="ctr">
                      <a:solidFill>
                        <a:srgbClr val="4A9A85"/>
                      </a:solidFill>
                      <a:prstDash val="solid"/>
                      <a:round/>
                      <a:headEnd type="none" w="med" len="med"/>
                      <a:tailEnd type="none" w="med" len="med"/>
                    </a:lnB>
                    <a:solidFill>
                      <a:srgbClr val="64B8A7"/>
                    </a:solidFill>
                  </a:tcPr>
                </a:tc>
                <a:tc>
                  <a:txBody>
                    <a:bodyPr/>
                    <a:lstStyle/>
                    <a:p>
                      <a:pPr algn="ctr" rtl="0" fontAlgn="ctr"/>
                      <a:r>
                        <a:rPr lang="en-GB" sz="1050" b="0" i="0" u="none" strike="noStrike">
                          <a:solidFill>
                            <a:srgbClr val="000000"/>
                          </a:solidFill>
                          <a:effectLst/>
                          <a:latin typeface="Calibri" panose="020F0502020204030204" pitchFamily="34" charset="0"/>
                        </a:rPr>
                        <a:t>3.27%</a:t>
                      </a:r>
                    </a:p>
                  </a:txBody>
                  <a:tcPr marL="6350" marR="6350" marT="6350" marB="0" anchor="ctr">
                    <a:lnL w="12700" cap="flat" cmpd="sng" algn="ctr">
                      <a:solidFill>
                        <a:srgbClr val="4A9A85"/>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-0.42%</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5.85%</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a:solidFill>
                            <a:srgbClr val="000000"/>
                          </a:solidFill>
                          <a:effectLst/>
                          <a:latin typeface="Calibri" panose="020F0502020204030204" pitchFamily="34" charset="0"/>
                        </a:rPr>
                        <a:t>6.01%</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algn="ctr" rtl="0" fontAlgn="ctr"/>
                      <a:r>
                        <a:rPr lang="en-GB" sz="1050" b="0" i="0" u="none" strike="noStrike" dirty="0">
                          <a:solidFill>
                            <a:srgbClr val="000000"/>
                          </a:solidFill>
                          <a:effectLst/>
                          <a:latin typeface="Calibri" panose="020F0502020204030204" pitchFamily="34" charset="0"/>
                        </a:rPr>
                        <a:t>7.33%</a:t>
                      </a:r>
                    </a:p>
                  </a:txBody>
                  <a:tcPr marL="6350" marR="6350" marT="6350" marB="0" anchor="ctr">
                    <a:lnL w="12700" cap="flat" cmpd="sng" algn="ctr">
                      <a:solidFill>
                        <a:srgbClr val="BFBFBF"/>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854413478"/>
                  </a:ext>
                </a:extLst>
              </a:tr>
            </a:tbl>
          </a:graphicData>
        </a:graphic>
      </p:graphicFrame>
      <p:sp>
        <p:nvSpPr>
          <p:cNvPr id="2" name="TextBox 1">
            <a:extLst>
              <a:ext uri="{FF2B5EF4-FFF2-40B4-BE49-F238E27FC236}">
                <a16:creationId xmlns:a16="http://schemas.microsoft.com/office/drawing/2014/main" id="{BFE1BA59-CC06-9774-FEA0-32A75522DBA7}"/>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Bloomberg &amp; CA Investment Research</a:t>
            </a:r>
          </a:p>
        </p:txBody>
      </p:sp>
    </p:spTree>
    <p:extLst>
      <p:ext uri="{BB962C8B-B14F-4D97-AF65-F5344CB8AC3E}">
        <p14:creationId xmlns:p14="http://schemas.microsoft.com/office/powerpoint/2010/main" val="38301438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DD63358-618C-8F0D-4ED8-9B9B1D794C81}"/>
              </a:ext>
            </a:extLst>
          </p:cNvPr>
          <p:cNvSpPr/>
          <p:nvPr/>
        </p:nvSpPr>
        <p:spPr>
          <a:xfrm>
            <a:off x="7459180" y="726218"/>
            <a:ext cx="2650580" cy="5405566"/>
          </a:xfrm>
          <a:prstGeom prst="rect">
            <a:avLst/>
          </a:prstGeom>
          <a:solidFill>
            <a:schemeClr val="bg1"/>
          </a:solidFill>
          <a:ln w="28575">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5" name="Graphic 4" descr="Customer review with solid fill">
            <a:extLst>
              <a:ext uri="{FF2B5EF4-FFF2-40B4-BE49-F238E27FC236}">
                <a16:creationId xmlns:a16="http://schemas.microsoft.com/office/drawing/2014/main" id="{679F8DC7-F378-4198-8A9F-92C0EB862367}"/>
              </a:ext>
            </a:extLst>
          </p:cNvPr>
          <p:cNvPicPr>
            <a:picLocks noChangeAspect="1"/>
          </p:cNvPicPr>
          <p:nvPr/>
        </p:nvPicPr>
        <p:blipFill>
          <a:blip r:embed="rId2">
            <a:alphaModFix amt="4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08700E19-E610-42FB-AF6C-69B1BB100E4E}"/>
              </a:ext>
            </a:extLst>
          </p:cNvPr>
          <p:cNvPicPr>
            <a:picLocks noChangeAspect="1"/>
          </p:cNvPicPr>
          <p:nvPr/>
        </p:nvPicPr>
        <p:blipFill>
          <a:blip r:embed="rId4">
            <a:alphaModFix amt="2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68560" y="-243840"/>
            <a:ext cx="2367280" cy="2367280"/>
          </a:xfrm>
          <a:prstGeom prst="rect">
            <a:avLst/>
          </a:prstGeom>
        </p:spPr>
      </p:pic>
      <p:pic>
        <p:nvPicPr>
          <p:cNvPr id="11" name="Graphic 10" descr="Presentation with bar chart with solid fill">
            <a:extLst>
              <a:ext uri="{FF2B5EF4-FFF2-40B4-BE49-F238E27FC236}">
                <a16:creationId xmlns:a16="http://schemas.microsoft.com/office/drawing/2014/main" id="{60C5B285-68F0-4E00-8AE9-417E080AC115}"/>
              </a:ext>
            </a:extLst>
          </p:cNvPr>
          <p:cNvPicPr>
            <a:picLocks noChangeAspect="1"/>
          </p:cNvPicPr>
          <p:nvPr/>
        </p:nvPicPr>
        <p:blipFill>
          <a:blip r:embed="rId6">
            <a:alphaModFix amt="2000"/>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200" y="4734560"/>
            <a:ext cx="2123440" cy="2123440"/>
          </a:xfrm>
          <a:prstGeom prst="rect">
            <a:avLst/>
          </a:prstGeom>
        </p:spPr>
      </p:pic>
      <p:grpSp>
        <p:nvGrpSpPr>
          <p:cNvPr id="13" name="Group 12">
            <a:extLst>
              <a:ext uri="{FF2B5EF4-FFF2-40B4-BE49-F238E27FC236}">
                <a16:creationId xmlns:a16="http://schemas.microsoft.com/office/drawing/2014/main" id="{86ACE3CA-23EA-4837-97BE-D87EA58161B6}"/>
              </a:ext>
            </a:extLst>
          </p:cNvPr>
          <p:cNvGrpSpPr/>
          <p:nvPr/>
        </p:nvGrpSpPr>
        <p:grpSpPr>
          <a:xfrm>
            <a:off x="7046" y="144535"/>
            <a:ext cx="6088954" cy="546209"/>
            <a:chOff x="7048" y="420014"/>
            <a:chExt cx="4098470" cy="633058"/>
          </a:xfrm>
        </p:grpSpPr>
        <p:sp>
          <p:nvSpPr>
            <p:cNvPr id="14" name="TextBox 13">
              <a:extLst>
                <a:ext uri="{FF2B5EF4-FFF2-40B4-BE49-F238E27FC236}">
                  <a16:creationId xmlns:a16="http://schemas.microsoft.com/office/drawing/2014/main" id="{031086C6-6DFE-42FF-AC05-E5735FC70B9C}"/>
                </a:ext>
              </a:extLst>
            </p:cNvPr>
            <p:cNvSpPr txBox="1"/>
            <p:nvPr/>
          </p:nvSpPr>
          <p:spPr>
            <a:xfrm>
              <a:off x="11206" y="420014"/>
              <a:ext cx="4094312" cy="535072"/>
            </a:xfrm>
            <a:prstGeom prst="rect">
              <a:avLst/>
            </a:prstGeom>
            <a:noFill/>
          </p:spPr>
          <p:txBody>
            <a:bodyPr wrap="square" rtlCol="0">
              <a:spAutoFit/>
            </a:bodyPr>
            <a:lstStyle/>
            <a:p>
              <a:r>
                <a:rPr lang="en-US" sz="2400" dirty="0">
                  <a:solidFill>
                    <a:srgbClr val="084795"/>
                  </a:solidFill>
                  <a:latin typeface="Roboto" panose="02000000000000000000" pitchFamily="2" charset="0"/>
                  <a:ea typeface="Roboto" panose="02000000000000000000" pitchFamily="2" charset="0"/>
                </a:rPr>
                <a:t>Equity Market Inflows </a:t>
              </a:r>
              <a:r>
                <a:rPr lang="en-US" i="1" dirty="0">
                  <a:solidFill>
                    <a:srgbClr val="084795"/>
                  </a:solidFill>
                  <a:latin typeface="Roboto" panose="02000000000000000000" pitchFamily="2" charset="0"/>
                  <a:ea typeface="Roboto" panose="02000000000000000000" pitchFamily="2" charset="0"/>
                </a:rPr>
                <a:t>(INR Lac Crores)</a:t>
              </a:r>
              <a:endParaRPr lang="en-US" sz="2400" i="1" dirty="0">
                <a:solidFill>
                  <a:srgbClr val="084795"/>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49733806-21EE-4AAC-B1E7-135D03D22E0B}"/>
                </a:ext>
              </a:extLst>
            </p:cNvPr>
            <p:cNvCxnSpPr>
              <a:cxnSpLocks/>
            </p:cNvCxnSpPr>
            <p:nvPr/>
          </p:nvCxnSpPr>
          <p:spPr>
            <a:xfrm flipV="1">
              <a:off x="7048" y="1053071"/>
              <a:ext cx="3208646" cy="1"/>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A33BF976-097A-4D7E-8C94-F0E655548619}"/>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sp>
        <p:nvSpPr>
          <p:cNvPr id="22" name="TextBox 21">
            <a:extLst>
              <a:ext uri="{FF2B5EF4-FFF2-40B4-BE49-F238E27FC236}">
                <a16:creationId xmlns:a16="http://schemas.microsoft.com/office/drawing/2014/main" id="{D031755B-C1C3-433F-9DEF-65B64AAAEC50}"/>
              </a:ext>
            </a:extLst>
          </p:cNvPr>
          <p:cNvSpPr txBox="1"/>
          <p:nvPr/>
        </p:nvSpPr>
        <p:spPr>
          <a:xfrm>
            <a:off x="7459181" y="726216"/>
            <a:ext cx="2650579" cy="1569660"/>
          </a:xfrm>
          <a:prstGeom prst="rect">
            <a:avLst/>
          </a:prstGeom>
          <a:noFill/>
          <a:ln w="28575">
            <a:solidFill>
              <a:schemeClr val="accent2"/>
            </a:solidFill>
          </a:ln>
        </p:spPr>
        <p:txBody>
          <a:bodyPr wrap="square">
            <a:spAutoFit/>
          </a:bodyPr>
          <a:lstStyle/>
          <a:p>
            <a:pPr marL="87313" indent="-87313">
              <a:buFont typeface="Arial" panose="020B0604020202020204" pitchFamily="34" charset="0"/>
              <a:buChar char="•"/>
            </a:pPr>
            <a:r>
              <a:rPr lang="en-US" sz="1200" b="1" dirty="0">
                <a:latin typeface="Calibri" panose="020F0502020204030204" pitchFamily="34" charset="0"/>
                <a:cs typeface="Calibri" panose="020F0502020204030204" pitchFamily="34" charset="0"/>
              </a:rPr>
              <a:t>In CY’24, DII inflows witnessed 3.1x growth (YoY) at </a:t>
            </a:r>
            <a:r>
              <a:rPr lang="en-US" sz="1200" b="1" dirty="0">
                <a:solidFill>
                  <a:srgbClr val="00B050"/>
                </a:solidFill>
                <a:latin typeface="Calibri" panose="020F0502020204030204" pitchFamily="34" charset="0"/>
                <a:cs typeface="Calibri" panose="020F0502020204030204" pitchFamily="34" charset="0"/>
              </a:rPr>
              <a:t>5.27 lac crores</a:t>
            </a:r>
            <a:endParaRPr lang="en-US" sz="1200" b="1" dirty="0">
              <a:latin typeface="Calibri" panose="020F0502020204030204" pitchFamily="34" charset="0"/>
              <a:cs typeface="Calibri" panose="020F0502020204030204" pitchFamily="34" charset="0"/>
            </a:endParaRPr>
          </a:p>
          <a:p>
            <a:pPr marL="87313" indent="-87313">
              <a:buFont typeface="Arial" panose="020B0604020202020204" pitchFamily="34" charset="0"/>
              <a:buChar char="•"/>
            </a:pPr>
            <a:r>
              <a:rPr lang="en-US" sz="1200" b="1" dirty="0">
                <a:latin typeface="Calibri" panose="020F0502020204030204" pitchFamily="34" charset="0"/>
                <a:cs typeface="Calibri" panose="020F0502020204030204" pitchFamily="34" charset="0"/>
              </a:rPr>
              <a:t>DII inflows in last 3 years </a:t>
            </a:r>
            <a:r>
              <a:rPr lang="en-US" sz="1200" b="1" dirty="0">
                <a:solidFill>
                  <a:srgbClr val="00B050"/>
                </a:solidFill>
                <a:latin typeface="Calibri" panose="020F0502020204030204" pitchFamily="34" charset="0"/>
                <a:cs typeface="Calibri" panose="020F0502020204030204" pitchFamily="34" charset="0"/>
              </a:rPr>
              <a:t>(9.72 lac crores) </a:t>
            </a:r>
            <a:r>
              <a:rPr lang="en-US" sz="1200" b="1" dirty="0">
                <a:latin typeface="Calibri" panose="020F0502020204030204" pitchFamily="34" charset="0"/>
                <a:cs typeface="Calibri" panose="020F0502020204030204" pitchFamily="34" charset="0"/>
              </a:rPr>
              <a:t>are higher than total inflows from CY’08 until CY’19 </a:t>
            </a:r>
            <a:r>
              <a:rPr lang="en-US" sz="1200" b="1" dirty="0">
                <a:solidFill>
                  <a:srgbClr val="00B050"/>
                </a:solidFill>
                <a:latin typeface="Calibri" panose="020F0502020204030204" pitchFamily="34" charset="0"/>
                <a:cs typeface="Calibri" panose="020F0502020204030204" pitchFamily="34" charset="0"/>
              </a:rPr>
              <a:t>(2.81 lac crores)</a:t>
            </a:r>
            <a:r>
              <a:rPr lang="en-US" sz="1200" b="1" dirty="0">
                <a:latin typeface="Calibri" panose="020F0502020204030204" pitchFamily="34" charset="0"/>
                <a:cs typeface="Calibri" panose="020F0502020204030204" pitchFamily="34" charset="0"/>
              </a:rPr>
              <a:t>. </a:t>
            </a:r>
          </a:p>
          <a:p>
            <a:pPr marL="87313" indent="-87313">
              <a:buFont typeface="Arial" panose="020B0604020202020204" pitchFamily="34" charset="0"/>
              <a:buChar char="•"/>
            </a:pPr>
            <a:r>
              <a:rPr lang="en-US" sz="1200" b="1" dirty="0">
                <a:latin typeface="Calibri" panose="020F0502020204030204" pitchFamily="34" charset="0"/>
                <a:cs typeface="Calibri" panose="020F0502020204030204" pitchFamily="34" charset="0"/>
              </a:rPr>
              <a:t>FPI inflows in CY’23 highest in last 22 years</a:t>
            </a:r>
          </a:p>
        </p:txBody>
      </p:sp>
      <p:graphicFrame>
        <p:nvGraphicFramePr>
          <p:cNvPr id="4" name="Chart 3">
            <a:extLst>
              <a:ext uri="{FF2B5EF4-FFF2-40B4-BE49-F238E27FC236}">
                <a16:creationId xmlns:a16="http://schemas.microsoft.com/office/drawing/2014/main" id="{64695482-6DB8-F49C-317E-345A0746042B}"/>
              </a:ext>
            </a:extLst>
          </p:cNvPr>
          <p:cNvGraphicFramePr/>
          <p:nvPr/>
        </p:nvGraphicFramePr>
        <p:xfrm>
          <a:off x="465698" y="2111514"/>
          <a:ext cx="10632230" cy="4399951"/>
        </p:xfrm>
        <a:graphic>
          <a:graphicData uri="http://schemas.openxmlformats.org/drawingml/2006/chart">
            <c:chart xmlns:c="http://schemas.openxmlformats.org/drawingml/2006/chart" xmlns:r="http://schemas.openxmlformats.org/officeDocument/2006/relationships" r:id="rId9"/>
          </a:graphicData>
        </a:graphic>
      </p:graphicFrame>
      <p:sp>
        <p:nvSpPr>
          <p:cNvPr id="2" name="TextBox 1">
            <a:extLst>
              <a:ext uri="{FF2B5EF4-FFF2-40B4-BE49-F238E27FC236}">
                <a16:creationId xmlns:a16="http://schemas.microsoft.com/office/drawing/2014/main" id="{FA19D982-E38C-C638-48D5-1467C9E0E0D6}"/>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NSDL, ACE MF &amp; CA Investment Research</a:t>
            </a:r>
          </a:p>
        </p:txBody>
      </p:sp>
    </p:spTree>
    <p:extLst>
      <p:ext uri="{BB962C8B-B14F-4D97-AF65-F5344CB8AC3E}">
        <p14:creationId xmlns:p14="http://schemas.microsoft.com/office/powerpoint/2010/main" val="40609793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3B0A2-9738-0066-6E6F-6DF33C5C407E}"/>
            </a:ext>
          </a:extLst>
        </p:cNvPr>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89346271-A48E-75AD-5155-F4E53F70AE95}"/>
              </a:ext>
            </a:extLst>
          </p:cNvPr>
          <p:cNvPicPr>
            <a:picLocks noChangeAspect="1"/>
          </p:cNvPicPr>
          <p:nvPr/>
        </p:nvPicPr>
        <p:blipFill>
          <a:blip r:embed="rId3">
            <a:alphaModFix amt="4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6AF2E25C-83A4-952F-5BC3-B35D6044343A}"/>
              </a:ext>
            </a:extLst>
          </p:cNvPr>
          <p:cNvPicPr>
            <a:picLocks noChangeAspect="1"/>
          </p:cNvPicPr>
          <p:nvPr/>
        </p:nvPicPr>
        <p:blipFill>
          <a:blip r:embed="rId5">
            <a:alphaModFix amt="2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2756" y="-356717"/>
            <a:ext cx="2367280" cy="2367280"/>
          </a:xfrm>
          <a:prstGeom prst="rect">
            <a:avLst/>
          </a:prstGeom>
        </p:spPr>
      </p:pic>
      <p:pic>
        <p:nvPicPr>
          <p:cNvPr id="11" name="Graphic 10" descr="Presentation with bar chart with solid fill">
            <a:extLst>
              <a:ext uri="{FF2B5EF4-FFF2-40B4-BE49-F238E27FC236}">
                <a16:creationId xmlns:a16="http://schemas.microsoft.com/office/drawing/2014/main" id="{E407C98A-4ED9-4116-955E-91427BDDE08B}"/>
              </a:ext>
            </a:extLst>
          </p:cNvPr>
          <p:cNvPicPr>
            <a:picLocks noChangeAspect="1"/>
          </p:cNvPicPr>
          <p:nvPr/>
        </p:nvPicPr>
        <p:blipFill>
          <a:blip r:embed="rId7">
            <a:alphaModFix amt="2000"/>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200" y="4734560"/>
            <a:ext cx="2123440" cy="2123440"/>
          </a:xfrm>
          <a:prstGeom prst="rect">
            <a:avLst/>
          </a:prstGeom>
        </p:spPr>
      </p:pic>
      <p:grpSp>
        <p:nvGrpSpPr>
          <p:cNvPr id="13" name="Group 12">
            <a:extLst>
              <a:ext uri="{FF2B5EF4-FFF2-40B4-BE49-F238E27FC236}">
                <a16:creationId xmlns:a16="http://schemas.microsoft.com/office/drawing/2014/main" id="{80ADA038-0DCE-759D-12D1-2D9DC34E630C}"/>
              </a:ext>
            </a:extLst>
          </p:cNvPr>
          <p:cNvGrpSpPr/>
          <p:nvPr/>
        </p:nvGrpSpPr>
        <p:grpSpPr>
          <a:xfrm>
            <a:off x="7045" y="144535"/>
            <a:ext cx="9993482" cy="546209"/>
            <a:chOff x="7048" y="420014"/>
            <a:chExt cx="4098470" cy="633058"/>
          </a:xfrm>
        </p:grpSpPr>
        <p:sp>
          <p:nvSpPr>
            <p:cNvPr id="14" name="TextBox 13">
              <a:extLst>
                <a:ext uri="{FF2B5EF4-FFF2-40B4-BE49-F238E27FC236}">
                  <a16:creationId xmlns:a16="http://schemas.microsoft.com/office/drawing/2014/main" id="{B310A084-B888-51D2-99F1-6C747AB94B9E}"/>
                </a:ext>
              </a:extLst>
            </p:cNvPr>
            <p:cNvSpPr txBox="1"/>
            <p:nvPr/>
          </p:nvSpPr>
          <p:spPr>
            <a:xfrm>
              <a:off x="11206" y="420014"/>
              <a:ext cx="4094312" cy="535071"/>
            </a:xfrm>
            <a:prstGeom prst="rect">
              <a:avLst/>
            </a:prstGeom>
            <a:noFill/>
          </p:spPr>
          <p:txBody>
            <a:bodyPr wrap="square" rtlCol="0">
              <a:spAutoFit/>
            </a:bodyPr>
            <a:lstStyle/>
            <a:p>
              <a:r>
                <a:rPr lang="en-US" sz="2400" dirty="0">
                  <a:solidFill>
                    <a:srgbClr val="084795"/>
                  </a:solidFill>
                  <a:latin typeface="Roboto" panose="02000000000000000000" pitchFamily="2" charset="0"/>
                  <a:ea typeface="Roboto" panose="02000000000000000000" pitchFamily="2" charset="0"/>
                </a:rPr>
                <a:t>SIP Flows &amp;</a:t>
              </a:r>
              <a:r>
                <a:rPr lang="en-US" sz="2400" i="1" dirty="0">
                  <a:solidFill>
                    <a:srgbClr val="084795"/>
                  </a:solidFill>
                  <a:latin typeface="Roboto" panose="02000000000000000000" pitchFamily="2" charset="0"/>
                  <a:ea typeface="Roboto" panose="02000000000000000000" pitchFamily="2" charset="0"/>
                </a:rPr>
                <a:t> </a:t>
              </a:r>
              <a:r>
                <a:rPr lang="en-US" sz="2400" dirty="0">
                  <a:solidFill>
                    <a:srgbClr val="084795"/>
                  </a:solidFill>
                  <a:latin typeface="Roboto" panose="02000000000000000000" pitchFamily="2" charset="0"/>
                  <a:ea typeface="Roboto" panose="02000000000000000000" pitchFamily="2" charset="0"/>
                </a:rPr>
                <a:t>No. of SIP Accounts</a:t>
              </a:r>
              <a:endParaRPr lang="en-US" sz="2400" i="1" dirty="0">
                <a:solidFill>
                  <a:srgbClr val="084795"/>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D0A8F025-BF58-8BC9-9FF6-E5F8FFE42241}"/>
                </a:ext>
              </a:extLst>
            </p:cNvPr>
            <p:cNvCxnSpPr>
              <a:cxnSpLocks/>
            </p:cNvCxnSpPr>
            <p:nvPr/>
          </p:nvCxnSpPr>
          <p:spPr>
            <a:xfrm>
              <a:off x="7048" y="1053072"/>
              <a:ext cx="1857913" cy="0"/>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EF374D4A-5DEC-5FC0-F51F-1B2C4745266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graphicFrame>
        <p:nvGraphicFramePr>
          <p:cNvPr id="3" name="Chart 2">
            <a:extLst>
              <a:ext uri="{FF2B5EF4-FFF2-40B4-BE49-F238E27FC236}">
                <a16:creationId xmlns:a16="http://schemas.microsoft.com/office/drawing/2014/main" id="{C40BB1CA-2A7B-0EBA-5189-3615758D667F}"/>
              </a:ext>
            </a:extLst>
          </p:cNvPr>
          <p:cNvGraphicFramePr/>
          <p:nvPr/>
        </p:nvGraphicFramePr>
        <p:xfrm>
          <a:off x="975769" y="1798115"/>
          <a:ext cx="10058400" cy="4242028"/>
        </p:xfrm>
        <a:graphic>
          <a:graphicData uri="http://schemas.openxmlformats.org/drawingml/2006/chart">
            <c:chart xmlns:c="http://schemas.openxmlformats.org/drawingml/2006/chart" xmlns:r="http://schemas.openxmlformats.org/officeDocument/2006/relationships" r:id="rId10"/>
          </a:graphicData>
        </a:graphic>
      </p:graphicFrame>
      <p:sp>
        <p:nvSpPr>
          <p:cNvPr id="8" name="Rectangle 7">
            <a:extLst>
              <a:ext uri="{FF2B5EF4-FFF2-40B4-BE49-F238E27FC236}">
                <a16:creationId xmlns:a16="http://schemas.microsoft.com/office/drawing/2014/main" id="{9D0BBD0D-1A6B-D7EC-4E2A-3A902BA4E124}"/>
              </a:ext>
            </a:extLst>
          </p:cNvPr>
          <p:cNvSpPr/>
          <p:nvPr/>
        </p:nvSpPr>
        <p:spPr>
          <a:xfrm>
            <a:off x="3961964" y="1257045"/>
            <a:ext cx="4268072" cy="338554"/>
          </a:xfrm>
          <a:prstGeom prst="rect">
            <a:avLst/>
          </a:prstGeom>
          <a:noFill/>
        </p:spPr>
        <p:txBody>
          <a:bodyPr wrap="square">
            <a:spAutoFit/>
          </a:bodyPr>
          <a:lstStyle/>
          <a:p>
            <a:pPr algn="ctr">
              <a:defRPr sz="1600" b="1" i="0" u="none" strike="noStrike" kern="1200" spc="0" baseline="0">
                <a:solidFill>
                  <a:srgbClr val="4472C4">
                    <a:lumMod val="75000"/>
                  </a:srgbClr>
                </a:solidFill>
                <a:latin typeface="+mn-lt"/>
                <a:ea typeface="+mn-ea"/>
                <a:cs typeface="+mn-cs"/>
              </a:defRPr>
            </a:pPr>
            <a:r>
              <a:rPr lang="en-IN" b="1" dirty="0">
                <a:solidFill>
                  <a:schemeClr val="accent1">
                    <a:lumMod val="75000"/>
                  </a:schemeClr>
                </a:solidFill>
              </a:rPr>
              <a:t>SIP Flows and No. of SIP Accounts</a:t>
            </a:r>
          </a:p>
        </p:txBody>
      </p:sp>
      <p:sp>
        <p:nvSpPr>
          <p:cNvPr id="2" name="TextBox 1">
            <a:extLst>
              <a:ext uri="{FF2B5EF4-FFF2-40B4-BE49-F238E27FC236}">
                <a16:creationId xmlns:a16="http://schemas.microsoft.com/office/drawing/2014/main" id="{752A923C-E39E-7D10-44FA-6FA0927AEC9B}"/>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AMFI</a:t>
            </a:r>
          </a:p>
        </p:txBody>
      </p:sp>
    </p:spTree>
    <p:extLst>
      <p:ext uri="{BB962C8B-B14F-4D97-AF65-F5344CB8AC3E}">
        <p14:creationId xmlns:p14="http://schemas.microsoft.com/office/powerpoint/2010/main" val="28721312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34B3408-854F-7567-0EA2-AB0CEDB7D3FA}"/>
              </a:ext>
            </a:extLst>
          </p:cNvPr>
          <p:cNvGrpSpPr/>
          <p:nvPr/>
        </p:nvGrpSpPr>
        <p:grpSpPr>
          <a:xfrm>
            <a:off x="4736064" y="1982787"/>
            <a:ext cx="2753601" cy="4273634"/>
            <a:chOff x="4568080" y="1982787"/>
            <a:chExt cx="2891827" cy="4273634"/>
          </a:xfrm>
        </p:grpSpPr>
        <p:sp>
          <p:nvSpPr>
            <p:cNvPr id="38" name="Rectangle 37">
              <a:extLst>
                <a:ext uri="{FF2B5EF4-FFF2-40B4-BE49-F238E27FC236}">
                  <a16:creationId xmlns:a16="http://schemas.microsoft.com/office/drawing/2014/main" id="{9046B595-27CB-3B4F-8734-3CEBB9E90345}"/>
                </a:ext>
              </a:extLst>
            </p:cNvPr>
            <p:cNvSpPr/>
            <p:nvPr/>
          </p:nvSpPr>
          <p:spPr>
            <a:xfrm>
              <a:off x="4572328" y="1982787"/>
              <a:ext cx="2887579" cy="2140505"/>
            </a:xfrm>
            <a:prstGeom prst="rect">
              <a:avLst/>
            </a:prstGeom>
            <a:pattFill prst="ltDnDiag">
              <a:fgClr>
                <a:schemeClr val="accent6">
                  <a:lumMod val="40000"/>
                  <a:lumOff val="6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9" name="Rectangle 38">
              <a:extLst>
                <a:ext uri="{FF2B5EF4-FFF2-40B4-BE49-F238E27FC236}">
                  <a16:creationId xmlns:a16="http://schemas.microsoft.com/office/drawing/2014/main" id="{92553ADA-3DC4-B8D0-1E98-91ADAAFF5B76}"/>
                </a:ext>
              </a:extLst>
            </p:cNvPr>
            <p:cNvSpPr/>
            <p:nvPr/>
          </p:nvSpPr>
          <p:spPr>
            <a:xfrm>
              <a:off x="4568080" y="4115915"/>
              <a:ext cx="2887579" cy="2140506"/>
            </a:xfrm>
            <a:prstGeom prst="rect">
              <a:avLst/>
            </a:prstGeom>
            <a:pattFill prst="ltDnDiag">
              <a:fgClr>
                <a:schemeClr val="bg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40" name="Chart 39">
            <a:extLst>
              <a:ext uri="{FF2B5EF4-FFF2-40B4-BE49-F238E27FC236}">
                <a16:creationId xmlns:a16="http://schemas.microsoft.com/office/drawing/2014/main" id="{4C386D46-F776-A80F-E011-FC0A420EC0A8}"/>
              </a:ext>
            </a:extLst>
          </p:cNvPr>
          <p:cNvGraphicFramePr/>
          <p:nvPr/>
        </p:nvGraphicFramePr>
        <p:xfrm>
          <a:off x="4204029" y="1848873"/>
          <a:ext cx="3285637" cy="4585299"/>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3A55FDAA-1368-0FF2-F17C-EBF0BF827522}"/>
              </a:ext>
            </a:extLst>
          </p:cNvPr>
          <p:cNvSpPr/>
          <p:nvPr/>
        </p:nvSpPr>
        <p:spPr>
          <a:xfrm>
            <a:off x="8596020" y="1982785"/>
            <a:ext cx="2858703" cy="4273635"/>
          </a:xfrm>
          <a:prstGeom prst="rect">
            <a:avLst/>
          </a:prstGeom>
          <a:pattFill prst="ltDnDiag">
            <a:fgClr>
              <a:schemeClr val="bg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Rectangle 31">
            <a:extLst>
              <a:ext uri="{FF2B5EF4-FFF2-40B4-BE49-F238E27FC236}">
                <a16:creationId xmlns:a16="http://schemas.microsoft.com/office/drawing/2014/main" id="{55955506-42C7-3686-15B6-4907CA73DB8C}"/>
              </a:ext>
            </a:extLst>
          </p:cNvPr>
          <p:cNvSpPr/>
          <p:nvPr/>
        </p:nvSpPr>
        <p:spPr>
          <a:xfrm>
            <a:off x="897971" y="1982787"/>
            <a:ext cx="2887579" cy="2140505"/>
          </a:xfrm>
          <a:prstGeom prst="rect">
            <a:avLst/>
          </a:prstGeom>
          <a:pattFill prst="ltDnDiag">
            <a:fgClr>
              <a:schemeClr val="accent6">
                <a:lumMod val="40000"/>
                <a:lumOff val="6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Rectangle 34">
            <a:extLst>
              <a:ext uri="{FF2B5EF4-FFF2-40B4-BE49-F238E27FC236}">
                <a16:creationId xmlns:a16="http://schemas.microsoft.com/office/drawing/2014/main" id="{7A3AE6D1-1433-8A8B-D1D8-FD1FA665FBCA}"/>
              </a:ext>
            </a:extLst>
          </p:cNvPr>
          <p:cNvSpPr/>
          <p:nvPr/>
        </p:nvSpPr>
        <p:spPr>
          <a:xfrm>
            <a:off x="893723" y="4115915"/>
            <a:ext cx="2887579" cy="2140506"/>
          </a:xfrm>
          <a:prstGeom prst="rect">
            <a:avLst/>
          </a:prstGeom>
          <a:pattFill prst="ltDnDiag">
            <a:fgClr>
              <a:schemeClr val="bg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9" name="Chart 8">
            <a:extLst>
              <a:ext uri="{FF2B5EF4-FFF2-40B4-BE49-F238E27FC236}">
                <a16:creationId xmlns:a16="http://schemas.microsoft.com/office/drawing/2014/main" id="{69AEF13D-67FF-BE98-8C10-B6771F387D8F}"/>
              </a:ext>
            </a:extLst>
          </p:cNvPr>
          <p:cNvGraphicFramePr/>
          <p:nvPr/>
        </p:nvGraphicFramePr>
        <p:xfrm>
          <a:off x="402359" y="1848874"/>
          <a:ext cx="3535204" cy="4585299"/>
        </p:xfrm>
        <a:graphic>
          <a:graphicData uri="http://schemas.openxmlformats.org/drawingml/2006/chart">
            <c:chart xmlns:c="http://schemas.openxmlformats.org/drawingml/2006/chart" xmlns:r="http://schemas.openxmlformats.org/officeDocument/2006/relationships" r:id="rId4"/>
          </a:graphicData>
        </a:graphic>
      </p:graphicFrame>
      <p:pic>
        <p:nvPicPr>
          <p:cNvPr id="5" name="Graphic 4" descr="Customer review with solid fill">
            <a:extLst>
              <a:ext uri="{FF2B5EF4-FFF2-40B4-BE49-F238E27FC236}">
                <a16:creationId xmlns:a16="http://schemas.microsoft.com/office/drawing/2014/main" id="{679F8DC7-F378-4198-8A9F-92C0EB862367}"/>
              </a:ext>
            </a:extLst>
          </p:cNvPr>
          <p:cNvPicPr>
            <a:picLocks noChangeAspect="1"/>
          </p:cNvPicPr>
          <p:nvPr/>
        </p:nvPicPr>
        <p:blipFill>
          <a:blip r:embed="rId5">
            <a:alphaModFix amt="4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675" y="-43961"/>
            <a:ext cx="2123440" cy="2123440"/>
          </a:xfrm>
          <a:prstGeom prst="rect">
            <a:avLst/>
          </a:prstGeom>
        </p:spPr>
      </p:pic>
      <p:pic>
        <p:nvPicPr>
          <p:cNvPr id="7" name="Graphic 6" descr="Downward trend graph with solid fill">
            <a:extLst>
              <a:ext uri="{FF2B5EF4-FFF2-40B4-BE49-F238E27FC236}">
                <a16:creationId xmlns:a16="http://schemas.microsoft.com/office/drawing/2014/main" id="{08700E19-E610-42FB-AF6C-69B1BB100E4E}"/>
              </a:ext>
            </a:extLst>
          </p:cNvPr>
          <p:cNvPicPr>
            <a:picLocks noChangeAspect="1"/>
          </p:cNvPicPr>
          <p:nvPr/>
        </p:nvPicPr>
        <p:blipFill>
          <a:blip r:embed="rId7">
            <a:alphaModFix amt="2000"/>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68560" y="-243840"/>
            <a:ext cx="2367280" cy="2367280"/>
          </a:xfrm>
          <a:prstGeom prst="rect">
            <a:avLst/>
          </a:prstGeom>
        </p:spPr>
      </p:pic>
      <p:grpSp>
        <p:nvGrpSpPr>
          <p:cNvPr id="13" name="Group 12">
            <a:extLst>
              <a:ext uri="{FF2B5EF4-FFF2-40B4-BE49-F238E27FC236}">
                <a16:creationId xmlns:a16="http://schemas.microsoft.com/office/drawing/2014/main" id="{86ACE3CA-23EA-4837-97BE-D87EA58161B6}"/>
              </a:ext>
            </a:extLst>
          </p:cNvPr>
          <p:cNvGrpSpPr/>
          <p:nvPr/>
        </p:nvGrpSpPr>
        <p:grpSpPr>
          <a:xfrm>
            <a:off x="-1" y="205267"/>
            <a:ext cx="10989677" cy="546983"/>
            <a:chOff x="4982" y="441107"/>
            <a:chExt cx="3222941" cy="633955"/>
          </a:xfrm>
        </p:grpSpPr>
        <p:sp>
          <p:nvSpPr>
            <p:cNvPr id="14" name="TextBox 13">
              <a:extLst>
                <a:ext uri="{FF2B5EF4-FFF2-40B4-BE49-F238E27FC236}">
                  <a16:creationId xmlns:a16="http://schemas.microsoft.com/office/drawing/2014/main" id="{031086C6-6DFE-42FF-AC05-E5735FC70B9C}"/>
                </a:ext>
              </a:extLst>
            </p:cNvPr>
            <p:cNvSpPr txBox="1"/>
            <p:nvPr/>
          </p:nvSpPr>
          <p:spPr>
            <a:xfrm>
              <a:off x="4982" y="441107"/>
              <a:ext cx="3222941" cy="552907"/>
            </a:xfrm>
            <a:prstGeom prst="rect">
              <a:avLst/>
            </a:prstGeom>
            <a:noFill/>
          </p:spPr>
          <p:txBody>
            <a:bodyPr wrap="square" rtlCol="0">
              <a:spAutoFit/>
            </a:bodyPr>
            <a:lstStyle/>
            <a:p>
              <a:r>
                <a:rPr lang="en-US" sz="2500" dirty="0">
                  <a:solidFill>
                    <a:srgbClr val="084795"/>
                  </a:solidFill>
                  <a:ea typeface="Roboto" panose="02000000000000000000" pitchFamily="2" charset="0"/>
                </a:rPr>
                <a:t>High-frequency indicators suggest robust economic activity (May ’25)</a:t>
              </a:r>
            </a:p>
          </p:txBody>
        </p:sp>
        <p:cxnSp>
          <p:nvCxnSpPr>
            <p:cNvPr id="15" name="Straight Connector 14">
              <a:extLst>
                <a:ext uri="{FF2B5EF4-FFF2-40B4-BE49-F238E27FC236}">
                  <a16:creationId xmlns:a16="http://schemas.microsoft.com/office/drawing/2014/main" id="{49733806-21EE-4AAC-B1E7-135D03D22E0B}"/>
                </a:ext>
              </a:extLst>
            </p:cNvPr>
            <p:cNvCxnSpPr>
              <a:cxnSpLocks/>
            </p:cNvCxnSpPr>
            <p:nvPr/>
          </p:nvCxnSpPr>
          <p:spPr>
            <a:xfrm flipV="1">
              <a:off x="17065" y="1021969"/>
              <a:ext cx="2567742" cy="53093"/>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A33BF976-097A-4D7E-8C94-F0E655548619}"/>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sp>
        <p:nvSpPr>
          <p:cNvPr id="19" name="TextBox 18">
            <a:extLst>
              <a:ext uri="{FF2B5EF4-FFF2-40B4-BE49-F238E27FC236}">
                <a16:creationId xmlns:a16="http://schemas.microsoft.com/office/drawing/2014/main" id="{7A091594-B486-14D0-C50D-A0EB38F645CD}"/>
              </a:ext>
            </a:extLst>
          </p:cNvPr>
          <p:cNvSpPr txBox="1"/>
          <p:nvPr/>
        </p:nvSpPr>
        <p:spPr>
          <a:xfrm>
            <a:off x="885523" y="1417283"/>
            <a:ext cx="2887579" cy="369332"/>
          </a:xfrm>
          <a:prstGeom prst="rect">
            <a:avLst/>
          </a:prstGeom>
          <a:noFill/>
        </p:spPr>
        <p:txBody>
          <a:bodyPr wrap="square">
            <a:spAutoFit/>
          </a:bodyPr>
          <a:lstStyle/>
          <a:p>
            <a:pPr algn="ctr"/>
            <a:r>
              <a:rPr lang="en-IN" b="1" dirty="0">
                <a:solidFill>
                  <a:schemeClr val="accent1">
                    <a:lumMod val="50000"/>
                  </a:schemeClr>
                </a:solidFill>
              </a:rPr>
              <a:t>Manufacturing PMI</a:t>
            </a:r>
          </a:p>
        </p:txBody>
      </p:sp>
      <p:sp>
        <p:nvSpPr>
          <p:cNvPr id="3" name="TextBox 2">
            <a:extLst>
              <a:ext uri="{FF2B5EF4-FFF2-40B4-BE49-F238E27FC236}">
                <a16:creationId xmlns:a16="http://schemas.microsoft.com/office/drawing/2014/main" id="{B7EEF07C-E691-3626-AD1F-064BF167AE58}"/>
              </a:ext>
            </a:extLst>
          </p:cNvPr>
          <p:cNvSpPr txBox="1"/>
          <p:nvPr/>
        </p:nvSpPr>
        <p:spPr>
          <a:xfrm>
            <a:off x="1691046" y="4272044"/>
            <a:ext cx="1283878" cy="369332"/>
          </a:xfrm>
          <a:prstGeom prst="rect">
            <a:avLst/>
          </a:prstGeom>
          <a:solidFill>
            <a:schemeClr val="bg1">
              <a:alpha val="0"/>
            </a:schemeClr>
          </a:solidFill>
        </p:spPr>
        <p:txBody>
          <a:bodyPr wrap="none" rtlCol="0">
            <a:spAutoFit/>
          </a:bodyPr>
          <a:lstStyle>
            <a:defPPr>
              <a:defRPr lang="en-US"/>
            </a:defPPr>
            <a:lvl1pPr>
              <a:defRPr>
                <a:solidFill>
                  <a:schemeClr val="tx1">
                    <a:lumMod val="50000"/>
                    <a:lumOff val="50000"/>
                    <a:alpha val="37000"/>
                  </a:schemeClr>
                </a:solidFill>
              </a:defRPr>
            </a:lvl1pPr>
          </a:lstStyle>
          <a:p>
            <a:r>
              <a:rPr lang="en-IN" dirty="0">
                <a:solidFill>
                  <a:schemeClr val="bg1">
                    <a:lumMod val="50000"/>
                    <a:alpha val="64000"/>
                  </a:schemeClr>
                </a:solidFill>
              </a:rPr>
              <a:t>Contraction</a:t>
            </a:r>
          </a:p>
        </p:txBody>
      </p:sp>
      <p:sp>
        <p:nvSpPr>
          <p:cNvPr id="2" name="TextBox 1">
            <a:extLst>
              <a:ext uri="{FF2B5EF4-FFF2-40B4-BE49-F238E27FC236}">
                <a16:creationId xmlns:a16="http://schemas.microsoft.com/office/drawing/2014/main" id="{8FC02291-6C79-23F1-2263-D08C6D0A5A2E}"/>
              </a:ext>
            </a:extLst>
          </p:cNvPr>
          <p:cNvSpPr txBox="1"/>
          <p:nvPr/>
        </p:nvSpPr>
        <p:spPr>
          <a:xfrm>
            <a:off x="1766093" y="3613341"/>
            <a:ext cx="1136850" cy="369332"/>
          </a:xfrm>
          <a:prstGeom prst="rect">
            <a:avLst/>
          </a:prstGeom>
          <a:solidFill>
            <a:schemeClr val="bg1">
              <a:alpha val="0"/>
            </a:schemeClr>
          </a:solidFill>
        </p:spPr>
        <p:txBody>
          <a:bodyPr wrap="none" rtlCol="0">
            <a:spAutoFit/>
          </a:bodyPr>
          <a:lstStyle/>
          <a:p>
            <a:r>
              <a:rPr lang="en-IN" dirty="0">
                <a:solidFill>
                  <a:schemeClr val="accent6">
                    <a:lumMod val="75000"/>
                    <a:alpha val="41000"/>
                  </a:schemeClr>
                </a:solidFill>
              </a:rPr>
              <a:t>Expansion</a:t>
            </a:r>
          </a:p>
        </p:txBody>
      </p:sp>
      <p:cxnSp>
        <p:nvCxnSpPr>
          <p:cNvPr id="6" name="Straight Connector 5">
            <a:extLst>
              <a:ext uri="{FF2B5EF4-FFF2-40B4-BE49-F238E27FC236}">
                <a16:creationId xmlns:a16="http://schemas.microsoft.com/office/drawing/2014/main" id="{927287DB-434B-CCE7-08F9-29AE05517E83}"/>
              </a:ext>
            </a:extLst>
          </p:cNvPr>
          <p:cNvCxnSpPr>
            <a:cxnSpLocks/>
          </p:cNvCxnSpPr>
          <p:nvPr/>
        </p:nvCxnSpPr>
        <p:spPr>
          <a:xfrm>
            <a:off x="888347" y="4118591"/>
            <a:ext cx="2902138" cy="0"/>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9DE94BB-AF72-865A-296A-F961D9D3726D}"/>
              </a:ext>
            </a:extLst>
          </p:cNvPr>
          <p:cNvSpPr txBox="1"/>
          <p:nvPr/>
        </p:nvSpPr>
        <p:spPr>
          <a:xfrm>
            <a:off x="4477812" y="1366898"/>
            <a:ext cx="2900026" cy="369332"/>
          </a:xfrm>
          <a:prstGeom prst="rect">
            <a:avLst/>
          </a:prstGeom>
          <a:noFill/>
        </p:spPr>
        <p:txBody>
          <a:bodyPr wrap="square">
            <a:spAutoFit/>
          </a:bodyPr>
          <a:lstStyle/>
          <a:p>
            <a:pPr algn="ctr"/>
            <a:r>
              <a:rPr lang="en-IN" b="1" dirty="0">
                <a:solidFill>
                  <a:schemeClr val="accent1">
                    <a:lumMod val="50000"/>
                  </a:schemeClr>
                </a:solidFill>
              </a:rPr>
              <a:t>Services PMI</a:t>
            </a:r>
          </a:p>
        </p:txBody>
      </p:sp>
      <p:sp>
        <p:nvSpPr>
          <p:cNvPr id="25" name="TextBox 24">
            <a:extLst>
              <a:ext uri="{FF2B5EF4-FFF2-40B4-BE49-F238E27FC236}">
                <a16:creationId xmlns:a16="http://schemas.microsoft.com/office/drawing/2014/main" id="{E6A95746-4125-0B09-2AEC-C5F8E5DB295F}"/>
              </a:ext>
            </a:extLst>
          </p:cNvPr>
          <p:cNvSpPr txBox="1"/>
          <p:nvPr/>
        </p:nvSpPr>
        <p:spPr>
          <a:xfrm>
            <a:off x="8176488" y="1365241"/>
            <a:ext cx="2900027" cy="369332"/>
          </a:xfrm>
          <a:prstGeom prst="rect">
            <a:avLst/>
          </a:prstGeom>
          <a:noFill/>
        </p:spPr>
        <p:txBody>
          <a:bodyPr wrap="square">
            <a:spAutoFit/>
          </a:bodyPr>
          <a:lstStyle/>
          <a:p>
            <a:pPr algn="ctr"/>
            <a:r>
              <a:rPr lang="en-IN" b="1" dirty="0">
                <a:solidFill>
                  <a:schemeClr val="accent1">
                    <a:lumMod val="50000"/>
                  </a:schemeClr>
                </a:solidFill>
              </a:rPr>
              <a:t>GST Collection</a:t>
            </a:r>
          </a:p>
        </p:txBody>
      </p:sp>
      <p:cxnSp>
        <p:nvCxnSpPr>
          <p:cNvPr id="30" name="Straight Connector 29">
            <a:extLst>
              <a:ext uri="{FF2B5EF4-FFF2-40B4-BE49-F238E27FC236}">
                <a16:creationId xmlns:a16="http://schemas.microsoft.com/office/drawing/2014/main" id="{C59F3E66-E70C-7800-520D-668243CC1FF9}"/>
              </a:ext>
            </a:extLst>
          </p:cNvPr>
          <p:cNvCxnSpPr/>
          <p:nvPr/>
        </p:nvCxnSpPr>
        <p:spPr>
          <a:xfrm>
            <a:off x="4019227" y="1193533"/>
            <a:ext cx="0" cy="5507878"/>
          </a:xfrm>
          <a:prstGeom prst="line">
            <a:avLst/>
          </a:prstGeom>
          <a:ln w="15875">
            <a:solidFill>
              <a:srgbClr val="66B6A9"/>
            </a:solidFill>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A37E253-E10F-1617-221C-17419E9B3DD0}"/>
              </a:ext>
            </a:extLst>
          </p:cNvPr>
          <p:cNvCxnSpPr/>
          <p:nvPr/>
        </p:nvCxnSpPr>
        <p:spPr>
          <a:xfrm>
            <a:off x="7715451" y="1144855"/>
            <a:ext cx="0" cy="5507878"/>
          </a:xfrm>
          <a:prstGeom prst="line">
            <a:avLst/>
          </a:prstGeom>
          <a:ln w="28575" cmpd="sng">
            <a:solidFill>
              <a:srgbClr val="66B6A9"/>
            </a:solidFill>
            <a:prstDash val="soli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784A8AA4-4C27-D7CD-7EA1-C211E0FD9B9D}"/>
              </a:ext>
            </a:extLst>
          </p:cNvPr>
          <p:cNvSpPr txBox="1"/>
          <p:nvPr/>
        </p:nvSpPr>
        <p:spPr>
          <a:xfrm>
            <a:off x="5283335" y="4272044"/>
            <a:ext cx="1283878" cy="369332"/>
          </a:xfrm>
          <a:prstGeom prst="rect">
            <a:avLst/>
          </a:prstGeom>
          <a:solidFill>
            <a:schemeClr val="bg1">
              <a:alpha val="0"/>
            </a:schemeClr>
          </a:solidFill>
        </p:spPr>
        <p:txBody>
          <a:bodyPr wrap="none" rtlCol="0">
            <a:spAutoFit/>
          </a:bodyPr>
          <a:lstStyle>
            <a:defPPr>
              <a:defRPr lang="en-US"/>
            </a:defPPr>
            <a:lvl1pPr>
              <a:defRPr>
                <a:solidFill>
                  <a:schemeClr val="tx1">
                    <a:lumMod val="50000"/>
                    <a:lumOff val="50000"/>
                    <a:alpha val="37000"/>
                  </a:schemeClr>
                </a:solidFill>
              </a:defRPr>
            </a:lvl1pPr>
          </a:lstStyle>
          <a:p>
            <a:r>
              <a:rPr lang="en-IN" dirty="0">
                <a:solidFill>
                  <a:schemeClr val="bg1">
                    <a:lumMod val="50000"/>
                    <a:alpha val="64000"/>
                  </a:schemeClr>
                </a:solidFill>
              </a:rPr>
              <a:t>Contraction</a:t>
            </a:r>
          </a:p>
        </p:txBody>
      </p:sp>
      <p:sp>
        <p:nvSpPr>
          <p:cNvPr id="42" name="TextBox 41">
            <a:extLst>
              <a:ext uri="{FF2B5EF4-FFF2-40B4-BE49-F238E27FC236}">
                <a16:creationId xmlns:a16="http://schemas.microsoft.com/office/drawing/2014/main" id="{9A5EECA5-D95E-DA3B-2625-73962617B062}"/>
              </a:ext>
            </a:extLst>
          </p:cNvPr>
          <p:cNvSpPr txBox="1"/>
          <p:nvPr/>
        </p:nvSpPr>
        <p:spPr>
          <a:xfrm>
            <a:off x="5358382" y="3613341"/>
            <a:ext cx="1136850" cy="369332"/>
          </a:xfrm>
          <a:prstGeom prst="rect">
            <a:avLst/>
          </a:prstGeom>
          <a:solidFill>
            <a:schemeClr val="bg1">
              <a:alpha val="0"/>
            </a:schemeClr>
          </a:solidFill>
        </p:spPr>
        <p:txBody>
          <a:bodyPr wrap="none" rtlCol="0">
            <a:spAutoFit/>
          </a:bodyPr>
          <a:lstStyle/>
          <a:p>
            <a:r>
              <a:rPr lang="en-IN" dirty="0">
                <a:solidFill>
                  <a:schemeClr val="accent6">
                    <a:lumMod val="75000"/>
                    <a:alpha val="41000"/>
                  </a:schemeClr>
                </a:solidFill>
              </a:rPr>
              <a:t>Expansion</a:t>
            </a:r>
          </a:p>
        </p:txBody>
      </p:sp>
      <p:cxnSp>
        <p:nvCxnSpPr>
          <p:cNvPr id="43" name="Straight Connector 42">
            <a:extLst>
              <a:ext uri="{FF2B5EF4-FFF2-40B4-BE49-F238E27FC236}">
                <a16:creationId xmlns:a16="http://schemas.microsoft.com/office/drawing/2014/main" id="{E5CCF796-2900-ACFC-6566-E47E136F67E8}"/>
              </a:ext>
            </a:extLst>
          </p:cNvPr>
          <p:cNvCxnSpPr>
            <a:cxnSpLocks/>
          </p:cNvCxnSpPr>
          <p:nvPr/>
        </p:nvCxnSpPr>
        <p:spPr>
          <a:xfrm>
            <a:off x="4736064" y="4132945"/>
            <a:ext cx="2736000" cy="0"/>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6" name="Chart 45">
            <a:extLst>
              <a:ext uri="{FF2B5EF4-FFF2-40B4-BE49-F238E27FC236}">
                <a16:creationId xmlns:a16="http://schemas.microsoft.com/office/drawing/2014/main" id="{B1936CD7-4EA4-4038-2137-D4EBCC98F440}"/>
              </a:ext>
            </a:extLst>
          </p:cNvPr>
          <p:cNvGraphicFramePr/>
          <p:nvPr/>
        </p:nvGraphicFramePr>
        <p:xfrm>
          <a:off x="7797115" y="1837000"/>
          <a:ext cx="3801325" cy="4585299"/>
        </p:xfrm>
        <a:graphic>
          <a:graphicData uri="http://schemas.openxmlformats.org/drawingml/2006/chart">
            <c:chart xmlns:c="http://schemas.openxmlformats.org/drawingml/2006/chart" xmlns:r="http://schemas.openxmlformats.org/officeDocument/2006/relationships" r:id="rId10"/>
          </a:graphicData>
        </a:graphic>
      </p:graphicFrame>
      <p:sp>
        <p:nvSpPr>
          <p:cNvPr id="11" name="TextBox 10">
            <a:extLst>
              <a:ext uri="{FF2B5EF4-FFF2-40B4-BE49-F238E27FC236}">
                <a16:creationId xmlns:a16="http://schemas.microsoft.com/office/drawing/2014/main" id="{FC45FA9A-3395-70BA-043E-66DE75C7D1DB}"/>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Bloomberg, GOI &amp; CA Investment Research</a:t>
            </a:r>
          </a:p>
        </p:txBody>
      </p:sp>
    </p:spTree>
    <p:extLst>
      <p:ext uri="{BB962C8B-B14F-4D97-AF65-F5344CB8AC3E}">
        <p14:creationId xmlns:p14="http://schemas.microsoft.com/office/powerpoint/2010/main" val="5541372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679F8DC7-F378-4198-8A9F-92C0EB862367}"/>
              </a:ext>
            </a:extLst>
          </p:cNvPr>
          <p:cNvPicPr>
            <a:picLocks noChangeAspect="1"/>
          </p:cNvPicPr>
          <p:nvPr/>
        </p:nvPicPr>
        <p:blipFill>
          <a:blip r:embed="rId3">
            <a:alphaModFix amt="1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08700E19-E610-42FB-AF6C-69B1BB100E4E}"/>
              </a:ext>
            </a:extLst>
          </p:cNvPr>
          <p:cNvPicPr>
            <a:picLocks noChangeAspect="1"/>
          </p:cNvPicPr>
          <p:nvPr/>
        </p:nvPicPr>
        <p:blipFill>
          <a:blip r:embed="rId5">
            <a:alphaModFix amt="2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68560" y="-243840"/>
            <a:ext cx="2367280" cy="2367280"/>
          </a:xfrm>
          <a:prstGeom prst="rect">
            <a:avLst/>
          </a:prstGeom>
        </p:spPr>
      </p:pic>
      <p:grpSp>
        <p:nvGrpSpPr>
          <p:cNvPr id="13" name="Group 12">
            <a:extLst>
              <a:ext uri="{FF2B5EF4-FFF2-40B4-BE49-F238E27FC236}">
                <a16:creationId xmlns:a16="http://schemas.microsoft.com/office/drawing/2014/main" id="{86ACE3CA-23EA-4837-97BE-D87EA58161B6}"/>
              </a:ext>
            </a:extLst>
          </p:cNvPr>
          <p:cNvGrpSpPr/>
          <p:nvPr/>
        </p:nvGrpSpPr>
        <p:grpSpPr>
          <a:xfrm>
            <a:off x="0" y="197034"/>
            <a:ext cx="10489789" cy="572299"/>
            <a:chOff x="7048" y="440191"/>
            <a:chExt cx="5068374" cy="663302"/>
          </a:xfrm>
        </p:grpSpPr>
        <p:sp>
          <p:nvSpPr>
            <p:cNvPr id="14" name="TextBox 13">
              <a:extLst>
                <a:ext uri="{FF2B5EF4-FFF2-40B4-BE49-F238E27FC236}">
                  <a16:creationId xmlns:a16="http://schemas.microsoft.com/office/drawing/2014/main" id="{031086C6-6DFE-42FF-AC05-E5735FC70B9C}"/>
                </a:ext>
              </a:extLst>
            </p:cNvPr>
            <p:cNvSpPr txBox="1"/>
            <p:nvPr/>
          </p:nvSpPr>
          <p:spPr>
            <a:xfrm>
              <a:off x="7048" y="440191"/>
              <a:ext cx="5068374" cy="499404"/>
            </a:xfrm>
            <a:prstGeom prst="rect">
              <a:avLst/>
            </a:prstGeom>
            <a:noFill/>
          </p:spPr>
          <p:txBody>
            <a:bodyPr wrap="square" rtlCol="0">
              <a:spAutoFit/>
            </a:bodyPr>
            <a:lstStyle/>
            <a:p>
              <a:r>
                <a:rPr lang="en-US" sz="2200" dirty="0">
                  <a:solidFill>
                    <a:srgbClr val="084795"/>
                  </a:solidFill>
                  <a:ea typeface="Roboto" panose="02000000000000000000" pitchFamily="2" charset="0"/>
                </a:rPr>
                <a:t>India likely to sustain 6.3% GDP growth in FY’26, led by consumption and capex revival</a:t>
              </a:r>
              <a:endParaRPr lang="en-GB" sz="2200" dirty="0">
                <a:solidFill>
                  <a:srgbClr val="084795"/>
                </a:solidFill>
                <a:ea typeface="Roboto" panose="02000000000000000000" pitchFamily="2" charset="0"/>
              </a:endParaRPr>
            </a:p>
          </p:txBody>
        </p:sp>
        <p:cxnSp>
          <p:nvCxnSpPr>
            <p:cNvPr id="15" name="Straight Connector 14">
              <a:extLst>
                <a:ext uri="{FF2B5EF4-FFF2-40B4-BE49-F238E27FC236}">
                  <a16:creationId xmlns:a16="http://schemas.microsoft.com/office/drawing/2014/main" id="{49733806-21EE-4AAC-B1E7-135D03D22E0B}"/>
                </a:ext>
              </a:extLst>
            </p:cNvPr>
            <p:cNvCxnSpPr>
              <a:cxnSpLocks/>
            </p:cNvCxnSpPr>
            <p:nvPr/>
          </p:nvCxnSpPr>
          <p:spPr>
            <a:xfrm flipV="1">
              <a:off x="68593" y="1103492"/>
              <a:ext cx="3162482" cy="1"/>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A33BF976-097A-4D7E-8C94-F0E65554861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911271" y="101458"/>
            <a:ext cx="1099975" cy="1028396"/>
          </a:xfrm>
          <a:prstGeom prst="rect">
            <a:avLst/>
          </a:prstGeom>
        </p:spPr>
      </p:pic>
      <p:sp>
        <p:nvSpPr>
          <p:cNvPr id="12" name="TextBox 11">
            <a:extLst>
              <a:ext uri="{FF2B5EF4-FFF2-40B4-BE49-F238E27FC236}">
                <a16:creationId xmlns:a16="http://schemas.microsoft.com/office/drawing/2014/main" id="{A08E8F68-7C09-4868-A58C-31214E5F1C20}"/>
              </a:ext>
            </a:extLst>
          </p:cNvPr>
          <p:cNvSpPr txBox="1"/>
          <p:nvPr/>
        </p:nvSpPr>
        <p:spPr>
          <a:xfrm>
            <a:off x="6906757" y="1256466"/>
            <a:ext cx="5104489" cy="5478423"/>
          </a:xfrm>
          <a:prstGeom prst="rect">
            <a:avLst/>
          </a:prstGeom>
          <a:noFill/>
        </p:spPr>
        <p:txBody>
          <a:bodyPr wrap="square">
            <a:spAutoFit/>
          </a:bodyPr>
          <a:lstStyle/>
          <a:p>
            <a:pPr marL="171450" indent="-171450" algn="just">
              <a:buFont typeface="Wingdings" panose="05000000000000000000" pitchFamily="2" charset="2"/>
              <a:buChar char="§"/>
            </a:pPr>
            <a:r>
              <a:rPr lang="en-IN" sz="1400" b="1" dirty="0">
                <a:solidFill>
                  <a:srgbClr val="002060"/>
                </a:solidFill>
                <a:ea typeface="Roboto" panose="02000000000000000000" pitchFamily="2" charset="0"/>
                <a:cs typeface="Calibri" panose="020F0502020204030204" pitchFamily="34" charset="0"/>
              </a:rPr>
              <a:t>FY’22:</a:t>
            </a:r>
            <a:r>
              <a:rPr lang="en-IN" sz="1400" dirty="0">
                <a:solidFill>
                  <a:srgbClr val="002060"/>
                </a:solidFill>
                <a:ea typeface="Roboto" panose="02000000000000000000" pitchFamily="2" charset="0"/>
                <a:cs typeface="Calibri" panose="020F0502020204030204" pitchFamily="34" charset="0"/>
              </a:rPr>
              <a:t> Favourable base year, re-opening of economy, low interest rate, accommodative policies, and improving exports due to strong global growth helped the Indian economy to report ~9.70% growth in FY2022.  </a:t>
            </a:r>
          </a:p>
          <a:p>
            <a:pPr marL="171450" indent="-171450" algn="just">
              <a:buFont typeface="Wingdings" panose="05000000000000000000" pitchFamily="2" charset="2"/>
              <a:buChar char="§"/>
            </a:pPr>
            <a:r>
              <a:rPr lang="en-IN" sz="1400" b="1" dirty="0">
                <a:solidFill>
                  <a:srgbClr val="002060"/>
                </a:solidFill>
                <a:ea typeface="Roboto" panose="02000000000000000000" pitchFamily="2" charset="0"/>
                <a:cs typeface="Calibri" panose="020F0502020204030204" pitchFamily="34" charset="0"/>
              </a:rPr>
              <a:t>FY’23: </a:t>
            </a:r>
            <a:r>
              <a:rPr lang="en-IN" sz="1400" dirty="0">
                <a:solidFill>
                  <a:srgbClr val="002060"/>
                </a:solidFill>
                <a:ea typeface="Roboto" panose="02000000000000000000" pitchFamily="2" charset="0"/>
                <a:cs typeface="Calibri" panose="020F0502020204030204" pitchFamily="34" charset="0"/>
              </a:rPr>
              <a:t>GDP grew by an impressive 7.60% in a rather subdued global economic environment. Capex push by GOI along with improvement in private consumption and agriculture growth pushed GDP growth higher</a:t>
            </a:r>
          </a:p>
          <a:p>
            <a:pPr marL="171450" indent="-171450" algn="just">
              <a:buFont typeface="Wingdings" panose="05000000000000000000" pitchFamily="2" charset="2"/>
              <a:buChar char="§"/>
            </a:pPr>
            <a:r>
              <a:rPr lang="en-IN" sz="1400" b="1" dirty="0">
                <a:solidFill>
                  <a:srgbClr val="002060"/>
                </a:solidFill>
                <a:ea typeface="Roboto" panose="02000000000000000000" pitchFamily="2" charset="0"/>
                <a:cs typeface="Calibri" panose="020F0502020204030204" pitchFamily="34" charset="0"/>
              </a:rPr>
              <a:t>FY’24: </a:t>
            </a:r>
            <a:r>
              <a:rPr lang="en-IN" sz="1400" dirty="0">
                <a:solidFill>
                  <a:srgbClr val="002060"/>
                </a:solidFill>
                <a:ea typeface="Roboto" panose="02000000000000000000" pitchFamily="2" charset="0"/>
                <a:cs typeface="Calibri" panose="020F0502020204030204" pitchFamily="34" charset="0"/>
              </a:rPr>
              <a:t>GDP grew by an impressive 9.20% in FY’24 surpassing all expectations on the backdrop of robust economic demand buoyed by massive capex spend by GOI. Recovery in exports amid revival in global demand pushed GDP growth higher</a:t>
            </a:r>
          </a:p>
          <a:p>
            <a:pPr marL="171450" indent="-171450" algn="just">
              <a:buFont typeface="Wingdings" panose="05000000000000000000" pitchFamily="2" charset="2"/>
              <a:buChar char="§"/>
            </a:pPr>
            <a:r>
              <a:rPr lang="en-IN" sz="1400" b="1" dirty="0">
                <a:solidFill>
                  <a:srgbClr val="002060"/>
                </a:solidFill>
                <a:ea typeface="Roboto" panose="02000000000000000000" pitchFamily="2" charset="0"/>
                <a:cs typeface="Calibri" panose="020F0502020204030204" pitchFamily="34" charset="0"/>
              </a:rPr>
              <a:t>FY’25: </a:t>
            </a:r>
            <a:r>
              <a:rPr lang="en-US" sz="1400" dirty="0">
                <a:solidFill>
                  <a:srgbClr val="002060"/>
                </a:solidFill>
                <a:ea typeface="Roboto" panose="02000000000000000000" pitchFamily="2" charset="0"/>
                <a:cs typeface="Calibri" panose="020F0502020204030204" pitchFamily="34" charset="0"/>
              </a:rPr>
              <a:t>A slowdown in private consumption and lower government spending compared to the previous year weighed on GDP growth in the first half. However, a revival in government capital expenditure, recovery in rural demand, and moderation in inflation in the second half helped the economy post a moderate growth rate of 6.3% for FY’25.</a:t>
            </a:r>
            <a:endParaRPr lang="en-GB" sz="1400" dirty="0">
              <a:solidFill>
                <a:srgbClr val="002060"/>
              </a:solidFill>
              <a:ea typeface="Roboto" panose="02000000000000000000" pitchFamily="2" charset="0"/>
              <a:cs typeface="Calibri" panose="020F0502020204030204" pitchFamily="34" charset="0"/>
            </a:endParaRPr>
          </a:p>
          <a:p>
            <a:pPr marL="171450" indent="-171450" algn="just">
              <a:buFont typeface="Wingdings" panose="05000000000000000000" pitchFamily="2" charset="2"/>
              <a:buChar char="§"/>
            </a:pPr>
            <a:r>
              <a:rPr lang="en-GB" sz="1400" b="1" dirty="0">
                <a:solidFill>
                  <a:srgbClr val="002060"/>
                </a:solidFill>
                <a:ea typeface="Roboto" panose="02000000000000000000" pitchFamily="2" charset="0"/>
                <a:cs typeface="Calibri" panose="020F0502020204030204" pitchFamily="34" charset="0"/>
              </a:rPr>
              <a:t>FY’26 (E</a:t>
            </a:r>
            <a:r>
              <a:rPr lang="en-GB" sz="1400" b="1" dirty="0">
                <a:solidFill>
                  <a:srgbClr val="002060"/>
                </a:solidFill>
                <a:ea typeface="Roboto" panose="02000000000000000000" pitchFamily="2" charset="0"/>
                <a:cs typeface="Calibri" panose="020F0502020204030204" pitchFamily="34" charset="0"/>
                <a:sym typeface="Wingdings" panose="05000000000000000000" pitchFamily="2" charset="2"/>
              </a:rPr>
              <a:t>):</a:t>
            </a:r>
            <a:r>
              <a:rPr lang="en-GB" sz="1400" b="1" dirty="0">
                <a:solidFill>
                  <a:srgbClr val="002060"/>
                </a:solidFill>
                <a:ea typeface="Roboto" panose="02000000000000000000" pitchFamily="2" charset="0"/>
                <a:cs typeface="Calibri" panose="020F0502020204030204" pitchFamily="34" charset="0"/>
              </a:rPr>
              <a:t> </a:t>
            </a:r>
            <a:r>
              <a:rPr lang="en-US" sz="1400" dirty="0">
                <a:solidFill>
                  <a:srgbClr val="002060"/>
                </a:solidFill>
                <a:ea typeface="Roboto" panose="02000000000000000000" pitchFamily="2" charset="0"/>
                <a:cs typeface="Calibri" panose="020F0502020204030204" pitchFamily="34" charset="0"/>
              </a:rPr>
              <a:t>Economic prospects for FY’26 appear </a:t>
            </a:r>
            <a:r>
              <a:rPr lang="en-US" sz="1400" dirty="0" err="1">
                <a:solidFill>
                  <a:srgbClr val="002060"/>
                </a:solidFill>
                <a:ea typeface="Roboto" panose="02000000000000000000" pitchFamily="2" charset="0"/>
                <a:cs typeface="Calibri" panose="020F0502020204030204" pitchFamily="34" charset="0"/>
              </a:rPr>
              <a:t>favourable</a:t>
            </a:r>
            <a:r>
              <a:rPr lang="en-US" sz="1400" dirty="0">
                <a:solidFill>
                  <a:srgbClr val="002060"/>
                </a:solidFill>
                <a:ea typeface="Roboto" panose="02000000000000000000" pitchFamily="2" charset="0"/>
                <a:cs typeface="Calibri" panose="020F0502020204030204" pitchFamily="34" charset="0"/>
              </a:rPr>
              <a:t>, supported by a revival in capital expenditure, industrial recovery, expectations of an above-normal monsoon, and tax relief measures aimed at boosting household consumption. Nevertheless, risks remain from geopolitical tensions, rising protectionism, volatile commodity prices, and persistent financial market uncertainties.</a:t>
            </a:r>
            <a:endParaRPr lang="en-IN" sz="1400" dirty="0">
              <a:solidFill>
                <a:srgbClr val="002060"/>
              </a:solidFill>
              <a:ea typeface="Roboto" panose="02000000000000000000" pitchFamily="2" charset="0"/>
              <a:cs typeface="Calibri" panose="020F0502020204030204" pitchFamily="34" charset="0"/>
            </a:endParaRPr>
          </a:p>
        </p:txBody>
      </p:sp>
      <p:graphicFrame>
        <p:nvGraphicFramePr>
          <p:cNvPr id="2" name="Chart 1">
            <a:extLst>
              <a:ext uri="{FF2B5EF4-FFF2-40B4-BE49-F238E27FC236}">
                <a16:creationId xmlns:a16="http://schemas.microsoft.com/office/drawing/2014/main" id="{27583D68-41ED-7DBC-F9CC-11F4482CCA0D}"/>
              </a:ext>
            </a:extLst>
          </p:cNvPr>
          <p:cNvGraphicFramePr/>
          <p:nvPr/>
        </p:nvGraphicFramePr>
        <p:xfrm>
          <a:off x="180754" y="1213734"/>
          <a:ext cx="6545249" cy="5059737"/>
        </p:xfrm>
        <a:graphic>
          <a:graphicData uri="http://schemas.openxmlformats.org/drawingml/2006/chart">
            <c:chart xmlns:c="http://schemas.openxmlformats.org/drawingml/2006/chart" xmlns:r="http://schemas.openxmlformats.org/officeDocument/2006/relationships" r:id="rId8"/>
          </a:graphicData>
        </a:graphic>
      </p:graphicFrame>
      <p:sp>
        <p:nvSpPr>
          <p:cNvPr id="3" name="TextBox 2">
            <a:extLst>
              <a:ext uri="{FF2B5EF4-FFF2-40B4-BE49-F238E27FC236}">
                <a16:creationId xmlns:a16="http://schemas.microsoft.com/office/drawing/2014/main" id="{264FB94D-E6B2-443C-85DF-4BC5C808FD12}"/>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Bloomberg &amp; CA Investment Research</a:t>
            </a:r>
          </a:p>
        </p:txBody>
      </p:sp>
    </p:spTree>
    <p:extLst>
      <p:ext uri="{BB962C8B-B14F-4D97-AF65-F5344CB8AC3E}">
        <p14:creationId xmlns:p14="http://schemas.microsoft.com/office/powerpoint/2010/main" val="1118158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679F8DC7-F378-4198-8A9F-92C0EB862367}"/>
              </a:ext>
            </a:extLst>
          </p:cNvPr>
          <p:cNvPicPr>
            <a:picLocks noChangeAspect="1"/>
          </p:cNvPicPr>
          <p:nvPr/>
        </p:nvPicPr>
        <p:blipFill>
          <a:blip r:embed="rId2">
            <a:alphaModFix amt="4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08700E19-E610-42FB-AF6C-69B1BB100E4E}"/>
              </a:ext>
            </a:extLst>
          </p:cNvPr>
          <p:cNvPicPr>
            <a:picLocks noChangeAspect="1"/>
          </p:cNvPicPr>
          <p:nvPr/>
        </p:nvPicPr>
        <p:blipFill>
          <a:blip r:embed="rId4">
            <a:alphaModFix amt="2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68560" y="-243840"/>
            <a:ext cx="2367280" cy="2367280"/>
          </a:xfrm>
          <a:prstGeom prst="rect">
            <a:avLst/>
          </a:prstGeom>
        </p:spPr>
      </p:pic>
      <p:grpSp>
        <p:nvGrpSpPr>
          <p:cNvPr id="13" name="Group 12">
            <a:extLst>
              <a:ext uri="{FF2B5EF4-FFF2-40B4-BE49-F238E27FC236}">
                <a16:creationId xmlns:a16="http://schemas.microsoft.com/office/drawing/2014/main" id="{86ACE3CA-23EA-4837-97BE-D87EA58161B6}"/>
              </a:ext>
            </a:extLst>
          </p:cNvPr>
          <p:cNvGrpSpPr/>
          <p:nvPr/>
        </p:nvGrpSpPr>
        <p:grpSpPr>
          <a:xfrm>
            <a:off x="7045" y="205495"/>
            <a:ext cx="7584380" cy="546209"/>
            <a:chOff x="7048" y="420014"/>
            <a:chExt cx="4098470" cy="633058"/>
          </a:xfrm>
        </p:grpSpPr>
        <p:sp>
          <p:nvSpPr>
            <p:cNvPr id="14" name="TextBox 13">
              <a:extLst>
                <a:ext uri="{FF2B5EF4-FFF2-40B4-BE49-F238E27FC236}">
                  <a16:creationId xmlns:a16="http://schemas.microsoft.com/office/drawing/2014/main" id="{031086C6-6DFE-42FF-AC05-E5735FC70B9C}"/>
                </a:ext>
              </a:extLst>
            </p:cNvPr>
            <p:cNvSpPr txBox="1"/>
            <p:nvPr/>
          </p:nvSpPr>
          <p:spPr>
            <a:xfrm>
              <a:off x="11206" y="420014"/>
              <a:ext cx="4094312" cy="535071"/>
            </a:xfrm>
            <a:prstGeom prst="rect">
              <a:avLst/>
            </a:prstGeom>
            <a:noFill/>
          </p:spPr>
          <p:txBody>
            <a:bodyPr wrap="square" rtlCol="0">
              <a:spAutoFit/>
            </a:bodyPr>
            <a:lstStyle/>
            <a:p>
              <a:r>
                <a:rPr lang="en-US" sz="2400" dirty="0">
                  <a:solidFill>
                    <a:srgbClr val="084795"/>
                  </a:solidFill>
                  <a:latin typeface="Roboto" panose="02000000000000000000" pitchFamily="2" charset="0"/>
                  <a:ea typeface="Roboto" panose="02000000000000000000" pitchFamily="2" charset="0"/>
                </a:rPr>
                <a:t>Valuation Indicators (Adjusted Price to Earnings Ratio)</a:t>
              </a:r>
            </a:p>
          </p:txBody>
        </p:sp>
        <p:cxnSp>
          <p:nvCxnSpPr>
            <p:cNvPr id="15" name="Straight Connector 14">
              <a:extLst>
                <a:ext uri="{FF2B5EF4-FFF2-40B4-BE49-F238E27FC236}">
                  <a16:creationId xmlns:a16="http://schemas.microsoft.com/office/drawing/2014/main" id="{49733806-21EE-4AAC-B1E7-135D03D22E0B}"/>
                </a:ext>
              </a:extLst>
            </p:cNvPr>
            <p:cNvCxnSpPr>
              <a:cxnSpLocks/>
            </p:cNvCxnSpPr>
            <p:nvPr/>
          </p:nvCxnSpPr>
          <p:spPr>
            <a:xfrm flipV="1">
              <a:off x="7048" y="1053071"/>
              <a:ext cx="3866371" cy="1"/>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A33BF976-097A-4D7E-8C94-F0E65554861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graphicFrame>
        <p:nvGraphicFramePr>
          <p:cNvPr id="3" name="Table 2">
            <a:extLst>
              <a:ext uri="{FF2B5EF4-FFF2-40B4-BE49-F238E27FC236}">
                <a16:creationId xmlns:a16="http://schemas.microsoft.com/office/drawing/2014/main" id="{D1691A26-91F2-459A-A96A-E5759BA1CC1F}"/>
              </a:ext>
            </a:extLst>
          </p:cNvPr>
          <p:cNvGraphicFramePr>
            <a:graphicFrameLocks noGrp="1"/>
          </p:cNvGraphicFramePr>
          <p:nvPr/>
        </p:nvGraphicFramePr>
        <p:xfrm>
          <a:off x="308344" y="1212783"/>
          <a:ext cx="10334848" cy="5197644"/>
        </p:xfrm>
        <a:graphic>
          <a:graphicData uri="http://schemas.openxmlformats.org/drawingml/2006/table">
            <a:tbl>
              <a:tblPr/>
              <a:tblGrid>
                <a:gridCol w="2653338">
                  <a:extLst>
                    <a:ext uri="{9D8B030D-6E8A-4147-A177-3AD203B41FA5}">
                      <a16:colId xmlns:a16="http://schemas.microsoft.com/office/drawing/2014/main" val="2234385329"/>
                    </a:ext>
                  </a:extLst>
                </a:gridCol>
                <a:gridCol w="1855122">
                  <a:extLst>
                    <a:ext uri="{9D8B030D-6E8A-4147-A177-3AD203B41FA5}">
                      <a16:colId xmlns:a16="http://schemas.microsoft.com/office/drawing/2014/main" val="2519507674"/>
                    </a:ext>
                  </a:extLst>
                </a:gridCol>
                <a:gridCol w="1808510">
                  <a:extLst>
                    <a:ext uri="{9D8B030D-6E8A-4147-A177-3AD203B41FA5}">
                      <a16:colId xmlns:a16="http://schemas.microsoft.com/office/drawing/2014/main" val="1605077741"/>
                    </a:ext>
                  </a:extLst>
                </a:gridCol>
                <a:gridCol w="1771223">
                  <a:extLst>
                    <a:ext uri="{9D8B030D-6E8A-4147-A177-3AD203B41FA5}">
                      <a16:colId xmlns:a16="http://schemas.microsoft.com/office/drawing/2014/main" val="2365900007"/>
                    </a:ext>
                  </a:extLst>
                </a:gridCol>
                <a:gridCol w="2246655">
                  <a:extLst>
                    <a:ext uri="{9D8B030D-6E8A-4147-A177-3AD203B41FA5}">
                      <a16:colId xmlns:a16="http://schemas.microsoft.com/office/drawing/2014/main" val="1189119734"/>
                    </a:ext>
                  </a:extLst>
                </a:gridCol>
              </a:tblGrid>
              <a:tr h="86627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60" b="1" i="0" u="none" strike="noStrike" dirty="0">
                          <a:solidFill>
                            <a:schemeClr val="bg1"/>
                          </a:solidFill>
                          <a:effectLst/>
                          <a:latin typeface="+mn-lt"/>
                        </a:rPr>
                        <a:t>PE Data – </a:t>
                      </a:r>
                      <a:r>
                        <a:rPr lang="en-US" sz="1260" b="1" i="0" u="none" strike="noStrike" dirty="0">
                          <a:solidFill>
                            <a:schemeClr val="bg1"/>
                          </a:solidFill>
                          <a:effectLst/>
                          <a:latin typeface="+mn-lt"/>
                          <a:ea typeface="Roboto" panose="02000000000000000000" pitchFamily="2" charset="0"/>
                        </a:rPr>
                        <a:t>31</a:t>
                      </a:r>
                      <a:r>
                        <a:rPr lang="en-US" sz="1260" b="1" i="0" u="none" strike="noStrike" baseline="30000" dirty="0">
                          <a:solidFill>
                            <a:schemeClr val="bg1"/>
                          </a:solidFill>
                          <a:effectLst/>
                          <a:latin typeface="+mn-lt"/>
                          <a:ea typeface="Roboto" panose="02000000000000000000" pitchFamily="2" charset="0"/>
                        </a:rPr>
                        <a:t>st </a:t>
                      </a:r>
                      <a:r>
                        <a:rPr lang="en-US" sz="1260" b="1" i="0" u="none" strike="noStrike" dirty="0">
                          <a:solidFill>
                            <a:schemeClr val="bg1"/>
                          </a:solidFill>
                          <a:effectLst/>
                          <a:latin typeface="+mn-lt"/>
                          <a:ea typeface="Roboto" panose="02000000000000000000" pitchFamily="2" charset="0"/>
                        </a:rPr>
                        <a:t>May’25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1260" b="1" i="0" u="none" strike="noStrike" dirty="0">
                          <a:solidFill>
                            <a:schemeClr val="bg1"/>
                          </a:solidFill>
                          <a:effectLst/>
                          <a:latin typeface="+mn-lt"/>
                        </a:rPr>
                        <a:t>Current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1260" b="1" i="0" u="none" strike="noStrike" dirty="0">
                          <a:solidFill>
                            <a:schemeClr val="bg1"/>
                          </a:solidFill>
                          <a:effectLst/>
                          <a:latin typeface="+mn-lt"/>
                        </a:rPr>
                        <a:t>3 Yr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1260" b="1" i="0" u="none" strike="noStrike" dirty="0">
                          <a:solidFill>
                            <a:schemeClr val="bg1"/>
                          </a:solidFill>
                          <a:effectLst/>
                          <a:latin typeface="+mn-lt"/>
                        </a:rPr>
                        <a:t>5 Yr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1260" b="1" i="0" u="none" strike="noStrike" dirty="0">
                          <a:solidFill>
                            <a:schemeClr val="bg1"/>
                          </a:solidFill>
                          <a:effectLst/>
                          <a:latin typeface="+mn-lt"/>
                        </a:rPr>
                        <a:t>Current Vs 5 Yr Avg</a:t>
                      </a:r>
                    </a:p>
                    <a:p>
                      <a:pPr algn="ctr" fontAlgn="ctr"/>
                      <a:r>
                        <a:rPr lang="en-US" sz="1260" b="1" i="0" u="none" strike="noStrike" dirty="0">
                          <a:solidFill>
                            <a:schemeClr val="bg1"/>
                          </a:solidFill>
                          <a:effectLst/>
                          <a:latin typeface="+mn-lt"/>
                        </a:rPr>
                        <a:t>Premium / (Discount)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2955804800"/>
                  </a:ext>
                </a:extLst>
              </a:tr>
              <a:tr h="866274">
                <a:tc>
                  <a:txBody>
                    <a:bodyPr/>
                    <a:lstStyle/>
                    <a:p>
                      <a:pPr algn="ctr" fontAlgn="ctr"/>
                      <a:r>
                        <a:rPr lang="en-US" sz="1260" b="1" i="0" u="none" strike="noStrike" dirty="0">
                          <a:solidFill>
                            <a:schemeClr val="bg1"/>
                          </a:solidFill>
                          <a:effectLst/>
                          <a:latin typeface="+mn-lt"/>
                        </a:rPr>
                        <a:t>Sensex</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B6A9"/>
                    </a:solidFill>
                  </a:tcPr>
                </a:tc>
                <a:tc>
                  <a:txBody>
                    <a:bodyPr/>
                    <a:lstStyle/>
                    <a:p>
                      <a:pPr algn="ctr" fontAlgn="ctr"/>
                      <a:r>
                        <a:rPr lang="en-GB" sz="1250" b="0" i="0" u="none" strike="noStrike">
                          <a:solidFill>
                            <a:srgbClr val="000000"/>
                          </a:solidFill>
                          <a:effectLst/>
                          <a:latin typeface="Calibri" panose="020F0502020204030204" pitchFamily="34" charset="0"/>
                        </a:rPr>
                        <a:t>22.2x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GB" sz="1250" b="0" i="0" u="none" strike="noStrike">
                          <a:solidFill>
                            <a:srgbClr val="000000"/>
                          </a:solidFill>
                          <a:effectLst/>
                          <a:latin typeface="Calibri" panose="020F0502020204030204" pitchFamily="34" charset="0"/>
                        </a:rPr>
                        <a:t>22.7x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24.2x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-8.27%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51190983"/>
                  </a:ext>
                </a:extLst>
              </a:tr>
              <a:tr h="866274">
                <a:tc>
                  <a:txBody>
                    <a:bodyPr/>
                    <a:lstStyle/>
                    <a:p>
                      <a:pPr algn="ctr" fontAlgn="ctr"/>
                      <a:r>
                        <a:rPr lang="en-US" sz="1260" b="1" i="0" u="none" strike="noStrike" dirty="0">
                          <a:solidFill>
                            <a:schemeClr val="bg1"/>
                          </a:solidFill>
                          <a:effectLst/>
                          <a:latin typeface="+mn-lt"/>
                        </a:rPr>
                        <a:t>Nifty 50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B6A9"/>
                    </a:solidFill>
                  </a:tcPr>
                </a:tc>
                <a:tc>
                  <a:txBody>
                    <a:bodyPr/>
                    <a:lstStyle/>
                    <a:p>
                      <a:pPr algn="ctr" fontAlgn="ctr"/>
                      <a:r>
                        <a:rPr lang="en-GB" sz="1250" b="0" i="0" u="none" strike="noStrike" dirty="0">
                          <a:solidFill>
                            <a:srgbClr val="000000"/>
                          </a:solidFill>
                          <a:effectLst/>
                          <a:latin typeface="Calibri" panose="020F0502020204030204" pitchFamily="34" charset="0"/>
                        </a:rPr>
                        <a:t>22.3x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GB" sz="1250" b="0" i="0" u="none" strike="noStrike">
                          <a:solidFill>
                            <a:srgbClr val="000000"/>
                          </a:solidFill>
                          <a:effectLst/>
                          <a:latin typeface="Calibri" panose="020F0502020204030204" pitchFamily="34" charset="0"/>
                        </a:rPr>
                        <a:t>21.6x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22.9x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05174346"/>
                  </a:ext>
                </a:extLst>
              </a:tr>
              <a:tr h="866274">
                <a:tc>
                  <a:txBody>
                    <a:bodyPr/>
                    <a:lstStyle/>
                    <a:p>
                      <a:pPr algn="ctr" fontAlgn="ctr"/>
                      <a:r>
                        <a:rPr lang="en-US" sz="1260" b="1" i="0" u="none" strike="noStrike" dirty="0">
                          <a:solidFill>
                            <a:schemeClr val="bg1"/>
                          </a:solidFill>
                          <a:effectLst/>
                          <a:latin typeface="+mn-lt"/>
                        </a:rPr>
                        <a:t>BSE 500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B6A9"/>
                    </a:solidFill>
                  </a:tcPr>
                </a:tc>
                <a:tc>
                  <a:txBody>
                    <a:bodyPr/>
                    <a:lstStyle/>
                    <a:p>
                      <a:pPr algn="ctr" fontAlgn="ctr"/>
                      <a:r>
                        <a:rPr lang="en-GB" sz="1250" b="0" i="0" u="none" strike="noStrike">
                          <a:solidFill>
                            <a:srgbClr val="000000"/>
                          </a:solidFill>
                          <a:effectLst/>
                          <a:latin typeface="Calibri" panose="020F0502020204030204" pitchFamily="34" charset="0"/>
                        </a:rPr>
                        <a:t>23.7x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GB" sz="1250" b="0" i="0" u="none" strike="noStrike">
                          <a:solidFill>
                            <a:srgbClr val="000000"/>
                          </a:solidFill>
                          <a:effectLst/>
                          <a:latin typeface="Calibri" panose="020F0502020204030204" pitchFamily="34" charset="0"/>
                        </a:rPr>
                        <a:t>23.2x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24.1x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-1.78%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22743873"/>
                  </a:ext>
                </a:extLst>
              </a:tr>
              <a:tr h="866274">
                <a:tc>
                  <a:txBody>
                    <a:bodyPr/>
                    <a:lstStyle/>
                    <a:p>
                      <a:pPr algn="ctr" fontAlgn="ctr"/>
                      <a:r>
                        <a:rPr lang="en-US" sz="1260" b="1" i="0" u="none" strike="noStrike" dirty="0">
                          <a:solidFill>
                            <a:schemeClr val="bg1"/>
                          </a:solidFill>
                          <a:effectLst/>
                          <a:latin typeface="+mn-lt"/>
                        </a:rPr>
                        <a:t>BSE Mid Cap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B6A9"/>
                    </a:solidFill>
                  </a:tcPr>
                </a:tc>
                <a:tc>
                  <a:txBody>
                    <a:bodyPr/>
                    <a:lstStyle/>
                    <a:p>
                      <a:pPr algn="ctr" fontAlgn="ctr"/>
                      <a:r>
                        <a:rPr lang="en-GB" sz="1250" b="0" i="0" u="none" strike="noStrike">
                          <a:solidFill>
                            <a:srgbClr val="000000"/>
                          </a:solidFill>
                          <a:effectLst/>
                          <a:latin typeface="Calibri" panose="020F0502020204030204" pitchFamily="34" charset="0"/>
                        </a:rPr>
                        <a:t>32.9x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r>
                        <a:rPr lang="en-GB" sz="1250" b="0" i="0" u="none" strike="noStrike">
                          <a:solidFill>
                            <a:srgbClr val="000000"/>
                          </a:solidFill>
                          <a:effectLst/>
                          <a:latin typeface="Calibri" panose="020F0502020204030204" pitchFamily="34" charset="0"/>
                        </a:rPr>
                        <a:t>26.4x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26.7x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23.07%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22729484"/>
                  </a:ext>
                </a:extLst>
              </a:tr>
              <a:tr h="866274">
                <a:tc>
                  <a:txBody>
                    <a:bodyPr/>
                    <a:lstStyle/>
                    <a:p>
                      <a:pPr algn="ctr" fontAlgn="ctr"/>
                      <a:r>
                        <a:rPr lang="en-US" sz="1260" b="1" i="0" u="none" strike="noStrike" dirty="0">
                          <a:solidFill>
                            <a:schemeClr val="bg1"/>
                          </a:solidFill>
                          <a:effectLst/>
                          <a:latin typeface="+mn-lt"/>
                        </a:rPr>
                        <a:t>BSE Small Cap</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6B6A9"/>
                    </a:solidFill>
                  </a:tcPr>
                </a:tc>
                <a:tc>
                  <a:txBody>
                    <a:bodyPr/>
                    <a:lstStyle/>
                    <a:p>
                      <a:pPr algn="ctr" fontAlgn="ctr"/>
                      <a:r>
                        <a:rPr lang="en-GB" sz="1250" b="0" i="0" u="none" strike="noStrike">
                          <a:solidFill>
                            <a:srgbClr val="000000"/>
                          </a:solidFill>
                          <a:effectLst/>
                          <a:latin typeface="Calibri" panose="020F0502020204030204" pitchFamily="34" charset="0"/>
                        </a:rPr>
                        <a:t>25.4x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r>
                        <a:rPr lang="en-GB" sz="1250" b="0" i="0" u="none" strike="noStrike">
                          <a:solidFill>
                            <a:srgbClr val="000000"/>
                          </a:solidFill>
                          <a:effectLst/>
                          <a:latin typeface="Calibri" panose="020F0502020204030204" pitchFamily="34" charset="0"/>
                        </a:rPr>
                        <a:t>25.0x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a:solidFill>
                            <a:srgbClr val="000000"/>
                          </a:solidFill>
                          <a:effectLst/>
                          <a:latin typeface="Calibri" panose="020F0502020204030204" pitchFamily="34" charset="0"/>
                        </a:rPr>
                        <a:t>24.2x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1250" b="0" i="0" u="none" strike="noStrike" dirty="0">
                          <a:solidFill>
                            <a:srgbClr val="000000"/>
                          </a:solidFill>
                          <a:effectLst/>
                          <a:latin typeface="Calibri" panose="020F0502020204030204" pitchFamily="34" charset="0"/>
                        </a:rPr>
                        <a:t>5.10%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930401355"/>
                  </a:ext>
                </a:extLst>
              </a:tr>
            </a:tbl>
          </a:graphicData>
        </a:graphic>
      </p:graphicFrame>
      <p:sp>
        <p:nvSpPr>
          <p:cNvPr id="2" name="TextBox 1">
            <a:extLst>
              <a:ext uri="{FF2B5EF4-FFF2-40B4-BE49-F238E27FC236}">
                <a16:creationId xmlns:a16="http://schemas.microsoft.com/office/drawing/2014/main" id="{CEEA1E6D-539A-D4DF-8D07-47BE6B287C30}"/>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Bloomberg &amp; CA Investment Research</a:t>
            </a:r>
          </a:p>
        </p:txBody>
      </p:sp>
    </p:spTree>
    <p:extLst>
      <p:ext uri="{BB962C8B-B14F-4D97-AF65-F5344CB8AC3E}">
        <p14:creationId xmlns:p14="http://schemas.microsoft.com/office/powerpoint/2010/main" val="14159589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5DEA0-3F2A-06E1-DE9E-A86FB2C6F8E0}"/>
            </a:ext>
          </a:extLst>
        </p:cNvPr>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FC81FD61-F852-BA97-D5FC-65576F7DE3D2}"/>
              </a:ext>
            </a:extLst>
          </p:cNvPr>
          <p:cNvPicPr>
            <a:picLocks noChangeAspect="1"/>
          </p:cNvPicPr>
          <p:nvPr/>
        </p:nvPicPr>
        <p:blipFill>
          <a:blip r:embed="rId2">
            <a:alphaModFix amt="4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031CA378-13ED-5927-68E1-013565B8EFC4}"/>
              </a:ext>
            </a:extLst>
          </p:cNvPr>
          <p:cNvPicPr>
            <a:picLocks noChangeAspect="1"/>
          </p:cNvPicPr>
          <p:nvPr/>
        </p:nvPicPr>
        <p:blipFill>
          <a:blip r:embed="rId4">
            <a:alphaModFix amt="2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68560" y="-243840"/>
            <a:ext cx="2367280" cy="2367280"/>
          </a:xfrm>
          <a:prstGeom prst="rect">
            <a:avLst/>
          </a:prstGeom>
        </p:spPr>
      </p:pic>
      <p:grpSp>
        <p:nvGrpSpPr>
          <p:cNvPr id="13" name="Group 12">
            <a:extLst>
              <a:ext uri="{FF2B5EF4-FFF2-40B4-BE49-F238E27FC236}">
                <a16:creationId xmlns:a16="http://schemas.microsoft.com/office/drawing/2014/main" id="{2305564B-DAB5-E291-04F9-1AFBD8D7CA8E}"/>
              </a:ext>
            </a:extLst>
          </p:cNvPr>
          <p:cNvGrpSpPr/>
          <p:nvPr/>
        </p:nvGrpSpPr>
        <p:grpSpPr>
          <a:xfrm>
            <a:off x="7045" y="243046"/>
            <a:ext cx="10018648" cy="815354"/>
            <a:chOff x="7048" y="447971"/>
            <a:chExt cx="3165605" cy="981925"/>
          </a:xfrm>
        </p:grpSpPr>
        <p:sp>
          <p:nvSpPr>
            <p:cNvPr id="14" name="TextBox 13">
              <a:extLst>
                <a:ext uri="{FF2B5EF4-FFF2-40B4-BE49-F238E27FC236}">
                  <a16:creationId xmlns:a16="http://schemas.microsoft.com/office/drawing/2014/main" id="{1370ECC7-2B89-4039-95A2-88D1435B69E4}"/>
                </a:ext>
              </a:extLst>
            </p:cNvPr>
            <p:cNvSpPr txBox="1"/>
            <p:nvPr/>
          </p:nvSpPr>
          <p:spPr>
            <a:xfrm>
              <a:off x="94169" y="447971"/>
              <a:ext cx="3078484" cy="889568"/>
            </a:xfrm>
            <a:prstGeom prst="rect">
              <a:avLst/>
            </a:prstGeom>
            <a:noFill/>
          </p:spPr>
          <p:txBody>
            <a:bodyPr wrap="square" rtlCol="0">
              <a:spAutoFit/>
            </a:bodyPr>
            <a:lstStyle/>
            <a:p>
              <a:r>
                <a:rPr lang="en-US" sz="2100" dirty="0">
                  <a:solidFill>
                    <a:srgbClr val="084795"/>
                  </a:solidFill>
                  <a:ea typeface="Roboto" panose="02000000000000000000" pitchFamily="2" charset="0"/>
                </a:rPr>
                <a:t>Sensex Earnings Expected to Grow 12.9% in FY’26 on Capex Revival, Benign Inflation, and Renewed Consumption</a:t>
              </a:r>
            </a:p>
          </p:txBody>
        </p:sp>
        <p:cxnSp>
          <p:nvCxnSpPr>
            <p:cNvPr id="15" name="Straight Connector 14">
              <a:extLst>
                <a:ext uri="{FF2B5EF4-FFF2-40B4-BE49-F238E27FC236}">
                  <a16:creationId xmlns:a16="http://schemas.microsoft.com/office/drawing/2014/main" id="{3437C0FC-F7F8-4C3E-78A2-35E9BCD04F5C}"/>
                </a:ext>
              </a:extLst>
            </p:cNvPr>
            <p:cNvCxnSpPr>
              <a:cxnSpLocks/>
            </p:cNvCxnSpPr>
            <p:nvPr/>
          </p:nvCxnSpPr>
          <p:spPr>
            <a:xfrm flipV="1">
              <a:off x="7048" y="1429895"/>
              <a:ext cx="3005603" cy="1"/>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5272255E-6AAB-50F8-FF5C-1AE8D7B3875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sp>
        <p:nvSpPr>
          <p:cNvPr id="3" name="TextBox 2">
            <a:extLst>
              <a:ext uri="{FF2B5EF4-FFF2-40B4-BE49-F238E27FC236}">
                <a16:creationId xmlns:a16="http://schemas.microsoft.com/office/drawing/2014/main" id="{FCB4BA73-AB11-EF71-8297-7E2220CA0C86}"/>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Bloomberg &amp; CA Investment Research</a:t>
            </a:r>
          </a:p>
        </p:txBody>
      </p:sp>
      <p:graphicFrame>
        <p:nvGraphicFramePr>
          <p:cNvPr id="16" name="Chart 15">
            <a:extLst>
              <a:ext uri="{FF2B5EF4-FFF2-40B4-BE49-F238E27FC236}">
                <a16:creationId xmlns:a16="http://schemas.microsoft.com/office/drawing/2014/main" id="{1F1190D5-44BE-70B1-A1AA-AD7F2E11F1CF}"/>
              </a:ext>
            </a:extLst>
          </p:cNvPr>
          <p:cNvGraphicFramePr/>
          <p:nvPr/>
        </p:nvGraphicFramePr>
        <p:xfrm>
          <a:off x="355616" y="1193113"/>
          <a:ext cx="9742924" cy="5230836"/>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738448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3EEA1-C41E-5EE8-CB4F-0EA18FC68789}"/>
            </a:ext>
          </a:extLst>
        </p:cNvPr>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C2F453E3-4DCA-E8B5-7751-AAD1ED8DE000}"/>
              </a:ext>
            </a:extLst>
          </p:cNvPr>
          <p:cNvPicPr>
            <a:picLocks noChangeAspect="1"/>
          </p:cNvPicPr>
          <p:nvPr/>
        </p:nvPicPr>
        <p:blipFill>
          <a:blip r:embed="rId2">
            <a:alphaModFix amt="4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9206EFED-A6E4-9D10-23A2-C461DFE22407}"/>
              </a:ext>
            </a:extLst>
          </p:cNvPr>
          <p:cNvPicPr>
            <a:picLocks noChangeAspect="1"/>
          </p:cNvPicPr>
          <p:nvPr/>
        </p:nvPicPr>
        <p:blipFill>
          <a:blip r:embed="rId4">
            <a:alphaModFix amt="2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68560" y="-243840"/>
            <a:ext cx="2367280" cy="2367280"/>
          </a:xfrm>
          <a:prstGeom prst="rect">
            <a:avLst/>
          </a:prstGeom>
        </p:spPr>
      </p:pic>
      <p:grpSp>
        <p:nvGrpSpPr>
          <p:cNvPr id="13" name="Group 12">
            <a:extLst>
              <a:ext uri="{FF2B5EF4-FFF2-40B4-BE49-F238E27FC236}">
                <a16:creationId xmlns:a16="http://schemas.microsoft.com/office/drawing/2014/main" id="{3B37D977-5249-37EE-DF5D-06398E9AA952}"/>
              </a:ext>
            </a:extLst>
          </p:cNvPr>
          <p:cNvGrpSpPr/>
          <p:nvPr/>
        </p:nvGrpSpPr>
        <p:grpSpPr>
          <a:xfrm>
            <a:off x="7045" y="243046"/>
            <a:ext cx="10018648" cy="1061829"/>
            <a:chOff x="7048" y="447971"/>
            <a:chExt cx="3165605" cy="1278753"/>
          </a:xfrm>
        </p:grpSpPr>
        <p:sp>
          <p:nvSpPr>
            <p:cNvPr id="14" name="TextBox 13">
              <a:extLst>
                <a:ext uri="{FF2B5EF4-FFF2-40B4-BE49-F238E27FC236}">
                  <a16:creationId xmlns:a16="http://schemas.microsoft.com/office/drawing/2014/main" id="{30703D57-A2C5-E804-DB8F-4111E0F67B54}"/>
                </a:ext>
              </a:extLst>
            </p:cNvPr>
            <p:cNvSpPr txBox="1"/>
            <p:nvPr/>
          </p:nvSpPr>
          <p:spPr>
            <a:xfrm>
              <a:off x="94169" y="447971"/>
              <a:ext cx="3078484" cy="1278753"/>
            </a:xfrm>
            <a:prstGeom prst="rect">
              <a:avLst/>
            </a:prstGeom>
            <a:noFill/>
          </p:spPr>
          <p:txBody>
            <a:bodyPr wrap="square" rtlCol="0">
              <a:spAutoFit/>
            </a:bodyPr>
            <a:lstStyle/>
            <a:p>
              <a:r>
                <a:rPr lang="en-US" sz="2100" dirty="0">
                  <a:solidFill>
                    <a:srgbClr val="084795"/>
                  </a:solidFill>
                  <a:ea typeface="Roboto" panose="02000000000000000000" pitchFamily="2" charset="0"/>
                </a:rPr>
                <a:t>In FY’25, BSE 500 reported earnings growth of 7.1% due to moderate capex and subdued consumption</a:t>
              </a:r>
            </a:p>
            <a:p>
              <a:endParaRPr lang="en-US" sz="2100" dirty="0">
                <a:solidFill>
                  <a:srgbClr val="084795"/>
                </a:solidFill>
                <a:ea typeface="Roboto" panose="02000000000000000000" pitchFamily="2" charset="0"/>
              </a:endParaRPr>
            </a:p>
          </p:txBody>
        </p:sp>
        <p:cxnSp>
          <p:nvCxnSpPr>
            <p:cNvPr id="15" name="Straight Connector 14">
              <a:extLst>
                <a:ext uri="{FF2B5EF4-FFF2-40B4-BE49-F238E27FC236}">
                  <a16:creationId xmlns:a16="http://schemas.microsoft.com/office/drawing/2014/main" id="{13CBFA16-8B7A-3587-76DF-956B157B1BB6}"/>
                </a:ext>
              </a:extLst>
            </p:cNvPr>
            <p:cNvCxnSpPr>
              <a:cxnSpLocks/>
            </p:cNvCxnSpPr>
            <p:nvPr/>
          </p:nvCxnSpPr>
          <p:spPr>
            <a:xfrm flipV="1">
              <a:off x="7048" y="1429895"/>
              <a:ext cx="3005603" cy="1"/>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43BE331F-FC5C-A9A8-CF6B-88209A0994E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sp>
        <p:nvSpPr>
          <p:cNvPr id="3" name="TextBox 2">
            <a:extLst>
              <a:ext uri="{FF2B5EF4-FFF2-40B4-BE49-F238E27FC236}">
                <a16:creationId xmlns:a16="http://schemas.microsoft.com/office/drawing/2014/main" id="{8339B1D1-8A28-AE56-9633-A60FA85CAA18}"/>
              </a:ext>
            </a:extLst>
          </p:cNvPr>
          <p:cNvSpPr txBox="1"/>
          <p:nvPr/>
        </p:nvSpPr>
        <p:spPr>
          <a:xfrm>
            <a:off x="41200" y="6611779"/>
            <a:ext cx="2952410"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Bloomberg &amp; CA Investment Research</a:t>
            </a:r>
          </a:p>
        </p:txBody>
      </p:sp>
      <p:graphicFrame>
        <p:nvGraphicFramePr>
          <p:cNvPr id="16" name="Chart 15">
            <a:extLst>
              <a:ext uri="{FF2B5EF4-FFF2-40B4-BE49-F238E27FC236}">
                <a16:creationId xmlns:a16="http://schemas.microsoft.com/office/drawing/2014/main" id="{E44EFB16-5A15-BB7B-F58F-B0A16112AB78}"/>
              </a:ext>
            </a:extLst>
          </p:cNvPr>
          <p:cNvGraphicFramePr/>
          <p:nvPr/>
        </p:nvGraphicFramePr>
        <p:xfrm>
          <a:off x="355616" y="1193113"/>
          <a:ext cx="9742924" cy="5230836"/>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4359234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DA4F-3210-A0B5-47F3-D8A1CC12886D}"/>
            </a:ext>
          </a:extLst>
        </p:cNvPr>
        <p:cNvGrpSpPr/>
        <p:nvPr/>
      </p:nvGrpSpPr>
      <p:grpSpPr>
        <a:xfrm>
          <a:off x="0" y="0"/>
          <a:ext cx="0" cy="0"/>
          <a:chOff x="0" y="0"/>
          <a:chExt cx="0" cy="0"/>
        </a:xfrm>
      </p:grpSpPr>
      <p:pic>
        <p:nvPicPr>
          <p:cNvPr id="7" name="Graphic 6" descr="Downward trend graph with solid fill">
            <a:extLst>
              <a:ext uri="{FF2B5EF4-FFF2-40B4-BE49-F238E27FC236}">
                <a16:creationId xmlns:a16="http://schemas.microsoft.com/office/drawing/2014/main" id="{E96362F1-0863-38FF-0BCD-0507FF4756F9}"/>
              </a:ext>
            </a:extLst>
          </p:cNvPr>
          <p:cNvPicPr>
            <a:picLocks noChangeAspect="1"/>
          </p:cNvPicPr>
          <p:nvPr/>
        </p:nvPicPr>
        <p:blipFill>
          <a:blip r:embed="rId2">
            <a:alphaModFix amt="2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68560" y="-243840"/>
            <a:ext cx="2367280" cy="2367280"/>
          </a:xfrm>
          <a:prstGeom prst="rect">
            <a:avLst/>
          </a:prstGeom>
        </p:spPr>
      </p:pic>
      <p:pic>
        <p:nvPicPr>
          <p:cNvPr id="11" name="Graphic 10" descr="Presentation with bar chart with solid fill">
            <a:extLst>
              <a:ext uri="{FF2B5EF4-FFF2-40B4-BE49-F238E27FC236}">
                <a16:creationId xmlns:a16="http://schemas.microsoft.com/office/drawing/2014/main" id="{AE958099-9087-E045-E5F1-C3B47C13194E}"/>
              </a:ext>
            </a:extLst>
          </p:cNvPr>
          <p:cNvPicPr>
            <a:picLocks noChangeAspect="1"/>
          </p:cNvPicPr>
          <p:nvPr/>
        </p:nvPicPr>
        <p:blipFill>
          <a:blip r:embed="rId4">
            <a:alphaModFix amt="2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200" y="4734560"/>
            <a:ext cx="2123440" cy="2123440"/>
          </a:xfrm>
          <a:prstGeom prst="rect">
            <a:avLst/>
          </a:prstGeom>
        </p:spPr>
      </p:pic>
      <p:sp>
        <p:nvSpPr>
          <p:cNvPr id="14" name="TextBox 13">
            <a:extLst>
              <a:ext uri="{FF2B5EF4-FFF2-40B4-BE49-F238E27FC236}">
                <a16:creationId xmlns:a16="http://schemas.microsoft.com/office/drawing/2014/main" id="{604468EB-5502-9CFE-48D4-3B028590741F}"/>
              </a:ext>
            </a:extLst>
          </p:cNvPr>
          <p:cNvSpPr txBox="1"/>
          <p:nvPr/>
        </p:nvSpPr>
        <p:spPr>
          <a:xfrm>
            <a:off x="13223" y="144535"/>
            <a:ext cx="8701009" cy="461665"/>
          </a:xfrm>
          <a:prstGeom prst="rect">
            <a:avLst/>
          </a:prstGeom>
          <a:noFill/>
        </p:spPr>
        <p:txBody>
          <a:bodyPr wrap="square" rtlCol="0">
            <a:spAutoFit/>
          </a:bodyPr>
          <a:lstStyle/>
          <a:p>
            <a:r>
              <a:rPr lang="en-US" sz="2400" dirty="0">
                <a:solidFill>
                  <a:srgbClr val="084795"/>
                </a:solidFill>
                <a:latin typeface="Roboto" panose="02000000000000000000" pitchFamily="2" charset="0"/>
                <a:ea typeface="Roboto" panose="02000000000000000000" pitchFamily="2" charset="0"/>
              </a:rPr>
              <a:t>Key data - GDP Growth  Q4 &amp; FY25</a:t>
            </a:r>
          </a:p>
        </p:txBody>
      </p:sp>
      <p:cxnSp>
        <p:nvCxnSpPr>
          <p:cNvPr id="15" name="Straight Connector 14">
            <a:extLst>
              <a:ext uri="{FF2B5EF4-FFF2-40B4-BE49-F238E27FC236}">
                <a16:creationId xmlns:a16="http://schemas.microsoft.com/office/drawing/2014/main" id="{EB8C2228-EC29-F3BD-0087-48EB0D585105}"/>
              </a:ext>
            </a:extLst>
          </p:cNvPr>
          <p:cNvCxnSpPr>
            <a:cxnSpLocks/>
          </p:cNvCxnSpPr>
          <p:nvPr/>
        </p:nvCxnSpPr>
        <p:spPr>
          <a:xfrm>
            <a:off x="7046" y="690743"/>
            <a:ext cx="8114489" cy="0"/>
          </a:xfrm>
          <a:prstGeom prst="line">
            <a:avLst/>
          </a:prstGeom>
          <a:ln w="44450"/>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0B42204E-863B-40B3-4C3C-6EC0B8674F6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sp>
        <p:nvSpPr>
          <p:cNvPr id="3" name="object 10">
            <a:extLst>
              <a:ext uri="{FF2B5EF4-FFF2-40B4-BE49-F238E27FC236}">
                <a16:creationId xmlns:a16="http://schemas.microsoft.com/office/drawing/2014/main" id="{A75D4CF9-A8DD-759E-D7E8-22DF17BC15BB}"/>
              </a:ext>
            </a:extLst>
          </p:cNvPr>
          <p:cNvSpPr/>
          <p:nvPr/>
        </p:nvSpPr>
        <p:spPr>
          <a:xfrm rot="5400000" flipH="1">
            <a:off x="5946500" y="-1716799"/>
            <a:ext cx="107223" cy="11672544"/>
          </a:xfrm>
          <a:custGeom>
            <a:avLst/>
            <a:gdLst/>
            <a:ahLst/>
            <a:cxnLst/>
            <a:rect l="l" t="t" r="r" b="b"/>
            <a:pathLst>
              <a:path h="5727700">
                <a:moveTo>
                  <a:pt x="0" y="0"/>
                </a:moveTo>
                <a:lnTo>
                  <a:pt x="0" y="5727700"/>
                </a:lnTo>
              </a:path>
            </a:pathLst>
          </a:custGeom>
          <a:ln w="9525" cap="flat" cmpd="sng" algn="ctr">
            <a:solidFill>
              <a:schemeClr val="tx2">
                <a:lumMod val="40000"/>
                <a:lumOff val="6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square" lIns="0" tIns="0" rIns="0" bIns="0" rtlCol="0"/>
          <a:lstStyle/>
          <a:p>
            <a:pPr defTabSz="761981"/>
            <a:endParaRPr sz="1500">
              <a:solidFill>
                <a:prstClr val="black"/>
              </a:solidFill>
              <a:latin typeface="Calibri"/>
            </a:endParaRPr>
          </a:p>
        </p:txBody>
      </p:sp>
      <p:sp>
        <p:nvSpPr>
          <p:cNvPr id="13" name="object 10">
            <a:extLst>
              <a:ext uri="{FF2B5EF4-FFF2-40B4-BE49-F238E27FC236}">
                <a16:creationId xmlns:a16="http://schemas.microsoft.com/office/drawing/2014/main" id="{88D9D806-11F7-5CCD-675E-01E2363366A5}"/>
              </a:ext>
            </a:extLst>
          </p:cNvPr>
          <p:cNvSpPr/>
          <p:nvPr/>
        </p:nvSpPr>
        <p:spPr>
          <a:xfrm flipH="1">
            <a:off x="5198740" y="1391277"/>
            <a:ext cx="152498" cy="2728196"/>
          </a:xfrm>
          <a:custGeom>
            <a:avLst/>
            <a:gdLst/>
            <a:ahLst/>
            <a:cxnLst/>
            <a:rect l="l" t="t" r="r" b="b"/>
            <a:pathLst>
              <a:path h="5727700">
                <a:moveTo>
                  <a:pt x="0" y="0"/>
                </a:moveTo>
                <a:lnTo>
                  <a:pt x="0" y="5727700"/>
                </a:lnTo>
              </a:path>
            </a:pathLst>
          </a:custGeom>
          <a:ln w="9525" cap="flat" cmpd="sng" algn="ctr">
            <a:solidFill>
              <a:schemeClr val="tx2">
                <a:lumMod val="40000"/>
                <a:lumOff val="6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square" lIns="0" tIns="0" rIns="0" bIns="0" rtlCol="0"/>
          <a:lstStyle/>
          <a:p>
            <a:pPr defTabSz="761981"/>
            <a:endParaRPr sz="1500">
              <a:solidFill>
                <a:prstClr val="black"/>
              </a:solidFill>
              <a:latin typeface="Calibri"/>
            </a:endParaRPr>
          </a:p>
        </p:txBody>
      </p:sp>
      <p:sp>
        <p:nvSpPr>
          <p:cNvPr id="19" name="TextBox 18">
            <a:extLst>
              <a:ext uri="{FF2B5EF4-FFF2-40B4-BE49-F238E27FC236}">
                <a16:creationId xmlns:a16="http://schemas.microsoft.com/office/drawing/2014/main" id="{B8EA8FB6-596D-76DF-8A10-4627F2606B36}"/>
              </a:ext>
            </a:extLst>
          </p:cNvPr>
          <p:cNvSpPr txBox="1"/>
          <p:nvPr/>
        </p:nvSpPr>
        <p:spPr>
          <a:xfrm>
            <a:off x="198818" y="4282102"/>
            <a:ext cx="11637565" cy="1184621"/>
          </a:xfrm>
          <a:prstGeom prst="rect">
            <a:avLst/>
          </a:prstGeom>
          <a:noFill/>
        </p:spPr>
        <p:txBody>
          <a:bodyPr wrap="square">
            <a:noAutofit/>
          </a:bodyPr>
          <a:lstStyle/>
          <a:p>
            <a:pPr marL="0" indent="0" algn="just" eaLnBrk="1" fontAlgn="ctr" hangingPunct="1">
              <a:spcBef>
                <a:spcPts val="0"/>
              </a:spcBef>
              <a:spcAft>
                <a:spcPts val="0"/>
              </a:spcAft>
              <a:buNone/>
              <a:defRPr/>
            </a:pPr>
            <a:r>
              <a:rPr lang="en-IN" sz="1200" b="1" u="sng" dirty="0">
                <a:ea typeface="Roboto" panose="02000000000000000000" pitchFamily="2" charset="0"/>
              </a:rPr>
              <a:t>Key Highlights from Q4 GDP growth data</a:t>
            </a:r>
          </a:p>
          <a:p>
            <a:pPr marL="171450" indent="-171450" algn="just" eaLnBrk="1" fontAlgn="ctr" hangingPunct="1">
              <a:lnSpc>
                <a:spcPct val="150000"/>
              </a:lnSpc>
              <a:spcBef>
                <a:spcPts val="0"/>
              </a:spcBef>
              <a:spcAft>
                <a:spcPts val="0"/>
              </a:spcAft>
              <a:buFont typeface="Arial" panose="020B0604020202020204" pitchFamily="34" charset="0"/>
              <a:buChar char="•"/>
              <a:defRPr/>
            </a:pPr>
            <a:r>
              <a:rPr lang="en-US" sz="1200" dirty="0">
                <a:ea typeface="Roboto" panose="02000000000000000000" pitchFamily="2" charset="0"/>
              </a:rPr>
              <a:t>Q4 FY25 real GDP growth improved to 7.4% vs. 6.4% in Q3, slightly higher than RBI projection of 7.2%. Gross value addition growth during the quarter stood at 6.8%</a:t>
            </a:r>
          </a:p>
          <a:p>
            <a:pPr marL="171450" indent="-171450" algn="just" eaLnBrk="1" fontAlgn="ctr" hangingPunct="1">
              <a:lnSpc>
                <a:spcPct val="150000"/>
              </a:lnSpc>
              <a:spcBef>
                <a:spcPts val="0"/>
              </a:spcBef>
              <a:spcAft>
                <a:spcPts val="0"/>
              </a:spcAft>
              <a:buFont typeface="Arial" panose="020B0604020202020204" pitchFamily="34" charset="0"/>
              <a:buChar char="•"/>
              <a:defRPr/>
            </a:pPr>
            <a:r>
              <a:rPr lang="en-US" sz="1200" dirty="0">
                <a:ea typeface="Roboto" panose="02000000000000000000" pitchFamily="2" charset="0"/>
              </a:rPr>
              <a:t>For the full fiscal year, GDP &amp; GVA growth stood at 6.5% &amp; 6.4%, respectively. Nominal GDP, increased by 9.8% during the financial year, reaching Rs. 330.68 trillion.</a:t>
            </a:r>
          </a:p>
          <a:p>
            <a:pPr marL="171450" indent="-171450" algn="just" eaLnBrk="1" fontAlgn="ctr" hangingPunct="1">
              <a:lnSpc>
                <a:spcPct val="150000"/>
              </a:lnSpc>
              <a:spcBef>
                <a:spcPts val="0"/>
              </a:spcBef>
              <a:spcAft>
                <a:spcPts val="0"/>
              </a:spcAft>
              <a:buFont typeface="Arial" panose="020B0604020202020204" pitchFamily="34" charset="0"/>
              <a:buChar char="•"/>
              <a:defRPr/>
            </a:pPr>
            <a:r>
              <a:rPr lang="en-US" sz="1200" dirty="0">
                <a:ea typeface="Roboto" panose="02000000000000000000" pitchFamily="2" charset="0"/>
              </a:rPr>
              <a:t>Sustained improvement in industrial output, stable services sector growth,  uptick in investment activity and lower net imports supported the GDP growth during the quarter.</a:t>
            </a:r>
          </a:p>
        </p:txBody>
      </p:sp>
      <p:graphicFrame>
        <p:nvGraphicFramePr>
          <p:cNvPr id="4" name="Chart 3">
            <a:extLst>
              <a:ext uri="{FF2B5EF4-FFF2-40B4-BE49-F238E27FC236}">
                <a16:creationId xmlns:a16="http://schemas.microsoft.com/office/drawing/2014/main" id="{11DB8650-8797-AAC0-2F48-0B189D6DB15B}"/>
              </a:ext>
            </a:extLst>
          </p:cNvPr>
          <p:cNvGraphicFramePr>
            <a:graphicFrameLocks/>
          </p:cNvGraphicFramePr>
          <p:nvPr/>
        </p:nvGraphicFramePr>
        <p:xfrm>
          <a:off x="198818" y="1251514"/>
          <a:ext cx="5254331" cy="272819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8" name="Chart 7">
            <a:extLst>
              <a:ext uri="{FF2B5EF4-FFF2-40B4-BE49-F238E27FC236}">
                <a16:creationId xmlns:a16="http://schemas.microsoft.com/office/drawing/2014/main" id="{6D1A7BC4-B8BC-5374-0D6A-65363AFDC466}"/>
              </a:ext>
            </a:extLst>
          </p:cNvPr>
          <p:cNvGraphicFramePr>
            <a:graphicFrameLocks/>
          </p:cNvGraphicFramePr>
          <p:nvPr/>
        </p:nvGraphicFramePr>
        <p:xfrm>
          <a:off x="5453149" y="1251513"/>
          <a:ext cx="6383235" cy="2814339"/>
        </p:xfrm>
        <a:graphic>
          <a:graphicData uri="http://schemas.openxmlformats.org/drawingml/2006/chart">
            <c:chart xmlns:c="http://schemas.openxmlformats.org/drawingml/2006/chart" xmlns:r="http://schemas.openxmlformats.org/officeDocument/2006/relationships" r:id="rId8"/>
          </a:graphicData>
        </a:graphic>
      </p:graphicFrame>
      <p:sp>
        <p:nvSpPr>
          <p:cNvPr id="9" name="TextBox 8">
            <a:extLst>
              <a:ext uri="{FF2B5EF4-FFF2-40B4-BE49-F238E27FC236}">
                <a16:creationId xmlns:a16="http://schemas.microsoft.com/office/drawing/2014/main" id="{C11D344B-4AB8-6437-2314-4D333B4C7331}"/>
              </a:ext>
            </a:extLst>
          </p:cNvPr>
          <p:cNvSpPr txBox="1"/>
          <p:nvPr/>
        </p:nvSpPr>
        <p:spPr>
          <a:xfrm>
            <a:off x="181328" y="5574945"/>
            <a:ext cx="11637565" cy="1184621"/>
          </a:xfrm>
          <a:prstGeom prst="rect">
            <a:avLst/>
          </a:prstGeom>
          <a:noFill/>
        </p:spPr>
        <p:txBody>
          <a:bodyPr wrap="square">
            <a:noAutofit/>
          </a:bodyPr>
          <a:lstStyle/>
          <a:p>
            <a:pPr marL="0" indent="0" algn="just" eaLnBrk="1" fontAlgn="ctr" hangingPunct="1">
              <a:spcBef>
                <a:spcPts val="0"/>
              </a:spcBef>
              <a:spcAft>
                <a:spcPts val="0"/>
              </a:spcAft>
              <a:buNone/>
              <a:defRPr/>
            </a:pPr>
            <a:r>
              <a:rPr lang="en-IN" sz="1200" b="1" u="sng" dirty="0">
                <a:ea typeface="Roboto" panose="02000000000000000000" pitchFamily="2" charset="0"/>
              </a:rPr>
              <a:t>Growth Outlook for FY26</a:t>
            </a:r>
          </a:p>
          <a:p>
            <a:pPr marL="171450" indent="-171450" algn="just" eaLnBrk="1" fontAlgn="ctr" hangingPunct="1">
              <a:lnSpc>
                <a:spcPct val="150000"/>
              </a:lnSpc>
              <a:spcBef>
                <a:spcPts val="0"/>
              </a:spcBef>
              <a:spcAft>
                <a:spcPts val="0"/>
              </a:spcAft>
              <a:buFont typeface="Arial" panose="020B0604020202020204" pitchFamily="34" charset="0"/>
              <a:buChar char="•"/>
              <a:defRPr/>
            </a:pPr>
            <a:r>
              <a:rPr lang="en-US" sz="1200" dirty="0">
                <a:ea typeface="Roboto" panose="02000000000000000000" pitchFamily="2" charset="0"/>
              </a:rPr>
              <a:t>Impact from tax relief measures announced to boost discretionary spending in FY26. </a:t>
            </a:r>
          </a:p>
          <a:p>
            <a:pPr marL="171450" indent="-171450" algn="just" fontAlgn="ctr">
              <a:lnSpc>
                <a:spcPct val="150000"/>
              </a:lnSpc>
              <a:buFont typeface="Arial" panose="020B0604020202020204" pitchFamily="34" charset="0"/>
              <a:buChar char="•"/>
              <a:defRPr/>
            </a:pPr>
            <a:r>
              <a:rPr lang="en-US" sz="1200" dirty="0">
                <a:ea typeface="Roboto" panose="02000000000000000000" pitchFamily="2" charset="0"/>
              </a:rPr>
              <a:t>Progress in rate cut cycle and high liquidity in the system to reduce borrowing costs.</a:t>
            </a:r>
          </a:p>
          <a:p>
            <a:pPr marL="171450" indent="-171450" algn="just" eaLnBrk="1" fontAlgn="ctr" hangingPunct="1">
              <a:lnSpc>
                <a:spcPct val="150000"/>
              </a:lnSpc>
              <a:spcBef>
                <a:spcPts val="0"/>
              </a:spcBef>
              <a:spcAft>
                <a:spcPts val="0"/>
              </a:spcAft>
              <a:buFont typeface="Arial" panose="020B0604020202020204" pitchFamily="34" charset="0"/>
              <a:buChar char="•"/>
              <a:defRPr/>
            </a:pPr>
            <a:r>
              <a:rPr lang="en-US" sz="1200" dirty="0">
                <a:ea typeface="Roboto" panose="02000000000000000000" pitchFamily="2" charset="0"/>
              </a:rPr>
              <a:t>Rural demand to remain robust supported by strong output growth recorded by rabi crops. IMD’s outlook of above-normal monsoon bodes well for food inflation outlook. </a:t>
            </a:r>
          </a:p>
        </p:txBody>
      </p:sp>
    </p:spTree>
    <p:extLst>
      <p:ext uri="{BB962C8B-B14F-4D97-AF65-F5344CB8AC3E}">
        <p14:creationId xmlns:p14="http://schemas.microsoft.com/office/powerpoint/2010/main" val="3377835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1267" y="252454"/>
            <a:ext cx="5086691" cy="369332"/>
          </a:xfrm>
          <a:prstGeom prst="rect">
            <a:avLst/>
          </a:prstGeom>
          <a:noFill/>
        </p:spPr>
        <p:txBody>
          <a:bodyPr wrap="square" lIns="0" tIns="0" rIns="0" bIns="0" rtlCol="0">
            <a:spAutoFit/>
          </a:bodyPr>
          <a:lstStyle/>
          <a:p>
            <a:pPr algn="l" rtl="0"/>
            <a:r>
              <a:rPr lang="en-IN" sz="2400" b="0" kern="1200" dirty="0">
                <a:solidFill>
                  <a:srgbClr val="084795"/>
                </a:solidFill>
                <a:latin typeface="Roboto" panose="02000000000000000000" pitchFamily="2" charset="0"/>
                <a:ea typeface="Roboto" panose="02000000000000000000" pitchFamily="2" charset="0"/>
                <a:cs typeface="+mn-cs"/>
              </a:rPr>
              <a:t>Macro Update</a:t>
            </a:r>
            <a:endParaRPr sz="2400" b="0" kern="1200" dirty="0">
              <a:solidFill>
                <a:srgbClr val="084795"/>
              </a:solidFill>
              <a:latin typeface="Roboto" panose="02000000000000000000" pitchFamily="2" charset="0"/>
              <a:ea typeface="Roboto" panose="02000000000000000000" pitchFamily="2" charset="0"/>
              <a:cs typeface="+mn-cs"/>
            </a:endParaRPr>
          </a:p>
        </p:txBody>
      </p:sp>
      <p:graphicFrame>
        <p:nvGraphicFramePr>
          <p:cNvPr id="3" name="Table 2">
            <a:extLst>
              <a:ext uri="{FF2B5EF4-FFF2-40B4-BE49-F238E27FC236}">
                <a16:creationId xmlns:a16="http://schemas.microsoft.com/office/drawing/2014/main" id="{D656C6AC-D574-78CD-F655-4DD3032C5289}"/>
              </a:ext>
            </a:extLst>
          </p:cNvPr>
          <p:cNvGraphicFramePr>
            <a:graphicFrameLocks noGrp="1"/>
          </p:cNvGraphicFramePr>
          <p:nvPr/>
        </p:nvGraphicFramePr>
        <p:xfrm>
          <a:off x="371267" y="1471040"/>
          <a:ext cx="11465117" cy="5074094"/>
        </p:xfrm>
        <a:graphic>
          <a:graphicData uri="http://schemas.openxmlformats.org/drawingml/2006/table">
            <a:tbl>
              <a:tblPr/>
              <a:tblGrid>
                <a:gridCol w="1789512">
                  <a:extLst>
                    <a:ext uri="{9D8B030D-6E8A-4147-A177-3AD203B41FA5}">
                      <a16:colId xmlns:a16="http://schemas.microsoft.com/office/drawing/2014/main" val="2924677687"/>
                    </a:ext>
                  </a:extLst>
                </a:gridCol>
                <a:gridCol w="8420060">
                  <a:extLst>
                    <a:ext uri="{9D8B030D-6E8A-4147-A177-3AD203B41FA5}">
                      <a16:colId xmlns:a16="http://schemas.microsoft.com/office/drawing/2014/main" val="902793724"/>
                    </a:ext>
                  </a:extLst>
                </a:gridCol>
                <a:gridCol w="1255545">
                  <a:extLst>
                    <a:ext uri="{9D8B030D-6E8A-4147-A177-3AD203B41FA5}">
                      <a16:colId xmlns:a16="http://schemas.microsoft.com/office/drawing/2014/main" val="2404039810"/>
                    </a:ext>
                  </a:extLst>
                </a:gridCol>
              </a:tblGrid>
              <a:tr h="425570">
                <a:tc>
                  <a:txBody>
                    <a:bodyPr/>
                    <a:lstStyle/>
                    <a:p>
                      <a:pPr algn="l">
                        <a:spcAft>
                          <a:spcPts val="0"/>
                        </a:spcAft>
                      </a:pPr>
                      <a:r>
                        <a:rPr lang="en-IN" sz="1200" b="1" kern="1200" dirty="0">
                          <a:solidFill>
                            <a:srgbClr val="FFFFFF"/>
                          </a:solidFill>
                          <a:effectLst/>
                          <a:latin typeface="+mn-lt"/>
                          <a:ea typeface="Cambria" panose="02040503050406030204" pitchFamily="18" charset="0"/>
                          <a:cs typeface="Calibri" panose="020F0502020204030204" pitchFamily="34" charset="0"/>
                        </a:rPr>
                        <a:t>Key Factors</a:t>
                      </a:r>
                      <a:endParaRPr lang="en-IN" sz="1200" b="1" dirty="0">
                        <a:effectLst/>
                        <a:latin typeface="+mn-lt"/>
                        <a:ea typeface="Cambria" panose="02040503050406030204" pitchFamily="18" charset="0"/>
                        <a:cs typeface="Times New Roman" panose="02020603050405020304" pitchFamily="18" charset="0"/>
                      </a:endParaRPr>
                    </a:p>
                  </a:txBody>
                  <a:tcPr marL="67628" marR="8977" marT="8977"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spcAft>
                          <a:spcPts val="0"/>
                        </a:spcAft>
                      </a:pPr>
                      <a:r>
                        <a:rPr lang="en-IN" sz="1200" b="1" kern="1200" dirty="0">
                          <a:solidFill>
                            <a:srgbClr val="FFFFFF"/>
                          </a:solidFill>
                          <a:effectLst/>
                          <a:latin typeface="+mn-lt"/>
                          <a:ea typeface="Cambria" panose="02040503050406030204" pitchFamily="18" charset="0"/>
                          <a:cs typeface="Calibri" panose="020F0502020204030204" pitchFamily="34" charset="0"/>
                        </a:rPr>
                        <a:t>Comments</a:t>
                      </a:r>
                      <a:endParaRPr lang="en-IN" sz="1200" b="1" dirty="0">
                        <a:effectLst/>
                        <a:latin typeface="+mn-lt"/>
                        <a:ea typeface="Cambria" panose="02040503050406030204" pitchFamily="18" charset="0"/>
                        <a:cs typeface="Times New Roman" panose="02020603050405020304" pitchFamily="18" charset="0"/>
                      </a:endParaRPr>
                    </a:p>
                  </a:txBody>
                  <a:tcPr marL="101741" marR="10174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spcAft>
                          <a:spcPts val="0"/>
                        </a:spcAft>
                      </a:pPr>
                      <a:r>
                        <a:rPr lang="en-IN" sz="1200" b="1" dirty="0">
                          <a:solidFill>
                            <a:schemeClr val="bg1"/>
                          </a:solidFill>
                          <a:effectLst/>
                          <a:latin typeface="+mn-lt"/>
                          <a:ea typeface="Cambria" panose="02040503050406030204" pitchFamily="18" charset="0"/>
                          <a:cs typeface="Times New Roman" panose="02020603050405020304" pitchFamily="18" charset="0"/>
                        </a:rPr>
                        <a:t>Yield Outlook</a:t>
                      </a:r>
                    </a:p>
                  </a:txBody>
                  <a:tcPr marL="101741" marR="101741"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83196007"/>
                  </a:ext>
                </a:extLst>
              </a:tr>
              <a:tr h="782964">
                <a:tc>
                  <a:txBody>
                    <a:bodyPr/>
                    <a:lstStyle/>
                    <a:p>
                      <a:pPr algn="l">
                        <a:lnSpc>
                          <a:spcPct val="115000"/>
                        </a:lnSpc>
                        <a:spcAft>
                          <a:spcPts val="0"/>
                        </a:spcAft>
                      </a:pPr>
                      <a:r>
                        <a:rPr lang="en-IN" sz="1200" b="1" dirty="0">
                          <a:solidFill>
                            <a:schemeClr val="bg1"/>
                          </a:solidFill>
                          <a:effectLst/>
                          <a:latin typeface="+mn-lt"/>
                          <a:ea typeface="Cambria" panose="02040503050406030204" pitchFamily="18" charset="0"/>
                          <a:cs typeface="Times New Roman" panose="02020603050405020304" pitchFamily="18" charset="0"/>
                        </a:rPr>
                        <a:t>RBI Policy Decision</a:t>
                      </a:r>
                    </a:p>
                  </a:txBody>
                  <a:tcPr marL="95673" marR="12700" marT="1270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66B6A9"/>
                    </a:solidFill>
                  </a:tcPr>
                </a:tc>
                <a:tc>
                  <a:txBody>
                    <a:bodyPr/>
                    <a:lstStyle/>
                    <a:p>
                      <a:pPr marL="17145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200" dirty="0">
                          <a:solidFill>
                            <a:schemeClr val="tx1"/>
                          </a:solidFill>
                          <a:effectLst/>
                          <a:latin typeface="+mn-lt"/>
                          <a:ea typeface="Cambria" panose="02040503050406030204" pitchFamily="18" charset="0"/>
                          <a:cs typeface="Calibri" panose="020F0502020204030204" pitchFamily="34" charset="0"/>
                        </a:rPr>
                        <a:t>Policy repo rate reduced  by 50 bps to 5.5% during June 2025 policy review meeting.</a:t>
                      </a:r>
                    </a:p>
                    <a:p>
                      <a:pPr marL="171450" marR="0" lvl="0" indent="-171450" algn="just"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lang="en-US" sz="1200" dirty="0">
                          <a:solidFill>
                            <a:schemeClr val="tx1"/>
                          </a:solidFill>
                          <a:effectLst/>
                          <a:latin typeface="+mn-lt"/>
                          <a:ea typeface="Cambria" panose="02040503050406030204" pitchFamily="18" charset="0"/>
                          <a:cs typeface="Calibri" panose="020F0502020204030204" pitchFamily="34" charset="0"/>
                        </a:rPr>
                        <a:t>Monetary policy stance change from Accommodative to Neutral. The MPC guidance turns hawkish indicating a limited incremental space for stimulating growth.</a:t>
                      </a: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GB" sz="1200" dirty="0">
                          <a:solidFill>
                            <a:schemeClr val="tx1"/>
                          </a:solidFill>
                          <a:effectLst/>
                          <a:latin typeface="+mn-lt"/>
                          <a:ea typeface="Cambria" panose="02040503050406030204" pitchFamily="18" charset="0"/>
                          <a:cs typeface="Arial" panose="020B0604020202020204" pitchFamily="34" charset="0"/>
                        </a:rPr>
                        <a:t>⊕</a:t>
                      </a:r>
                      <a:endParaRPr lang="en-IN" sz="1200" dirty="0">
                        <a:solidFill>
                          <a:schemeClr val="tx1"/>
                        </a:solidFill>
                        <a:effectLst/>
                        <a:latin typeface="+mn-lt"/>
                        <a:ea typeface="Cambria" panose="02040503050406030204" pitchFamily="18" charset="0"/>
                        <a:cs typeface="Times New Roman" panose="02020603050405020304" pitchFamily="18" charset="0"/>
                      </a:endParaRP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05983643"/>
                  </a:ext>
                </a:extLst>
              </a:tr>
              <a:tr h="845022">
                <a:tc>
                  <a:txBody>
                    <a:bodyPr/>
                    <a:lstStyle/>
                    <a:p>
                      <a:pPr algn="l">
                        <a:lnSpc>
                          <a:spcPct val="115000"/>
                        </a:lnSpc>
                        <a:spcAft>
                          <a:spcPts val="0"/>
                        </a:spcAft>
                      </a:pPr>
                      <a:r>
                        <a:rPr lang="en-US" sz="1200" b="1" kern="1200" dirty="0">
                          <a:solidFill>
                            <a:schemeClr val="bg1"/>
                          </a:solidFill>
                          <a:effectLst/>
                          <a:latin typeface="+mn-lt"/>
                          <a:ea typeface="Cambria" panose="02040503050406030204" pitchFamily="18" charset="0"/>
                          <a:cs typeface="Calibri" panose="020F0502020204030204" pitchFamily="34" charset="0"/>
                        </a:rPr>
                        <a:t>GDP Growth</a:t>
                      </a:r>
                      <a:endParaRPr lang="en-IN" sz="1200" b="1" dirty="0">
                        <a:solidFill>
                          <a:schemeClr val="bg1"/>
                        </a:solidFill>
                        <a:effectLst/>
                        <a:latin typeface="+mn-lt"/>
                        <a:ea typeface="Cambria" panose="02040503050406030204" pitchFamily="18" charset="0"/>
                        <a:cs typeface="Times New Roman" panose="02020603050405020304" pitchFamily="18" charset="0"/>
                      </a:endParaRPr>
                    </a:p>
                  </a:txBody>
                  <a:tcPr marL="95673" marR="12700" marT="1270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66B6A9"/>
                    </a:solidFill>
                  </a:tcPr>
                </a:tc>
                <a:tc>
                  <a:txBody>
                    <a:bodyPr/>
                    <a:lstStyle/>
                    <a:p>
                      <a:pPr marL="171450" lvl="0" indent="-171450" algn="l">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Q4 FY25 real GDP growth improved to 7.4% vs. 6.4% in Q3. Gross value addition growth during the quarter stood at 6.8%</a:t>
                      </a:r>
                    </a:p>
                    <a:p>
                      <a:pPr marL="171450" lvl="0" indent="-171450" algn="l">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For the full fiscal year, GDP &amp; GVA growth stood at 6.5% &amp; 6.4%, respectively. </a:t>
                      </a:r>
                    </a:p>
                    <a:p>
                      <a:pPr marL="171450" lvl="0" indent="-171450" algn="l">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GDP growth for FY26 retained at 6.5% with Q1 at 6.5%, Q2 at 6.7%, Q3 at 6.6% &amp; Q4 at 6.3%</a:t>
                      </a: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eaLnBrk="1" fontAlgn="auto" latinLnBrk="0" hangingPunct="1">
                        <a:lnSpc>
                          <a:spcPct val="115000"/>
                        </a:lnSpc>
                        <a:spcBef>
                          <a:spcPts val="0"/>
                        </a:spcBef>
                        <a:spcAft>
                          <a:spcPts val="0"/>
                        </a:spcAft>
                        <a:buClrTx/>
                        <a:buSzTx/>
                        <a:buFontTx/>
                        <a:buNone/>
                        <a:tabLst/>
                        <a:defRPr/>
                      </a:pPr>
                      <a:r>
                        <a:rPr lang="en-GB" sz="1200" dirty="0">
                          <a:solidFill>
                            <a:schemeClr val="tx1"/>
                          </a:solidFill>
                          <a:effectLst/>
                          <a:latin typeface="+mn-lt"/>
                          <a:ea typeface="Cambria" panose="02040503050406030204" pitchFamily="18" charset="0"/>
                          <a:cs typeface="Arial" panose="020B0604020202020204" pitchFamily="34" charset="0"/>
                        </a:rPr>
                        <a:t>⊕</a:t>
                      </a:r>
                      <a:endParaRPr lang="en-IN" sz="1200" dirty="0">
                        <a:solidFill>
                          <a:schemeClr val="tx1"/>
                        </a:solidFill>
                        <a:effectLst/>
                        <a:latin typeface="+mn-lt"/>
                        <a:ea typeface="Cambria" panose="02040503050406030204" pitchFamily="18" charset="0"/>
                        <a:cs typeface="Times New Roman" panose="02020603050405020304" pitchFamily="18" charset="0"/>
                      </a:endParaRP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4881672"/>
                  </a:ext>
                </a:extLst>
              </a:tr>
              <a:tr h="703321">
                <a:tc>
                  <a:txBody>
                    <a:bodyPr/>
                    <a:lstStyle/>
                    <a:p>
                      <a:pPr algn="l">
                        <a:lnSpc>
                          <a:spcPct val="115000"/>
                        </a:lnSpc>
                        <a:spcAft>
                          <a:spcPts val="0"/>
                        </a:spcAft>
                      </a:pPr>
                      <a:r>
                        <a:rPr lang="en-US" sz="1200" b="1" kern="1200" dirty="0">
                          <a:solidFill>
                            <a:schemeClr val="bg1"/>
                          </a:solidFill>
                          <a:effectLst/>
                          <a:latin typeface="+mn-lt"/>
                          <a:ea typeface="Cambria" panose="02040503050406030204" pitchFamily="18" charset="0"/>
                          <a:cs typeface="Calibri" panose="020F0502020204030204" pitchFamily="34" charset="0"/>
                        </a:rPr>
                        <a:t>Inflation</a:t>
                      </a:r>
                      <a:endParaRPr lang="en-IN" sz="1200" b="1" dirty="0">
                        <a:solidFill>
                          <a:schemeClr val="bg1"/>
                        </a:solidFill>
                        <a:effectLst/>
                        <a:latin typeface="+mn-lt"/>
                        <a:ea typeface="Cambria" panose="02040503050406030204" pitchFamily="18" charset="0"/>
                        <a:cs typeface="Times New Roman" panose="02020603050405020304" pitchFamily="18" charset="0"/>
                      </a:endParaRPr>
                    </a:p>
                  </a:txBody>
                  <a:tcPr marL="95673" marR="12700" marT="1270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66B6A9"/>
                    </a:solidFill>
                  </a:tcPr>
                </a:tc>
                <a:tc>
                  <a:txBody>
                    <a:bodyPr/>
                    <a:lstStyle/>
                    <a:p>
                      <a:pPr marL="171450" lvl="0" indent="-171450" algn="l">
                        <a:lnSpc>
                          <a:spcPct val="115000"/>
                        </a:lnSpc>
                        <a:spcAft>
                          <a:spcPts val="0"/>
                        </a:spcAft>
                        <a:buFont typeface="Arial" panose="020B0604020202020204" pitchFamily="34" charset="0"/>
                        <a:buChar char="•"/>
                        <a:tabLst>
                          <a:tab pos="457200" algn="l"/>
                        </a:tabLst>
                      </a:pPr>
                      <a:r>
                        <a:rPr lang="en-US" sz="1200" dirty="0">
                          <a:effectLst/>
                          <a:latin typeface="+mn-lt"/>
                          <a:ea typeface="Cambria" panose="02040503050406030204" pitchFamily="18" charset="0"/>
                          <a:cs typeface="Times New Roman" panose="02020603050405020304" pitchFamily="18" charset="0"/>
                        </a:rPr>
                        <a:t>India’s retail inflation eases to a six-year low of 3.14% in April. </a:t>
                      </a:r>
                    </a:p>
                    <a:p>
                      <a:pPr marL="171450" lvl="0" indent="-171450" algn="l">
                        <a:lnSpc>
                          <a:spcPct val="115000"/>
                        </a:lnSpc>
                        <a:spcAft>
                          <a:spcPts val="0"/>
                        </a:spcAft>
                        <a:buFont typeface="Arial" panose="020B0604020202020204" pitchFamily="34" charset="0"/>
                        <a:buChar char="•"/>
                        <a:tabLst>
                          <a:tab pos="457200" algn="l"/>
                        </a:tabLst>
                      </a:pPr>
                      <a:r>
                        <a:rPr lang="en-US" sz="1200" dirty="0">
                          <a:effectLst/>
                          <a:latin typeface="+mn-lt"/>
                          <a:ea typeface="Cambria" panose="02040503050406030204" pitchFamily="18" charset="0"/>
                          <a:cs typeface="Times New Roman" panose="02020603050405020304" pitchFamily="18" charset="0"/>
                        </a:rPr>
                        <a:t>CPI inflation for FY26 revised downwards to 3.7%. </a:t>
                      </a:r>
                    </a:p>
                    <a:p>
                      <a:pPr marL="171450" lvl="0" indent="-171450" algn="l">
                        <a:lnSpc>
                          <a:spcPct val="115000"/>
                        </a:lnSpc>
                        <a:spcAft>
                          <a:spcPts val="0"/>
                        </a:spcAft>
                        <a:buFont typeface="Arial" panose="020B0604020202020204" pitchFamily="34" charset="0"/>
                        <a:buChar char="•"/>
                        <a:tabLst>
                          <a:tab pos="457200" algn="l"/>
                        </a:tabLst>
                      </a:pPr>
                      <a:r>
                        <a:rPr lang="en-US" sz="1200" dirty="0">
                          <a:effectLst/>
                          <a:latin typeface="+mn-lt"/>
                          <a:ea typeface="Cambria" panose="02040503050406030204" pitchFamily="18" charset="0"/>
                          <a:cs typeface="Times New Roman" panose="02020603050405020304" pitchFamily="18" charset="0"/>
                        </a:rPr>
                        <a:t>Headline inflation projection for Q1 at 2.9%, Q2 at 3.4%, Q3 at 3.9% and Q4 at 4.4%.</a:t>
                      </a: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GB" sz="1200" dirty="0">
                          <a:solidFill>
                            <a:srgbClr val="00B050"/>
                          </a:solidFill>
                          <a:effectLst/>
                          <a:latin typeface="+mn-lt"/>
                          <a:ea typeface="Cambria" panose="02040503050406030204" pitchFamily="18" charset="0"/>
                          <a:cs typeface="Arial" panose="020B0604020202020204" pitchFamily="34" charset="0"/>
                        </a:rPr>
                        <a:t>⊕</a:t>
                      </a:r>
                      <a:endParaRPr lang="en-IN" sz="1200" dirty="0">
                        <a:solidFill>
                          <a:srgbClr val="00B050"/>
                        </a:solidFill>
                        <a:effectLst/>
                        <a:latin typeface="+mn-lt"/>
                        <a:ea typeface="Cambria" panose="02040503050406030204" pitchFamily="18" charset="0"/>
                        <a:cs typeface="Times New Roman" panose="02020603050405020304" pitchFamily="18" charset="0"/>
                      </a:endParaRP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21498996"/>
                  </a:ext>
                </a:extLst>
              </a:tr>
              <a:tr h="836108">
                <a:tc>
                  <a:txBody>
                    <a:bodyPr/>
                    <a:lstStyle/>
                    <a:p>
                      <a:pPr algn="l">
                        <a:lnSpc>
                          <a:spcPct val="115000"/>
                        </a:lnSpc>
                        <a:spcAft>
                          <a:spcPts val="0"/>
                        </a:spcAft>
                      </a:pPr>
                      <a:r>
                        <a:rPr lang="en-US" sz="1200" b="1" kern="1200" dirty="0">
                          <a:solidFill>
                            <a:schemeClr val="bg1"/>
                          </a:solidFill>
                          <a:effectLst/>
                          <a:latin typeface="+mn-lt"/>
                          <a:ea typeface="Cambria" panose="02040503050406030204" pitchFamily="18" charset="0"/>
                          <a:cs typeface="Calibri" panose="020F0502020204030204" pitchFamily="34" charset="0"/>
                        </a:rPr>
                        <a:t>Crude prices</a:t>
                      </a:r>
                      <a:endParaRPr lang="en-IN" sz="1200" b="1" dirty="0">
                        <a:solidFill>
                          <a:schemeClr val="bg1"/>
                        </a:solidFill>
                        <a:effectLst/>
                        <a:latin typeface="+mn-lt"/>
                        <a:ea typeface="Cambria" panose="02040503050406030204" pitchFamily="18" charset="0"/>
                        <a:cs typeface="Times New Roman" panose="02020603050405020304" pitchFamily="18" charset="0"/>
                      </a:endParaRPr>
                    </a:p>
                  </a:txBody>
                  <a:tcPr marL="95673" marR="12700" marT="1270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66B6A9"/>
                    </a:solidFill>
                  </a:tcPr>
                </a:tc>
                <a:tc>
                  <a:txBody>
                    <a:bodyPr/>
                    <a:lstStyle/>
                    <a:p>
                      <a:pPr marL="171450" marR="0" lvl="0" indent="-171450" algn="l" defTabSz="914400" rtl="0" eaLnBrk="1" fontAlgn="auto" latinLnBrk="0" hangingPunct="1">
                        <a:lnSpc>
                          <a:spcPct val="115000"/>
                        </a:lnSpc>
                        <a:spcBef>
                          <a:spcPts val="0"/>
                        </a:spcBef>
                        <a:spcAft>
                          <a:spcPts val="0"/>
                        </a:spcAft>
                        <a:buClrTx/>
                        <a:buSzTx/>
                        <a:buFont typeface="Arial" panose="020B0604020202020204" pitchFamily="34" charset="0"/>
                        <a:buChar char="•"/>
                        <a:tabLst>
                          <a:tab pos="457200" algn="l"/>
                        </a:tabLst>
                        <a:defRPr/>
                      </a:pPr>
                      <a:r>
                        <a:rPr lang="en-US" sz="1200" kern="1200" dirty="0">
                          <a:solidFill>
                            <a:srgbClr val="000000"/>
                          </a:solidFill>
                          <a:effectLst/>
                          <a:latin typeface="+mn-lt"/>
                          <a:ea typeface="Cambria" panose="02040503050406030204" pitchFamily="18" charset="0"/>
                          <a:cs typeface="Calibri" panose="020F0502020204030204" pitchFamily="34" charset="0"/>
                        </a:rPr>
                        <a:t>Crude oil prices remained largely unchanged during the month. </a:t>
                      </a:r>
                    </a:p>
                    <a:p>
                      <a:pPr marL="171450" marR="0" lvl="0" indent="-171450" algn="l" defTabSz="914400" rtl="0" eaLnBrk="1" fontAlgn="auto" latinLnBrk="0" hangingPunct="1">
                        <a:lnSpc>
                          <a:spcPct val="115000"/>
                        </a:lnSpc>
                        <a:spcBef>
                          <a:spcPts val="0"/>
                        </a:spcBef>
                        <a:spcAft>
                          <a:spcPts val="0"/>
                        </a:spcAft>
                        <a:buClrTx/>
                        <a:buSzTx/>
                        <a:buFont typeface="Arial" panose="020B0604020202020204" pitchFamily="34" charset="0"/>
                        <a:buChar char="•"/>
                        <a:tabLst>
                          <a:tab pos="457200" algn="l"/>
                        </a:tabLst>
                        <a:defRPr/>
                      </a:pPr>
                      <a:r>
                        <a:rPr lang="en-US" sz="1200" kern="1200" dirty="0">
                          <a:solidFill>
                            <a:srgbClr val="000000"/>
                          </a:solidFill>
                          <a:effectLst/>
                          <a:latin typeface="+mn-lt"/>
                          <a:ea typeface="Cambria" panose="02040503050406030204" pitchFamily="18" charset="0"/>
                          <a:cs typeface="Calibri" panose="020F0502020204030204" pitchFamily="34" charset="0"/>
                        </a:rPr>
                        <a:t>Rapid unwinding of supply restrictions amidst sluggish global demand recovery support lower prices. On a YTD basis the prices have corrected ~ 15%.</a:t>
                      </a: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eaLnBrk="1" fontAlgn="auto" latinLnBrk="0" hangingPunct="1">
                        <a:lnSpc>
                          <a:spcPct val="115000"/>
                        </a:lnSpc>
                        <a:spcBef>
                          <a:spcPts val="0"/>
                        </a:spcBef>
                        <a:spcAft>
                          <a:spcPts val="0"/>
                        </a:spcAft>
                        <a:buClrTx/>
                        <a:buSzTx/>
                        <a:buFontTx/>
                        <a:buNone/>
                        <a:tabLst/>
                        <a:defRPr/>
                      </a:pPr>
                      <a:r>
                        <a:rPr lang="en-GB" sz="1200" dirty="0">
                          <a:solidFill>
                            <a:srgbClr val="00B050"/>
                          </a:solidFill>
                          <a:effectLst/>
                          <a:latin typeface="+mn-lt"/>
                          <a:ea typeface="Cambria" panose="02040503050406030204" pitchFamily="18" charset="0"/>
                          <a:cs typeface="Arial" panose="020B0604020202020204" pitchFamily="34" charset="0"/>
                        </a:rPr>
                        <a:t>⊕</a:t>
                      </a:r>
                      <a:endParaRPr lang="en-IN" sz="1200" dirty="0">
                        <a:solidFill>
                          <a:srgbClr val="00B050"/>
                        </a:solidFill>
                        <a:effectLst/>
                        <a:latin typeface="+mn-lt"/>
                        <a:ea typeface="Cambria" panose="02040503050406030204" pitchFamily="18" charset="0"/>
                        <a:cs typeface="Times New Roman" panose="02020603050405020304" pitchFamily="18" charset="0"/>
                      </a:endParaRP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37145138"/>
                  </a:ext>
                </a:extLst>
              </a:tr>
              <a:tr h="845746">
                <a:tc>
                  <a:txBody>
                    <a:bodyPr/>
                    <a:lstStyle/>
                    <a:p>
                      <a:pPr algn="l">
                        <a:lnSpc>
                          <a:spcPct val="115000"/>
                        </a:lnSpc>
                        <a:spcAft>
                          <a:spcPts val="0"/>
                        </a:spcAft>
                      </a:pPr>
                      <a:r>
                        <a:rPr lang="en-US" sz="1200" b="1" kern="1200" dirty="0">
                          <a:solidFill>
                            <a:schemeClr val="bg1"/>
                          </a:solidFill>
                          <a:effectLst/>
                          <a:latin typeface="+mn-lt"/>
                          <a:ea typeface="Cambria" panose="02040503050406030204" pitchFamily="18" charset="0"/>
                          <a:cs typeface="Calibri" panose="020F0502020204030204" pitchFamily="34" charset="0"/>
                        </a:rPr>
                        <a:t>Fiscal Deficit</a:t>
                      </a:r>
                      <a:endParaRPr lang="en-IN" sz="1200" b="1" dirty="0">
                        <a:solidFill>
                          <a:schemeClr val="bg1"/>
                        </a:solidFill>
                        <a:effectLst/>
                        <a:latin typeface="+mn-lt"/>
                        <a:ea typeface="Cambria" panose="02040503050406030204" pitchFamily="18" charset="0"/>
                        <a:cs typeface="Times New Roman" panose="02020603050405020304" pitchFamily="18" charset="0"/>
                      </a:endParaRPr>
                    </a:p>
                  </a:txBody>
                  <a:tcPr marL="95673" marR="12700" marT="1270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66B6A9"/>
                    </a:solidFill>
                  </a:tcPr>
                </a:tc>
                <a:tc>
                  <a:txBody>
                    <a:bodyPr/>
                    <a:lstStyle/>
                    <a:p>
                      <a:pPr marL="171450" lvl="0" indent="-171450" algn="l">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Fiscal deficit in line with estimates of 4.8% of GDP in FY25.</a:t>
                      </a:r>
                    </a:p>
                    <a:p>
                      <a:pPr marL="171450" lvl="0" indent="-171450" algn="l">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Higher than expected Nominal GDP growth (9.8%) and a reduction in revenue expenditure supported the deficit numbers. </a:t>
                      </a:r>
                    </a:p>
                    <a:p>
                      <a:pPr marL="171450" lvl="0" indent="-171450" algn="l">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FY26 fiscal deficit target at 4.4%</a:t>
                      </a: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lnSpc>
                          <a:spcPct val="115000"/>
                        </a:lnSpc>
                        <a:spcAft>
                          <a:spcPts val="0"/>
                        </a:spcAft>
                      </a:pPr>
                      <a:r>
                        <a:rPr lang="en-GB" sz="1200" dirty="0">
                          <a:solidFill>
                            <a:srgbClr val="00B050"/>
                          </a:solidFill>
                          <a:effectLst/>
                          <a:latin typeface="+mn-lt"/>
                          <a:ea typeface="Cambria" panose="02040503050406030204" pitchFamily="18" charset="0"/>
                          <a:cs typeface="Arial" panose="020B0604020202020204" pitchFamily="34" charset="0"/>
                        </a:rPr>
                        <a:t>⊕</a:t>
                      </a:r>
                      <a:endParaRPr lang="en-IN" sz="1200" dirty="0">
                        <a:solidFill>
                          <a:srgbClr val="00B050"/>
                        </a:solidFill>
                        <a:effectLst/>
                        <a:latin typeface="+mn-lt"/>
                        <a:ea typeface="Cambria" panose="02040503050406030204" pitchFamily="18" charset="0"/>
                        <a:cs typeface="Times New Roman" panose="02020603050405020304" pitchFamily="18" charset="0"/>
                      </a:endParaRP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25148454"/>
                  </a:ext>
                </a:extLst>
              </a:tr>
              <a:tr h="635363">
                <a:tc>
                  <a:txBody>
                    <a:bodyPr/>
                    <a:lstStyle/>
                    <a:p>
                      <a:pPr algn="l">
                        <a:lnSpc>
                          <a:spcPct val="115000"/>
                        </a:lnSpc>
                        <a:spcAft>
                          <a:spcPts val="0"/>
                        </a:spcAft>
                      </a:pPr>
                      <a:r>
                        <a:rPr lang="en-US" sz="1200" b="1" kern="1200" dirty="0">
                          <a:solidFill>
                            <a:schemeClr val="bg1"/>
                          </a:solidFill>
                          <a:effectLst/>
                          <a:latin typeface="+mn-lt"/>
                          <a:ea typeface="Cambria" panose="02040503050406030204" pitchFamily="18" charset="0"/>
                          <a:cs typeface="Calibri" panose="020F0502020204030204" pitchFamily="34" charset="0"/>
                        </a:rPr>
                        <a:t>Global Policy &amp; Yields</a:t>
                      </a:r>
                      <a:endParaRPr lang="en-IN" sz="1200" b="1" dirty="0">
                        <a:solidFill>
                          <a:schemeClr val="bg1"/>
                        </a:solidFill>
                        <a:effectLst/>
                        <a:latin typeface="+mn-lt"/>
                        <a:ea typeface="Cambria" panose="02040503050406030204" pitchFamily="18" charset="0"/>
                        <a:cs typeface="Times New Roman" panose="02020603050405020304" pitchFamily="18" charset="0"/>
                      </a:endParaRPr>
                    </a:p>
                  </a:txBody>
                  <a:tcPr marL="95673" marR="12700" marT="1270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rgbClr val="66B6A9"/>
                    </a:solidFill>
                  </a:tcPr>
                </a:tc>
                <a:tc>
                  <a:txBody>
                    <a:bodyPr/>
                    <a:lstStyle/>
                    <a:p>
                      <a:pPr marL="171450" lvl="0" indent="-171450" algn="l" defTabSz="914400" rtl="0" eaLnBrk="1" latinLnBrk="0" hangingPunct="1">
                        <a:lnSpc>
                          <a:spcPct val="115000"/>
                        </a:lnSpc>
                        <a:spcAft>
                          <a:spcPts val="0"/>
                        </a:spcAft>
                        <a:buFont typeface="Arial" panose="020B0604020202020204" pitchFamily="34" charset="0"/>
                        <a:buChar char="•"/>
                        <a:tabLst>
                          <a:tab pos="457200" algn="l"/>
                        </a:tabLst>
                      </a:pPr>
                      <a:r>
                        <a:rPr lang="en-US" sz="1200" kern="1200" dirty="0">
                          <a:solidFill>
                            <a:srgbClr val="000000"/>
                          </a:solidFill>
                          <a:effectLst/>
                          <a:latin typeface="+mn-lt"/>
                          <a:ea typeface="Cambria" panose="02040503050406030204" pitchFamily="18" charset="0"/>
                          <a:cs typeface="Calibri" panose="020F0502020204030204" pitchFamily="34" charset="0"/>
                        </a:rPr>
                        <a:t>Pace &amp; Quantum of policy rate cut witness moderation. Higher volatility in global sovereign yields stemming from uncertainty in fiscal and regulatory policies.</a:t>
                      </a: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GB" sz="1200" dirty="0">
                          <a:solidFill>
                            <a:schemeClr val="tx1"/>
                          </a:solidFill>
                          <a:effectLst/>
                          <a:latin typeface="+mn-lt"/>
                          <a:ea typeface="Cambria" panose="02040503050406030204" pitchFamily="18" charset="0"/>
                          <a:cs typeface="Arial" panose="020B0604020202020204" pitchFamily="34" charset="0"/>
                        </a:rPr>
                        <a:t>⊕</a:t>
                      </a:r>
                      <a:endParaRPr lang="en-IN" sz="1200" dirty="0">
                        <a:solidFill>
                          <a:schemeClr val="tx1"/>
                        </a:solidFill>
                        <a:effectLst/>
                        <a:latin typeface="+mn-lt"/>
                        <a:ea typeface="Cambria" panose="02040503050406030204" pitchFamily="18" charset="0"/>
                        <a:cs typeface="Times New Roman" panose="02020603050405020304" pitchFamily="18" charset="0"/>
                      </a:endParaRPr>
                    </a:p>
                  </a:txBody>
                  <a:tcPr marL="143933" marR="143933"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54084313"/>
                  </a:ext>
                </a:extLst>
              </a:tr>
            </a:tbl>
          </a:graphicData>
        </a:graphic>
      </p:graphicFrame>
      <p:pic>
        <p:nvPicPr>
          <p:cNvPr id="6" name="Picture 5">
            <a:extLst>
              <a:ext uri="{FF2B5EF4-FFF2-40B4-BE49-F238E27FC236}">
                <a16:creationId xmlns:a16="http://schemas.microsoft.com/office/drawing/2014/main" id="{687D97D4-A265-B204-EA59-375EF739681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736409" y="312725"/>
            <a:ext cx="1099975" cy="1028396"/>
          </a:xfrm>
          <a:prstGeom prst="rect">
            <a:avLst/>
          </a:prstGeom>
        </p:spPr>
      </p:pic>
      <p:cxnSp>
        <p:nvCxnSpPr>
          <p:cNvPr id="7" name="Straight Connector 6">
            <a:extLst>
              <a:ext uri="{FF2B5EF4-FFF2-40B4-BE49-F238E27FC236}">
                <a16:creationId xmlns:a16="http://schemas.microsoft.com/office/drawing/2014/main" id="{F16C1DD3-8136-6F0D-D12C-9A31D83A459F}"/>
              </a:ext>
            </a:extLst>
          </p:cNvPr>
          <p:cNvCxnSpPr>
            <a:cxnSpLocks/>
          </p:cNvCxnSpPr>
          <p:nvPr/>
        </p:nvCxnSpPr>
        <p:spPr>
          <a:xfrm flipV="1">
            <a:off x="7044" y="751705"/>
            <a:ext cx="9990396" cy="1"/>
          </a:xfrm>
          <a:prstGeom prst="line">
            <a:avLst/>
          </a:prstGeom>
          <a:ln w="444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87755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Customer review with solid fill">
            <a:extLst>
              <a:ext uri="{FF2B5EF4-FFF2-40B4-BE49-F238E27FC236}">
                <a16:creationId xmlns:a16="http://schemas.microsoft.com/office/drawing/2014/main" id="{679F8DC7-F378-4198-8A9F-92C0EB862367}"/>
              </a:ext>
            </a:extLst>
          </p:cNvPr>
          <p:cNvPicPr>
            <a:picLocks noChangeAspect="1"/>
          </p:cNvPicPr>
          <p:nvPr/>
        </p:nvPicPr>
        <p:blipFill>
          <a:blip r:embed="rId3">
            <a:alphaModFix amt="4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2123440" cy="2123440"/>
          </a:xfrm>
          <a:prstGeom prst="rect">
            <a:avLst/>
          </a:prstGeom>
        </p:spPr>
      </p:pic>
      <p:pic>
        <p:nvPicPr>
          <p:cNvPr id="7" name="Graphic 6" descr="Downward trend graph with solid fill">
            <a:extLst>
              <a:ext uri="{FF2B5EF4-FFF2-40B4-BE49-F238E27FC236}">
                <a16:creationId xmlns:a16="http://schemas.microsoft.com/office/drawing/2014/main" id="{08700E19-E610-42FB-AF6C-69B1BB100E4E}"/>
              </a:ext>
            </a:extLst>
          </p:cNvPr>
          <p:cNvPicPr>
            <a:picLocks noChangeAspect="1"/>
          </p:cNvPicPr>
          <p:nvPr/>
        </p:nvPicPr>
        <p:blipFill>
          <a:blip r:embed="rId5">
            <a:alphaModFix amt="2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68560" y="-243840"/>
            <a:ext cx="2367280" cy="2367280"/>
          </a:xfrm>
          <a:prstGeom prst="rect">
            <a:avLst/>
          </a:prstGeom>
        </p:spPr>
      </p:pic>
      <p:grpSp>
        <p:nvGrpSpPr>
          <p:cNvPr id="13" name="Group 12">
            <a:extLst>
              <a:ext uri="{FF2B5EF4-FFF2-40B4-BE49-F238E27FC236}">
                <a16:creationId xmlns:a16="http://schemas.microsoft.com/office/drawing/2014/main" id="{86ACE3CA-23EA-4837-97BE-D87EA58161B6}"/>
              </a:ext>
            </a:extLst>
          </p:cNvPr>
          <p:cNvGrpSpPr/>
          <p:nvPr/>
        </p:nvGrpSpPr>
        <p:grpSpPr>
          <a:xfrm>
            <a:off x="80374" y="94171"/>
            <a:ext cx="6911915" cy="491045"/>
            <a:chOff x="7048" y="384689"/>
            <a:chExt cx="3082641" cy="644839"/>
          </a:xfrm>
        </p:grpSpPr>
        <p:sp>
          <p:nvSpPr>
            <p:cNvPr id="14" name="TextBox 13">
              <a:extLst>
                <a:ext uri="{FF2B5EF4-FFF2-40B4-BE49-F238E27FC236}">
                  <a16:creationId xmlns:a16="http://schemas.microsoft.com/office/drawing/2014/main" id="{031086C6-6DFE-42FF-AC05-E5735FC70B9C}"/>
                </a:ext>
              </a:extLst>
            </p:cNvPr>
            <p:cNvSpPr txBox="1"/>
            <p:nvPr/>
          </p:nvSpPr>
          <p:spPr>
            <a:xfrm>
              <a:off x="11205" y="384689"/>
              <a:ext cx="3078484" cy="606257"/>
            </a:xfrm>
            <a:prstGeom prst="rect">
              <a:avLst/>
            </a:prstGeom>
            <a:noFill/>
          </p:spPr>
          <p:txBody>
            <a:bodyPr wrap="square" rtlCol="0">
              <a:spAutoFit/>
            </a:bodyPr>
            <a:lstStyle/>
            <a:p>
              <a:r>
                <a:rPr lang="en-US" sz="2400" dirty="0">
                  <a:solidFill>
                    <a:srgbClr val="084795"/>
                  </a:solidFill>
                  <a:latin typeface="Roboto" panose="02000000000000000000" pitchFamily="2" charset="0"/>
                  <a:ea typeface="Roboto" panose="02000000000000000000" pitchFamily="2" charset="0"/>
                </a:rPr>
                <a:t>CA Equity Grid Assessment  </a:t>
              </a:r>
              <a:r>
                <a:rPr lang="en-US" dirty="0">
                  <a:solidFill>
                    <a:srgbClr val="084795"/>
                  </a:solidFill>
                  <a:latin typeface="Roboto" panose="02000000000000000000" pitchFamily="2" charset="0"/>
                  <a:ea typeface="Roboto" panose="02000000000000000000" pitchFamily="2" charset="0"/>
                </a:rPr>
                <a:t>(As on 31</a:t>
              </a:r>
              <a:r>
                <a:rPr lang="en-US" baseline="30000" dirty="0">
                  <a:solidFill>
                    <a:srgbClr val="084795"/>
                  </a:solidFill>
                  <a:latin typeface="Roboto" panose="02000000000000000000" pitchFamily="2" charset="0"/>
                  <a:ea typeface="Roboto" panose="02000000000000000000" pitchFamily="2" charset="0"/>
                </a:rPr>
                <a:t>st</a:t>
              </a:r>
              <a:r>
                <a:rPr lang="en-US" dirty="0">
                  <a:solidFill>
                    <a:srgbClr val="084795"/>
                  </a:solidFill>
                  <a:latin typeface="Roboto" panose="02000000000000000000" pitchFamily="2" charset="0"/>
                  <a:ea typeface="Roboto" panose="02000000000000000000" pitchFamily="2" charset="0"/>
                </a:rPr>
                <a:t> May’25)</a:t>
              </a:r>
              <a:endParaRPr lang="en-US" sz="2400" dirty="0">
                <a:solidFill>
                  <a:srgbClr val="084795"/>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49733806-21EE-4AAC-B1E7-135D03D22E0B}"/>
                </a:ext>
              </a:extLst>
            </p:cNvPr>
            <p:cNvCxnSpPr>
              <a:cxnSpLocks/>
            </p:cNvCxnSpPr>
            <p:nvPr/>
          </p:nvCxnSpPr>
          <p:spPr>
            <a:xfrm>
              <a:off x="7048" y="1029528"/>
              <a:ext cx="2951235" cy="0"/>
            </a:xfrm>
            <a:prstGeom prst="line">
              <a:avLst/>
            </a:prstGeom>
            <a:ln w="44450"/>
          </p:spPr>
          <p:style>
            <a:lnRef idx="1">
              <a:schemeClr val="accent1"/>
            </a:lnRef>
            <a:fillRef idx="0">
              <a:schemeClr val="accent1"/>
            </a:fillRef>
            <a:effectRef idx="0">
              <a:schemeClr val="accent1"/>
            </a:effectRef>
            <a:fontRef idx="minor">
              <a:schemeClr val="tx1"/>
            </a:fontRef>
          </p:style>
        </p:cxnSp>
      </p:grpSp>
      <p:pic>
        <p:nvPicPr>
          <p:cNvPr id="21" name="Picture 20">
            <a:extLst>
              <a:ext uri="{FF2B5EF4-FFF2-40B4-BE49-F238E27FC236}">
                <a16:creationId xmlns:a16="http://schemas.microsoft.com/office/drawing/2014/main" id="{A33BF976-097A-4D7E-8C94-F0E65554861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1485983" y="79892"/>
            <a:ext cx="625643" cy="584930"/>
          </a:xfrm>
          <a:prstGeom prst="rect">
            <a:avLst/>
          </a:prstGeom>
        </p:spPr>
      </p:pic>
      <p:graphicFrame>
        <p:nvGraphicFramePr>
          <p:cNvPr id="9" name="Content Placeholder 3">
            <a:extLst>
              <a:ext uri="{FF2B5EF4-FFF2-40B4-BE49-F238E27FC236}">
                <a16:creationId xmlns:a16="http://schemas.microsoft.com/office/drawing/2014/main" id="{21D91431-207C-4533-B3E1-6716C802B8CF}"/>
              </a:ext>
            </a:extLst>
          </p:cNvPr>
          <p:cNvGraphicFramePr>
            <a:graphicFrameLocks/>
          </p:cNvGraphicFramePr>
          <p:nvPr/>
        </p:nvGraphicFramePr>
        <p:xfrm>
          <a:off x="80374" y="711389"/>
          <a:ext cx="11962274" cy="5774913"/>
        </p:xfrm>
        <a:graphic>
          <a:graphicData uri="http://schemas.openxmlformats.org/drawingml/2006/table">
            <a:tbl>
              <a:tblPr/>
              <a:tblGrid>
                <a:gridCol w="1372720">
                  <a:extLst>
                    <a:ext uri="{9D8B030D-6E8A-4147-A177-3AD203B41FA5}">
                      <a16:colId xmlns:a16="http://schemas.microsoft.com/office/drawing/2014/main" val="20000"/>
                    </a:ext>
                  </a:extLst>
                </a:gridCol>
                <a:gridCol w="981496">
                  <a:extLst>
                    <a:ext uri="{9D8B030D-6E8A-4147-A177-3AD203B41FA5}">
                      <a16:colId xmlns:a16="http://schemas.microsoft.com/office/drawing/2014/main" val="20001"/>
                    </a:ext>
                  </a:extLst>
                </a:gridCol>
                <a:gridCol w="9608058">
                  <a:extLst>
                    <a:ext uri="{9D8B030D-6E8A-4147-A177-3AD203B41FA5}">
                      <a16:colId xmlns:a16="http://schemas.microsoft.com/office/drawing/2014/main" val="20002"/>
                    </a:ext>
                  </a:extLst>
                </a:gridCol>
              </a:tblGrid>
              <a:tr h="171408">
                <a:tc gridSpan="3">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US" sz="1000" b="1" i="0" u="none" strike="noStrike" dirty="0">
                          <a:solidFill>
                            <a:srgbClr val="FFFFFF"/>
                          </a:solidFill>
                          <a:latin typeface="Calibri"/>
                        </a:rPr>
                        <a:t>Equity Assessment Grid</a:t>
                      </a:r>
                      <a:endParaRPr lang="en-IN" sz="1000" b="1" i="0" u="none" strike="noStrike" dirty="0">
                        <a:solidFill>
                          <a:srgbClr val="FFFFFF"/>
                        </a:solidFill>
                        <a:latin typeface="Calibri"/>
                      </a:endParaRP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00A284"/>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171408">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1" i="0" u="none" strike="noStrike" dirty="0">
                          <a:solidFill>
                            <a:srgbClr val="000000"/>
                          </a:solidFill>
                          <a:latin typeface="Calibri"/>
                        </a:rPr>
                        <a:t>Grid-Factors</a:t>
                      </a:r>
                    </a:p>
                  </a:txBody>
                  <a:tcPr marL="5966" marR="5966" marT="5964" marB="0" anchor="ctr">
                    <a:lnL>
                      <a:noFill/>
                    </a:lnL>
                    <a:lnR>
                      <a:noFill/>
                    </a:lnR>
                    <a:lnT>
                      <a:noFill/>
                    </a:lnT>
                    <a:lnB>
                      <a:no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1" i="0" u="none" strike="noStrike" dirty="0">
                          <a:solidFill>
                            <a:srgbClr val="000000"/>
                          </a:solidFill>
                          <a:latin typeface="Calibri"/>
                        </a:rPr>
                        <a:t>Assessment </a:t>
                      </a:r>
                    </a:p>
                  </a:txBody>
                  <a:tcPr marL="5966" marR="5966" marT="5964" marB="0" anchor="ctr">
                    <a:lnL>
                      <a:noFill/>
                    </a:lnL>
                    <a:lnR>
                      <a:noFill/>
                    </a:lnR>
                    <a:lnT>
                      <a:noFill/>
                    </a:lnT>
                    <a:lnB>
                      <a:no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1" i="0" u="none" strike="noStrike" dirty="0">
                          <a:solidFill>
                            <a:srgbClr val="000000"/>
                          </a:solidFill>
                          <a:latin typeface="Calibri"/>
                        </a:rPr>
                        <a:t>Comments</a:t>
                      </a:r>
                    </a:p>
                  </a:txBody>
                  <a:tcPr marL="5966" marR="5966" marT="5964" marB="0" anchor="ctr">
                    <a:lnL>
                      <a:noFill/>
                    </a:lnL>
                    <a:lnR>
                      <a:noFill/>
                    </a:lnR>
                    <a:lnT>
                      <a:noFill/>
                    </a:lnT>
                    <a:lnB>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1321781">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0" i="0" u="none" strike="noStrike" dirty="0">
                          <a:solidFill>
                            <a:srgbClr val="000000"/>
                          </a:solidFill>
                          <a:latin typeface="Calibri"/>
                        </a:rPr>
                        <a:t>Domestic Economic </a:t>
                      </a:r>
                    </a:p>
                    <a:p>
                      <a:pPr algn="ctr" fontAlgn="ctr"/>
                      <a:r>
                        <a:rPr lang="en-IN" sz="1000" b="0" i="0" u="none" strike="noStrike" dirty="0">
                          <a:solidFill>
                            <a:srgbClr val="000000"/>
                          </a:solidFill>
                          <a:latin typeface="Calibri"/>
                        </a:rPr>
                        <a:t>Cycle</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lvl="0" algn="ctr" fontAlgn="ctr"/>
                      <a:r>
                        <a:rPr lang="en-IN" sz="1000" b="0" i="0" u="none" strike="noStrike" dirty="0">
                          <a:solidFill>
                            <a:srgbClr val="000000"/>
                          </a:solidFill>
                          <a:latin typeface="Calibri"/>
                        </a:rPr>
                        <a:t>Neutral</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indent="-228600" algn="l" defTabSz="914400" rtl="0" eaLnBrk="1" fontAlgn="ctr" latinLnBrk="0" hangingPunct="1">
                        <a:buFont typeface="Wingdings" pitchFamily="2" charset="2"/>
                        <a:buChar char="v"/>
                      </a:pPr>
                      <a:r>
                        <a:rPr lang="en-GB" sz="1000" b="0" i="0" u="none" strike="noStrike" kern="1200" baseline="0" dirty="0">
                          <a:solidFill>
                            <a:schemeClr val="tx1"/>
                          </a:solidFill>
                          <a:latin typeface="Calibri" panose="020F0502020204030204" pitchFamily="34" charset="0"/>
                          <a:ea typeface="Roboto Condensed Light"/>
                          <a:cs typeface="+mn-cs"/>
                        </a:rPr>
                        <a:t>Economic Growth: </a:t>
                      </a:r>
                      <a:r>
                        <a:rPr lang="en-US" sz="1000" b="0" i="0" u="none" strike="noStrike" kern="1200" baseline="0" dirty="0">
                          <a:solidFill>
                            <a:schemeClr val="tx1"/>
                          </a:solidFill>
                          <a:latin typeface="Calibri" panose="020F0502020204030204" pitchFamily="34" charset="0"/>
                          <a:ea typeface="Roboto Condensed Light"/>
                          <a:cs typeface="+mn-cs"/>
                        </a:rPr>
                        <a:t>India’s economy grew by 7.4% in Q4 FY’25, driven by robust consumption activity, accelerated investment, and a strong trade surplus. Gross Fixed Capital Formation (GFCF) rose by 9.4%, led by a 33.1% increase in central government spending to meet its capex targets. Private Final Consumption Expenditure (PFCE) expanded by 6.0% (YoY), slightly below the 6.2% growth recorded in the last FY.</a:t>
                      </a:r>
                      <a:endParaRPr lang="en-GB" sz="1000" b="0" i="0" u="none" strike="noStrike" kern="1200" baseline="0" dirty="0">
                        <a:solidFill>
                          <a:schemeClr val="tx1"/>
                        </a:solidFill>
                        <a:latin typeface="Calibri" panose="020F0502020204030204" pitchFamily="34" charset="0"/>
                        <a:ea typeface="Roboto Condensed Light"/>
                        <a:cs typeface="+mn-cs"/>
                      </a:endParaRPr>
                    </a:p>
                    <a:p>
                      <a:pPr marL="228600" indent="-228600" algn="l" defTabSz="914400" rtl="0" eaLnBrk="1" fontAlgn="ctr" latinLnBrk="0" hangingPunct="1">
                        <a:buFont typeface="Wingdings" pitchFamily="2" charset="2"/>
                        <a:buChar char="v"/>
                      </a:pPr>
                      <a:r>
                        <a:rPr lang="en-GB" sz="1000" b="1" i="0" u="none" strike="noStrike" kern="1200" baseline="0" dirty="0">
                          <a:solidFill>
                            <a:schemeClr val="tx1"/>
                          </a:solidFill>
                          <a:latin typeface="Calibri" panose="020F0502020204030204" pitchFamily="34" charset="0"/>
                          <a:ea typeface="Roboto Condensed Light"/>
                          <a:cs typeface="+mn-cs"/>
                        </a:rPr>
                        <a:t>Outlook</a:t>
                      </a:r>
                      <a:r>
                        <a:rPr lang="en-GB" sz="1000" b="0" i="0" u="none" strike="noStrike" kern="1200" baseline="0" dirty="0">
                          <a:solidFill>
                            <a:schemeClr val="tx1"/>
                          </a:solidFill>
                          <a:latin typeface="Calibri" panose="020F0502020204030204" pitchFamily="34" charset="0"/>
                          <a:ea typeface="Roboto Condensed Light"/>
                          <a:cs typeface="+mn-cs"/>
                        </a:rPr>
                        <a:t>: </a:t>
                      </a:r>
                      <a:r>
                        <a:rPr lang="en-US" sz="1000" b="0" i="0" u="none" strike="noStrike" kern="1200" baseline="0" dirty="0">
                          <a:solidFill>
                            <a:schemeClr val="tx1"/>
                          </a:solidFill>
                          <a:latin typeface="Calibri" panose="020F0502020204030204" pitchFamily="34" charset="0"/>
                          <a:ea typeface="Roboto Condensed Light"/>
                          <a:cs typeface="+mn-cs"/>
                        </a:rPr>
                        <a:t>Despite geopolitical tensions, India is expected to maintain its growth momentum, as highlighted in the Union Budget 2025, which emphasizes economic expansion through tax-based consumption incentives and export promotion, while ensuring fiscal prudence. The resumption of government spending post the election year further bolsters consumption, maintaining the GDP growth estimate at 6.3% for FY’26 and reflecting a constructive economic outlook.</a:t>
                      </a:r>
                      <a:endParaRPr lang="en-GB" sz="1000" b="0" i="0" u="none" strike="noStrike" kern="1200" baseline="0" dirty="0">
                        <a:solidFill>
                          <a:schemeClr val="tx1"/>
                        </a:solidFill>
                        <a:latin typeface="Calibri" panose="020F0502020204030204" pitchFamily="34" charset="0"/>
                        <a:ea typeface="Roboto Condensed Light"/>
                        <a:cs typeface="+mn-cs"/>
                      </a:endParaRP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668119">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0" i="0" u="none" strike="noStrike" dirty="0">
                          <a:solidFill>
                            <a:srgbClr val="000000"/>
                          </a:solidFill>
                          <a:latin typeface="Calibri"/>
                        </a:rPr>
                        <a:t>Monetary Policy </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lvl="0" indent="-228600" algn="ctr" defTabSz="914400" rtl="0" eaLnBrk="1" fontAlgn="ctr" latinLnBrk="0" hangingPunct="1">
                        <a:buNone/>
                      </a:pPr>
                      <a:r>
                        <a:rPr lang="en-IN" sz="1000" b="0" i="0" u="none" strike="noStrike" kern="1200" dirty="0">
                          <a:solidFill>
                            <a:srgbClr val="000000"/>
                          </a:solidFill>
                          <a:latin typeface="Calibri"/>
                          <a:ea typeface="+mn-ea"/>
                          <a:cs typeface="+mn-cs"/>
                        </a:rPr>
                        <a:t>Positive</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marR="0" lvl="0" indent="-228600" algn="l" defTabSz="914400" rtl="0" eaLnBrk="1" fontAlgn="ctr" latinLnBrk="0" hangingPunct="1">
                        <a:lnSpc>
                          <a:spcPct val="100000"/>
                        </a:lnSpc>
                        <a:spcBef>
                          <a:spcPts val="0"/>
                        </a:spcBef>
                        <a:spcAft>
                          <a:spcPts val="0"/>
                        </a:spcAft>
                        <a:buClrTx/>
                        <a:buSzTx/>
                        <a:buFont typeface="Wingdings" pitchFamily="2" charset="2"/>
                        <a:buChar char="v"/>
                        <a:tabLst/>
                        <a:defRPr/>
                      </a:pPr>
                      <a:r>
                        <a:rPr lang="en-GB" sz="1000" b="0" i="0" u="none" strike="noStrike" kern="1200" baseline="0" dirty="0">
                          <a:solidFill>
                            <a:schemeClr val="tx1"/>
                          </a:solidFill>
                          <a:latin typeface="Calibri" panose="020F0502020204030204" pitchFamily="34" charset="0"/>
                          <a:ea typeface="Roboto Condensed Light"/>
                          <a:cs typeface="+mn-cs"/>
                        </a:rPr>
                        <a:t>Stance: Neutral. CPI for April’25 stands at 3.16%, marking the sixth consecutive month of decline.</a:t>
                      </a:r>
                      <a:endParaRPr lang="en-IN" sz="1000" b="0" i="0" u="none" strike="noStrike" kern="1200" baseline="0" dirty="0">
                        <a:solidFill>
                          <a:schemeClr val="tx1"/>
                        </a:solidFill>
                        <a:latin typeface="Calibri" panose="020F0502020204030204" pitchFamily="34" charset="0"/>
                        <a:ea typeface="Roboto Condensed Light"/>
                        <a:cs typeface="+mn-cs"/>
                      </a:endParaRPr>
                    </a:p>
                    <a:p>
                      <a:pPr marL="228600" marR="0" lvl="0" indent="-228600" algn="just" defTabSz="914400" rtl="0" eaLnBrk="1" fontAlgn="ctr" latinLnBrk="0" hangingPunct="1">
                        <a:lnSpc>
                          <a:spcPct val="100000"/>
                        </a:lnSpc>
                        <a:spcBef>
                          <a:spcPts val="0"/>
                        </a:spcBef>
                        <a:spcAft>
                          <a:spcPts val="0"/>
                        </a:spcAft>
                        <a:buClrTx/>
                        <a:buSzTx/>
                        <a:buFont typeface="Wingdings" pitchFamily="2" charset="2"/>
                        <a:buChar char="v"/>
                        <a:tabLst/>
                        <a:defRPr/>
                      </a:pPr>
                      <a:r>
                        <a:rPr kumimoji="0" lang="en-IN" sz="1000" b="0" i="0" u="none" strike="noStrike" kern="1200" cap="none" spc="0" normalizeH="0" baseline="0" noProof="0" dirty="0">
                          <a:ln>
                            <a:noFill/>
                          </a:ln>
                          <a:solidFill>
                            <a:srgbClr val="000000"/>
                          </a:solidFill>
                          <a:effectLst/>
                          <a:uLnTx/>
                          <a:uFillTx/>
                          <a:latin typeface="Calibri" panose="020F0502020204030204" pitchFamily="34" charset="0"/>
                          <a:ea typeface="Roboto Condensed Light"/>
                          <a:cs typeface="+mn-cs"/>
                        </a:rPr>
                        <a:t>In June’25, RBI </a:t>
                      </a:r>
                      <a:r>
                        <a:rPr lang="en-GB" sz="1000" b="0" i="0" u="none" strike="noStrike" kern="1200" baseline="0" dirty="0">
                          <a:solidFill>
                            <a:schemeClr val="tx1"/>
                          </a:solidFill>
                          <a:latin typeface="Calibri" panose="020F0502020204030204" pitchFamily="34" charset="0"/>
                          <a:ea typeface="Roboto Condensed Light"/>
                          <a:cs typeface="+mn-cs"/>
                        </a:rPr>
                        <a:t>reduced the repo rate by another 50 bps to 5.50% to support economic growth and counter any slowdown amid global geopolitical uncertainty </a:t>
                      </a:r>
                      <a:r>
                        <a:rPr lang="en-US" sz="1000" b="0" i="0" u="none" strike="noStrike" kern="1200" baseline="0" dirty="0">
                          <a:solidFill>
                            <a:schemeClr val="tx1"/>
                          </a:solidFill>
                          <a:latin typeface="Calibri" panose="020F0502020204030204" pitchFamily="34" charset="0"/>
                          <a:ea typeface="Roboto Condensed Light"/>
                          <a:cs typeface="+mn-cs"/>
                        </a:rPr>
                        <a:t>With inflation for FY’26 expected to moderate at 3.9%, and the shift in stance from “Accommodative” to “Neutral,” the scope for further rate cuts is limited.</a:t>
                      </a:r>
                      <a:endParaRPr lang="en-GB" sz="1000" b="0" i="0" u="none" strike="noStrike" kern="1200" baseline="0" dirty="0">
                        <a:solidFill>
                          <a:schemeClr val="tx1"/>
                        </a:solidFill>
                        <a:latin typeface="Calibri" panose="020F0502020204030204" pitchFamily="34" charset="0"/>
                        <a:ea typeface="Roboto Condensed Light"/>
                        <a:cs typeface="+mn-cs"/>
                      </a:endParaRP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3"/>
                  </a:ext>
                </a:extLst>
              </a:tr>
              <a:tr h="1284827">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0" i="0" u="none" strike="noStrike" dirty="0">
                          <a:solidFill>
                            <a:srgbClr val="000000"/>
                          </a:solidFill>
                          <a:latin typeface="Calibri"/>
                        </a:rPr>
                        <a:t>Global Economic </a:t>
                      </a:r>
                    </a:p>
                    <a:p>
                      <a:pPr algn="ctr" fontAlgn="ctr"/>
                      <a:r>
                        <a:rPr lang="en-IN" sz="1000" b="0" i="0" u="none" strike="noStrike" dirty="0">
                          <a:solidFill>
                            <a:srgbClr val="000000"/>
                          </a:solidFill>
                          <a:latin typeface="Calibri"/>
                        </a:rPr>
                        <a:t>Cycle</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lvl="0" indent="-228600" algn="ctr" defTabSz="914400" rtl="0" eaLnBrk="1" fontAlgn="ctr" latinLnBrk="0" hangingPunct="1">
                        <a:buNone/>
                      </a:pPr>
                      <a:r>
                        <a:rPr lang="en-IN" sz="1000" b="0" i="0" u="none" strike="noStrike" kern="1200" dirty="0">
                          <a:solidFill>
                            <a:srgbClr val="FF0000"/>
                          </a:solidFill>
                          <a:latin typeface="Calibri"/>
                          <a:ea typeface="+mn-ea"/>
                          <a:cs typeface="+mn-cs"/>
                        </a:rPr>
                        <a:t>  </a:t>
                      </a:r>
                      <a:r>
                        <a:rPr lang="en-IN" sz="1000" b="0" i="0" u="none" strike="noStrike" kern="1200" dirty="0">
                          <a:solidFill>
                            <a:schemeClr val="tx1"/>
                          </a:solidFill>
                          <a:latin typeface="Calibri"/>
                          <a:ea typeface="+mn-ea"/>
                          <a:cs typeface="+mn-cs"/>
                        </a:rPr>
                        <a:t>Underweight</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marR="0" lvl="0" indent="-228600" algn="just" defTabSz="914400" rtl="0" eaLnBrk="1" fontAlgn="ctr" latinLnBrk="0" hangingPunct="1">
                        <a:lnSpc>
                          <a:spcPct val="100000"/>
                        </a:lnSpc>
                        <a:spcBef>
                          <a:spcPts val="0"/>
                        </a:spcBef>
                        <a:spcAft>
                          <a:spcPts val="0"/>
                        </a:spcAft>
                        <a:buClrTx/>
                        <a:buSzTx/>
                        <a:buFont typeface="Wingdings" pitchFamily="2" charset="2"/>
                        <a:buChar char="v"/>
                        <a:tabLst/>
                        <a:defRPr/>
                      </a:pPr>
                      <a:r>
                        <a:rPr lang="en-GB" sz="1000" b="0" i="0" u="none" strike="noStrike" kern="1200" baseline="0" dirty="0">
                          <a:solidFill>
                            <a:schemeClr val="tx1"/>
                          </a:solidFill>
                          <a:latin typeface="Calibri" panose="020F0502020204030204" pitchFamily="34" charset="0"/>
                          <a:ea typeface="Roboto Condensed Light"/>
                          <a:cs typeface="+mn-cs"/>
                        </a:rPr>
                        <a:t>Global Monetary Policy: Central banks are easing policy unevenly, with global inflation projected at 3.9% </a:t>
                      </a:r>
                      <a:r>
                        <a:rPr lang="en-US" sz="1000" b="0" i="0" u="none" strike="noStrike" kern="1200" baseline="0" dirty="0">
                          <a:solidFill>
                            <a:schemeClr val="tx1"/>
                          </a:solidFill>
                          <a:latin typeface="Calibri" panose="020F0502020204030204" pitchFamily="34" charset="0"/>
                          <a:ea typeface="Roboto Condensed Light"/>
                          <a:cs typeface="+mn-cs"/>
                        </a:rPr>
                        <a:t>In June’25, the European Central Bank (ECB) cut rates by 25 bps—the sixth cut this year—bringing the deposit facility rate to 2.0%. The U.S. Federal Reserve held rates steady in its May’25 meeting amid slowing consumption and stubborn inflation, largely due to tariffs. The Bank of Japan sharply downgraded its growth forecast from 1.1% to 0.5% due to tariff uncertainties, keeping its rate steady at 0.5%.</a:t>
                      </a:r>
                      <a:endParaRPr lang="en-IN" sz="1000" b="0" i="0" u="none" strike="noStrike" kern="1200" baseline="0" dirty="0">
                        <a:solidFill>
                          <a:schemeClr val="tx1"/>
                        </a:solidFill>
                        <a:latin typeface="Calibri" panose="020F0502020204030204" pitchFamily="34" charset="0"/>
                        <a:ea typeface="Roboto Condensed Light"/>
                        <a:cs typeface="+mn-cs"/>
                      </a:endParaRPr>
                    </a:p>
                    <a:p>
                      <a:pPr marL="228600" marR="0" lvl="0" indent="-228600" algn="just" defTabSz="914400" rtl="0" eaLnBrk="1" fontAlgn="ctr" latinLnBrk="0" hangingPunct="1">
                        <a:lnSpc>
                          <a:spcPct val="100000"/>
                        </a:lnSpc>
                        <a:spcBef>
                          <a:spcPts val="0"/>
                        </a:spcBef>
                        <a:spcAft>
                          <a:spcPts val="0"/>
                        </a:spcAft>
                        <a:buClrTx/>
                        <a:buSzTx/>
                        <a:buFont typeface="Wingdings" pitchFamily="2" charset="2"/>
                        <a:buChar char="v"/>
                        <a:tabLst/>
                        <a:defRPr/>
                      </a:pPr>
                      <a:r>
                        <a:rPr lang="en-GB" sz="1000" b="0" i="0" u="none" strike="noStrike" kern="1200" baseline="0" dirty="0">
                          <a:solidFill>
                            <a:schemeClr val="tx1"/>
                          </a:solidFill>
                          <a:latin typeface="Calibri" panose="020F0502020204030204" pitchFamily="34" charset="0"/>
                          <a:ea typeface="Roboto Condensed Light"/>
                          <a:cs typeface="+mn-cs"/>
                        </a:rPr>
                        <a:t>Global Economic Outlook: </a:t>
                      </a:r>
                      <a:r>
                        <a:rPr lang="en-US" sz="1000" b="0" i="0" u="none" strike="noStrike" kern="1200" baseline="0" dirty="0">
                          <a:solidFill>
                            <a:schemeClr val="tx1"/>
                          </a:solidFill>
                          <a:latin typeface="Calibri" panose="020F0502020204030204" pitchFamily="34" charset="0"/>
                          <a:ea typeface="Roboto Condensed Light"/>
                          <a:cs typeface="+mn-cs"/>
                        </a:rPr>
                        <a:t>Global growth is projected at 2.7% for CY’25. The U.S. outlook has been revised down to 1.4%, affected by declining consumer confidence, weak manufacturing, policy uncertainty, and persistent inflation. Q1 CY’25 GDP contracted by 0.3% QoQ, due to high imports and reduced government expenditure. The Euro Area remains sluggish, with projected growth at 0.8%, constrained by geopolitical instability. China continues to face structural challenges and remains dependent on policy support for sustaining growth.</a:t>
                      </a:r>
                      <a:endParaRPr lang="en-GB" sz="1000" b="0" i="0" u="none" strike="noStrike" kern="1200" baseline="0" dirty="0">
                        <a:solidFill>
                          <a:schemeClr val="tx1"/>
                        </a:solidFill>
                        <a:latin typeface="Calibri" panose="020F0502020204030204" pitchFamily="34" charset="0"/>
                        <a:ea typeface="Roboto Condensed Light"/>
                        <a:cs typeface="+mn-cs"/>
                      </a:endParaRP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076445">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0" i="0" u="none" strike="noStrike" dirty="0">
                          <a:solidFill>
                            <a:srgbClr val="000000"/>
                          </a:solidFill>
                          <a:latin typeface="Calibri"/>
                        </a:rPr>
                        <a:t>Earnings Cycle</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0" marR="0" lvl="0" indent="0" algn="ctr" defTabSz="914400" rtl="0" eaLnBrk="1" fontAlgn="ctr" latinLnBrk="0" hangingPunct="1">
                        <a:lnSpc>
                          <a:spcPct val="100000"/>
                        </a:lnSpc>
                        <a:spcBef>
                          <a:spcPts val="0"/>
                        </a:spcBef>
                        <a:spcAft>
                          <a:spcPts val="0"/>
                        </a:spcAft>
                        <a:buClrTx/>
                        <a:buSzTx/>
                        <a:buFont typeface="Wingdings" pitchFamily="2" charset="2"/>
                        <a:buNone/>
                        <a:tabLst/>
                        <a:defRPr/>
                      </a:pPr>
                      <a:r>
                        <a:rPr lang="en-US" sz="1000" b="0" i="0" u="none" strike="noStrike" kern="1200" baseline="0" dirty="0">
                          <a:solidFill>
                            <a:schemeClr val="tx1"/>
                          </a:solidFill>
                          <a:latin typeface="Calibri" panose="020F0502020204030204" pitchFamily="34" charset="0"/>
                          <a:ea typeface="Roboto Condensed Light"/>
                          <a:cs typeface="+mn-cs"/>
                        </a:rPr>
                        <a:t>Ne</a:t>
                      </a:r>
                      <a:r>
                        <a:rPr lang="en-US" sz="1000" b="0" i="0" u="none" strike="noStrike" kern="1200" dirty="0">
                          <a:solidFill>
                            <a:srgbClr val="000000"/>
                          </a:solidFill>
                          <a:latin typeface="Calibri"/>
                          <a:ea typeface="+mn-ea"/>
                          <a:cs typeface="+mn-cs"/>
                        </a:rPr>
                        <a:t>utral</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marR="0" lvl="0" indent="-228600" algn="just" defTabSz="914400" rtl="0" eaLnBrk="1" fontAlgn="ctr" latinLnBrk="0" hangingPunct="1">
                        <a:lnSpc>
                          <a:spcPct val="100000"/>
                        </a:lnSpc>
                        <a:spcBef>
                          <a:spcPts val="0"/>
                        </a:spcBef>
                        <a:spcAft>
                          <a:spcPts val="0"/>
                        </a:spcAft>
                        <a:buClrTx/>
                        <a:buSzTx/>
                        <a:buFont typeface="Wingdings" pitchFamily="2" charset="2"/>
                        <a:buChar char="v"/>
                        <a:tabLst/>
                        <a:defRPr/>
                      </a:pPr>
                      <a:r>
                        <a:rPr lang="en-US" sz="1000" b="0" i="0" u="none" strike="noStrike" kern="1200" baseline="0" dirty="0">
                          <a:solidFill>
                            <a:schemeClr val="tx1"/>
                          </a:solidFill>
                          <a:latin typeface="Calibri" panose="020F0502020204030204" pitchFamily="34" charset="0"/>
                          <a:ea typeface="Roboto Condensed Light"/>
                          <a:cs typeface="+mn-cs"/>
                        </a:rPr>
                        <a:t>Sensex earnings grew by ~3.3% in FY’25, impacted by soft private consumption, muted government spending, and sector-specific issues. The IT sector showed signs of revival, but FMCG struggled with inflation and weak consumer demand, while materials and utilities faced supply-side and regulatory challenges.</a:t>
                      </a:r>
                      <a:endParaRPr lang="en-IN" sz="1000" b="0" i="0" u="none" strike="noStrike" kern="1200" baseline="0" dirty="0">
                        <a:solidFill>
                          <a:schemeClr val="tx1"/>
                        </a:solidFill>
                        <a:latin typeface="Calibri" panose="020F0502020204030204" pitchFamily="34" charset="0"/>
                        <a:ea typeface="Roboto Condensed Light"/>
                        <a:cs typeface="+mn-cs"/>
                      </a:endParaRPr>
                    </a:p>
                    <a:p>
                      <a:pPr marL="228600" marR="0" lvl="0" indent="-228600" algn="just" defTabSz="914400" rtl="0" eaLnBrk="1" fontAlgn="ctr" latinLnBrk="0" hangingPunct="1">
                        <a:lnSpc>
                          <a:spcPct val="100000"/>
                        </a:lnSpc>
                        <a:spcBef>
                          <a:spcPts val="0"/>
                        </a:spcBef>
                        <a:spcAft>
                          <a:spcPts val="0"/>
                        </a:spcAft>
                        <a:buClrTx/>
                        <a:buSzTx/>
                        <a:buFont typeface="Wingdings" pitchFamily="2" charset="2"/>
                        <a:buChar char="v"/>
                        <a:tabLst/>
                        <a:defRPr/>
                      </a:pPr>
                      <a:r>
                        <a:rPr lang="en-US" sz="1000" b="0" i="0" u="none" strike="noStrike" kern="1200" baseline="0" dirty="0">
                          <a:solidFill>
                            <a:schemeClr val="tx1"/>
                          </a:solidFill>
                          <a:latin typeface="Calibri" panose="020F0502020204030204" pitchFamily="34" charset="0"/>
                          <a:ea typeface="Roboto Condensed Light"/>
                          <a:cs typeface="+mn-cs"/>
                        </a:rPr>
                        <a:t>Earnings are expected to rebound in FY26, as reflected in the Bloomberg consensus earnings stands at 12.9%. Key drivers include a </a:t>
                      </a:r>
                      <a:r>
                        <a:rPr lang="en-US" sz="1000" b="0" i="0" u="none" strike="noStrike" kern="1200" baseline="0" dirty="0" err="1">
                          <a:solidFill>
                            <a:schemeClr val="tx1"/>
                          </a:solidFill>
                          <a:latin typeface="Calibri" panose="020F0502020204030204" pitchFamily="34" charset="0"/>
                          <a:ea typeface="Roboto Condensed Light"/>
                          <a:cs typeface="+mn-cs"/>
                        </a:rPr>
                        <a:t>favourable</a:t>
                      </a:r>
                      <a:r>
                        <a:rPr lang="en-US" sz="1000" b="0" i="0" u="none" strike="noStrike" kern="1200" baseline="0" dirty="0">
                          <a:solidFill>
                            <a:schemeClr val="tx1"/>
                          </a:solidFill>
                          <a:latin typeface="Calibri" panose="020F0502020204030204" pitchFamily="34" charset="0"/>
                          <a:ea typeface="Roboto Condensed Light"/>
                          <a:cs typeface="+mn-cs"/>
                        </a:rPr>
                        <a:t> lower base effect from FY25, potential monetary policy easing due to declining inflation, strong rural demand supported by government initiatives and robust crop yields, and increased consumer spending driven by announced tax cuts and a consumption-led budget, reinforcing a positive outlook on earnings.</a:t>
                      </a:r>
                      <a:endParaRPr lang="en-IN" sz="1000" b="0" i="0" u="none" strike="noStrike" kern="1200" baseline="0" dirty="0">
                        <a:solidFill>
                          <a:schemeClr val="tx1"/>
                        </a:solidFill>
                        <a:latin typeface="Calibri" panose="020F0502020204030204" pitchFamily="34" charset="0"/>
                        <a:ea typeface="Roboto Condensed Light"/>
                        <a:cs typeface="+mn-cs"/>
                      </a:endParaRP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5"/>
                  </a:ext>
                </a:extLst>
              </a:tr>
              <a:tr h="738109">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0" i="0" u="none" strike="noStrike" dirty="0">
                          <a:solidFill>
                            <a:srgbClr val="000000"/>
                          </a:solidFill>
                          <a:latin typeface="Calibri"/>
                        </a:rPr>
                        <a:t>Index Valuation</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lvl="0" algn="ctr" fontAlgn="ctr"/>
                      <a:r>
                        <a:rPr lang="en-IN" sz="1000" b="0" i="0" u="none" strike="noStrike" kern="1200" dirty="0">
                          <a:solidFill>
                            <a:schemeClr val="tx1"/>
                          </a:solidFill>
                          <a:latin typeface="Calibri" panose="020F0502020204030204" pitchFamily="34" charset="0"/>
                          <a:ea typeface="+mn-ea"/>
                          <a:cs typeface="+mn-cs"/>
                        </a:rPr>
                        <a:t>Neutral</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marR="0" lvl="0" indent="-228600" algn="l" defTabSz="914400" rtl="0" eaLnBrk="1" fontAlgn="ctr" latinLnBrk="0" hangingPunct="1">
                        <a:lnSpc>
                          <a:spcPct val="100000"/>
                        </a:lnSpc>
                        <a:spcBef>
                          <a:spcPts val="0"/>
                        </a:spcBef>
                        <a:spcAft>
                          <a:spcPts val="0"/>
                        </a:spcAft>
                        <a:buClrTx/>
                        <a:buSzTx/>
                        <a:buFont typeface="Wingdings" pitchFamily="2" charset="2"/>
                        <a:buChar char="v"/>
                        <a:tabLst/>
                        <a:defRPr/>
                      </a:pPr>
                      <a:r>
                        <a:rPr lang="en-IN" sz="1000" b="0" i="0" u="none" strike="noStrike" kern="1200" baseline="0" dirty="0">
                          <a:solidFill>
                            <a:schemeClr val="tx1"/>
                          </a:solidFill>
                          <a:latin typeface="Calibri" panose="020F0502020204030204" pitchFamily="34" charset="0"/>
                          <a:ea typeface="Roboto Condensed Light"/>
                          <a:cs typeface="+mn-cs"/>
                        </a:rPr>
                        <a:t>Market is neutral as measured by CA Propriety Valuation Models (Market Cap/GDP, P/B, P/E, and adjusted Yield-Gap ratio). </a:t>
                      </a:r>
                      <a:r>
                        <a:rPr lang="en-GB" sz="1000" b="0" i="0" u="none" strike="noStrike" kern="1200" baseline="0" dirty="0">
                          <a:solidFill>
                            <a:schemeClr val="tx1"/>
                          </a:solidFill>
                          <a:latin typeface="Calibri" panose="020F0502020204030204" pitchFamily="34" charset="0"/>
                          <a:ea typeface="Roboto Condensed Light"/>
                          <a:cs typeface="+mn-cs"/>
                        </a:rPr>
                        <a:t>Valuations of Indian equities varies, the Sensex P/E ratio is trading at an 8.27% discount to its 5-year averages. Meanwhile, Midcaps and Small Caps are trading at a premium of 23.1% and 5.1%, respectively. We maintain an underweight on the mid- and small-cap segments.</a:t>
                      </a:r>
                    </a:p>
                    <a:p>
                      <a:pPr marL="228600" marR="0" lvl="0" indent="-228600" algn="l" defTabSz="914400" rtl="0" eaLnBrk="1" fontAlgn="ctr" latinLnBrk="0" hangingPunct="1">
                        <a:lnSpc>
                          <a:spcPct val="100000"/>
                        </a:lnSpc>
                        <a:spcBef>
                          <a:spcPts val="0"/>
                        </a:spcBef>
                        <a:spcAft>
                          <a:spcPts val="0"/>
                        </a:spcAft>
                        <a:buClrTx/>
                        <a:buSzTx/>
                        <a:buFont typeface="Wingdings" pitchFamily="2" charset="2"/>
                        <a:buChar char="v"/>
                        <a:tabLst/>
                        <a:defRPr/>
                      </a:pPr>
                      <a:r>
                        <a:rPr lang="en-GB" sz="1000" b="0" i="0" u="none" strike="noStrike" kern="1200" baseline="0" dirty="0">
                          <a:solidFill>
                            <a:schemeClr val="tx1"/>
                          </a:solidFill>
                          <a:latin typeface="Calibri" panose="020F0502020204030204" pitchFamily="34" charset="0"/>
                          <a:ea typeface="Roboto Condensed Light"/>
                          <a:cs typeface="+mn-cs"/>
                        </a:rPr>
                        <a:t>We remain cautiously optimistic and recommend a staggered investment approach to navigate the current market dynamics.</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171408">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0" i="0" u="none" strike="noStrike" dirty="0">
                          <a:solidFill>
                            <a:srgbClr val="000000"/>
                          </a:solidFill>
                          <a:latin typeface="Calibri"/>
                        </a:rPr>
                        <a:t>Liquidity</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lvl="0" algn="ctr" fontAlgn="ctr"/>
                      <a:r>
                        <a:rPr lang="en-IN" sz="1000" b="0" i="0" u="none" strike="noStrike" kern="1200" dirty="0">
                          <a:solidFill>
                            <a:schemeClr val="tx1"/>
                          </a:solidFill>
                          <a:latin typeface="Calibri" panose="020F0502020204030204" pitchFamily="34" charset="0"/>
                          <a:ea typeface="+mn-ea"/>
                          <a:cs typeface="+mn-cs"/>
                        </a:rPr>
                        <a:t>Neutral</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marL="228600" indent="-228600" algn="l" defTabSz="914400" rtl="0" eaLnBrk="1" fontAlgn="ctr" latinLnBrk="0" hangingPunct="1">
                        <a:buFont typeface="Wingdings" pitchFamily="2" charset="2"/>
                        <a:buChar char="v"/>
                      </a:pPr>
                      <a:r>
                        <a:rPr lang="en-IN" sz="1000" b="0" i="0" u="none" strike="noStrike" kern="1200" dirty="0">
                          <a:solidFill>
                            <a:schemeClr val="tx1"/>
                          </a:solidFill>
                          <a:latin typeface="Calibri" panose="020F0502020204030204" pitchFamily="34" charset="0"/>
                          <a:ea typeface="+mn-ea"/>
                          <a:cs typeface="+mn-cs"/>
                        </a:rPr>
                        <a:t>After the recent inflows, FPI outflows for CY’25 (YTD) have moderated to ~0.97 lakh crores, whereas DII inflows remain robust at ~2.85 lakh cores during the same period. </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7"/>
                  </a:ext>
                </a:extLst>
              </a:tr>
              <a:tr h="171408">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1" i="0" u="none" strike="noStrike" dirty="0">
                          <a:solidFill>
                            <a:schemeClr val="bg1"/>
                          </a:solidFill>
                          <a:latin typeface="Calibri"/>
                        </a:rPr>
                        <a:t>Overall</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43A390"/>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1" i="0" u="none" strike="noStrike" dirty="0">
                          <a:solidFill>
                            <a:schemeClr val="bg1"/>
                          </a:solidFill>
                          <a:latin typeface="Calibri"/>
                        </a:rPr>
                        <a:t>CAE 3</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43A390"/>
                    </a:solidFill>
                  </a:tcPr>
                </a:tc>
                <a:tc>
                  <a:txBody>
                    <a:bodyPr/>
                    <a:lstStyle>
                      <a:lvl1pPr marL="0" algn="l" defTabSz="914400" rtl="0" eaLnBrk="1" latinLnBrk="1" hangingPunct="1">
                        <a:defRPr sz="1800" kern="1200">
                          <a:solidFill>
                            <a:schemeClr val="tx1"/>
                          </a:solidFill>
                          <a:latin typeface="Arial Narrow"/>
                          <a:ea typeface="Roboto Condensed Light"/>
                        </a:defRPr>
                      </a:lvl1pPr>
                      <a:lvl2pPr marL="457200" algn="l" defTabSz="914400" rtl="0" eaLnBrk="1" latinLnBrk="1" hangingPunct="1">
                        <a:defRPr sz="1800" kern="1200">
                          <a:solidFill>
                            <a:schemeClr val="tx1"/>
                          </a:solidFill>
                          <a:latin typeface="Arial Narrow"/>
                          <a:ea typeface="Roboto Condensed Light"/>
                        </a:defRPr>
                      </a:lvl2pPr>
                      <a:lvl3pPr marL="914400" algn="l" defTabSz="914400" rtl="0" eaLnBrk="1" latinLnBrk="1" hangingPunct="1">
                        <a:defRPr sz="1800" kern="1200">
                          <a:solidFill>
                            <a:schemeClr val="tx1"/>
                          </a:solidFill>
                          <a:latin typeface="Arial Narrow"/>
                          <a:ea typeface="Roboto Condensed Light"/>
                        </a:defRPr>
                      </a:lvl3pPr>
                      <a:lvl4pPr marL="1371600" algn="l" defTabSz="914400" rtl="0" eaLnBrk="1" latinLnBrk="1" hangingPunct="1">
                        <a:defRPr sz="1800" kern="1200">
                          <a:solidFill>
                            <a:schemeClr val="tx1"/>
                          </a:solidFill>
                          <a:latin typeface="Arial Narrow"/>
                          <a:ea typeface="Roboto Condensed Light"/>
                        </a:defRPr>
                      </a:lvl4pPr>
                      <a:lvl5pPr marL="1828800" algn="l" defTabSz="914400" rtl="0" eaLnBrk="1" latinLnBrk="1" hangingPunct="1">
                        <a:defRPr sz="1800" kern="1200">
                          <a:solidFill>
                            <a:schemeClr val="tx1"/>
                          </a:solidFill>
                          <a:latin typeface="Arial Narrow"/>
                          <a:ea typeface="Roboto Condensed Light"/>
                        </a:defRPr>
                      </a:lvl5pPr>
                      <a:lvl6pPr marL="2286000" algn="l" defTabSz="914400" rtl="0" eaLnBrk="1" latinLnBrk="1" hangingPunct="1">
                        <a:defRPr sz="1800" kern="1200">
                          <a:solidFill>
                            <a:schemeClr val="tx1"/>
                          </a:solidFill>
                          <a:latin typeface="Arial Narrow"/>
                          <a:ea typeface="Roboto Condensed Light"/>
                        </a:defRPr>
                      </a:lvl6pPr>
                      <a:lvl7pPr marL="2743200" algn="l" defTabSz="914400" rtl="0" eaLnBrk="1" latinLnBrk="1" hangingPunct="1">
                        <a:defRPr sz="1800" kern="1200">
                          <a:solidFill>
                            <a:schemeClr val="tx1"/>
                          </a:solidFill>
                          <a:latin typeface="Arial Narrow"/>
                          <a:ea typeface="Roboto Condensed Light"/>
                        </a:defRPr>
                      </a:lvl7pPr>
                      <a:lvl8pPr marL="3200400" algn="l" defTabSz="914400" rtl="0" eaLnBrk="1" latinLnBrk="1" hangingPunct="1">
                        <a:defRPr sz="1800" kern="1200">
                          <a:solidFill>
                            <a:schemeClr val="tx1"/>
                          </a:solidFill>
                          <a:latin typeface="Arial Narrow"/>
                          <a:ea typeface="Roboto Condensed Light"/>
                        </a:defRPr>
                      </a:lvl8pPr>
                      <a:lvl9pPr marL="3657600" algn="l" defTabSz="914400" rtl="0" eaLnBrk="1" latinLnBrk="1" hangingPunct="1">
                        <a:defRPr sz="1800" kern="1200">
                          <a:solidFill>
                            <a:schemeClr val="tx1"/>
                          </a:solidFill>
                          <a:latin typeface="Arial Narrow"/>
                          <a:ea typeface="Roboto Condensed Light"/>
                        </a:defRPr>
                      </a:lvl9pPr>
                    </a:lstStyle>
                    <a:p>
                      <a:pPr algn="ctr" fontAlgn="ctr"/>
                      <a:r>
                        <a:rPr lang="en-IN" sz="1000" b="1" i="0" u="none" strike="noStrike" dirty="0">
                          <a:solidFill>
                            <a:schemeClr val="bg1"/>
                          </a:solidFill>
                          <a:latin typeface="Calibri" panose="020F0502020204030204" pitchFamily="34" charset="0"/>
                        </a:rPr>
                        <a:t>Neutral</a:t>
                      </a:r>
                    </a:p>
                  </a:txBody>
                  <a:tcPr marL="5966" marR="5966" marT="5964" marB="0" anchor="ctr">
                    <a:lnL>
                      <a:noFill/>
                    </a:lnL>
                    <a:lnR>
                      <a:noFill/>
                    </a:lnR>
                    <a:lnT>
                      <a:noFill/>
                    </a:lnT>
                    <a:lnB>
                      <a:noFill/>
                    </a:lnB>
                    <a:lnTlToBr w="12700" cmpd="sng">
                      <a:noFill/>
                      <a:prstDash val="solid"/>
                    </a:lnTlToBr>
                    <a:lnBlToTr w="12700" cmpd="sng">
                      <a:noFill/>
                      <a:prstDash val="solid"/>
                    </a:lnBlToTr>
                    <a:solidFill>
                      <a:srgbClr val="43A390"/>
                    </a:solidFill>
                  </a:tcPr>
                </a:tc>
                <a:extLst>
                  <a:ext uri="{0D108BD9-81ED-4DB2-BD59-A6C34878D82A}">
                    <a16:rowId xmlns:a16="http://schemas.microsoft.com/office/drawing/2014/main" val="10008"/>
                  </a:ext>
                </a:extLst>
              </a:tr>
            </a:tbl>
          </a:graphicData>
        </a:graphic>
      </p:graphicFrame>
      <p:sp>
        <p:nvSpPr>
          <p:cNvPr id="2" name="TextBox 1">
            <a:extLst>
              <a:ext uri="{FF2B5EF4-FFF2-40B4-BE49-F238E27FC236}">
                <a16:creationId xmlns:a16="http://schemas.microsoft.com/office/drawing/2014/main" id="{968DE08F-7BEC-6906-3066-A906B0C4DEBC}"/>
              </a:ext>
            </a:extLst>
          </p:cNvPr>
          <p:cNvSpPr txBox="1"/>
          <p:nvPr/>
        </p:nvSpPr>
        <p:spPr>
          <a:xfrm>
            <a:off x="41199" y="6625657"/>
            <a:ext cx="3708997" cy="246221"/>
          </a:xfrm>
          <a:prstGeom prst="rect">
            <a:avLst/>
          </a:prstGeom>
          <a:noFill/>
        </p:spPr>
        <p:txBody>
          <a:bodyPr wrap="square" rtlCol="0">
            <a:spAutoFit/>
          </a:bodyPr>
          <a:lstStyle/>
          <a:p>
            <a:r>
              <a:rPr lang="en-IN" sz="1000" dirty="0">
                <a:latin typeface="Calibri" panose="020F0502020204030204" pitchFamily="34" charset="0"/>
                <a:cs typeface="Calibri" panose="020F0502020204030204" pitchFamily="34" charset="0"/>
              </a:rPr>
              <a:t>Source: RBI, GOI, Bloomberg &amp; CA Investment Research</a:t>
            </a:r>
          </a:p>
        </p:txBody>
      </p:sp>
    </p:spTree>
    <p:extLst>
      <p:ext uri="{BB962C8B-B14F-4D97-AF65-F5344CB8AC3E}">
        <p14:creationId xmlns:p14="http://schemas.microsoft.com/office/powerpoint/2010/main" val="1374740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8167C-2AE0-C5F5-1ADA-1A37162BE32C}"/>
            </a:ext>
          </a:extLst>
        </p:cNvPr>
        <p:cNvGrpSpPr/>
        <p:nvPr/>
      </p:nvGrpSpPr>
      <p:grpSpPr>
        <a:xfrm>
          <a:off x="0" y="0"/>
          <a:ext cx="0" cy="0"/>
          <a:chOff x="0" y="0"/>
          <a:chExt cx="0" cy="0"/>
        </a:xfrm>
      </p:grpSpPr>
      <p:pic>
        <p:nvPicPr>
          <p:cNvPr id="73730" name="Picture">
            <a:extLst>
              <a:ext uri="{FF2B5EF4-FFF2-40B4-BE49-F238E27FC236}">
                <a16:creationId xmlns:a16="http://schemas.microsoft.com/office/drawing/2014/main" id="{7B6FCE5B-A386-B972-464B-AD57C5A16D0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93465" y="2573337"/>
            <a:ext cx="795337" cy="679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a:extLst>
              <a:ext uri="{FF2B5EF4-FFF2-40B4-BE49-F238E27FC236}">
                <a16:creationId xmlns:a16="http://schemas.microsoft.com/office/drawing/2014/main" id="{9A990364-E606-2A7C-9824-C85D288D21AA}"/>
              </a:ext>
            </a:extLst>
          </p:cNvPr>
          <p:cNvSpPr>
            <a:spLocks noGrp="1"/>
          </p:cNvSpPr>
          <p:nvPr/>
        </p:nvSpPr>
        <p:spPr>
          <a:xfrm>
            <a:off x="239187" y="2720274"/>
            <a:ext cx="10875963" cy="420687"/>
          </a:xfrm>
          <a:prstGeom prst="rect">
            <a:avLst/>
          </a:prstGeom>
          <a:ln>
            <a:solidFill>
              <a:schemeClr val="bg1"/>
            </a:solidFill>
          </a:ln>
        </p:spPr>
        <p:txBody>
          <a:bodyPr lIns="0" tIns="0" rIns="0" bIns="0"/>
          <a:lstStyle/>
          <a:p>
            <a:pPr algn="ctr">
              <a:defRPr sz="1200" b="1">
                <a:solidFill>
                  <a:srgbClr val="1F497D"/>
                </a:solidFill>
                <a:latin typeface="SansSerif"/>
                <a:ea typeface="SansSerif"/>
                <a:cs typeface="SansSerif"/>
              </a:defRPr>
            </a:pPr>
            <a:r>
              <a:rPr lang="en-US" sz="2667" b="1" dirty="0">
                <a:solidFill>
                  <a:srgbClr val="1F497D"/>
                </a:solidFill>
                <a:latin typeface="Calibri" panose="020F0502020204030204" pitchFamily="34" charset="0"/>
                <a:ea typeface="SansSerif"/>
                <a:cs typeface="SansSerif"/>
              </a:rPr>
              <a:t>Annexure</a:t>
            </a:r>
            <a:endParaRPr lang="it-IT" sz="2667" b="1" dirty="0">
              <a:solidFill>
                <a:srgbClr val="1F497D"/>
              </a:solidFill>
              <a:latin typeface="Calibri" panose="020F0502020204030204" pitchFamily="34" charset="0"/>
              <a:ea typeface="SansSerif"/>
              <a:cs typeface="SansSerif"/>
            </a:endParaRPr>
          </a:p>
          <a:p>
            <a:pPr algn="ctr">
              <a:defRPr sz="1200" b="1">
                <a:solidFill>
                  <a:srgbClr val="1F497D"/>
                </a:solidFill>
                <a:latin typeface="SansSerif"/>
                <a:ea typeface="SansSerif"/>
                <a:cs typeface="SansSerif"/>
              </a:defRPr>
            </a:pPr>
            <a:endParaRPr sz="2667" b="1" dirty="0">
              <a:solidFill>
                <a:srgbClr val="1F497D"/>
              </a:solidFill>
              <a:latin typeface="Calibri" panose="020F0502020204030204" pitchFamily="34" charset="0"/>
              <a:ea typeface="SansSerif"/>
              <a:cs typeface="SansSerif"/>
            </a:endParaRPr>
          </a:p>
        </p:txBody>
      </p:sp>
      <p:sp>
        <p:nvSpPr>
          <p:cNvPr id="73732" name="Line">
            <a:extLst>
              <a:ext uri="{FF2B5EF4-FFF2-40B4-BE49-F238E27FC236}">
                <a16:creationId xmlns:a16="http://schemas.microsoft.com/office/drawing/2014/main" id="{D6066FFE-24F8-76B3-592B-5B579D71BD9F}"/>
              </a:ext>
            </a:extLst>
          </p:cNvPr>
          <p:cNvSpPr>
            <a:spLocks noGrp="1"/>
          </p:cNvSpPr>
          <p:nvPr/>
        </p:nvSpPr>
        <p:spPr bwMode="auto">
          <a:xfrm>
            <a:off x="317501" y="3279776"/>
            <a:ext cx="11755439" cy="4763"/>
          </a:xfrm>
          <a:prstGeom prst="line">
            <a:avLst/>
          </a:prstGeom>
          <a:noFill/>
          <a:ln w="19050">
            <a:solidFill>
              <a:srgbClr val="4AB38B"/>
            </a:solidFill>
            <a:round/>
            <a:headEnd/>
            <a:tailEnd/>
          </a:ln>
          <a:extLst>
            <a:ext uri="{909E8E84-426E-40DD-AFC4-6F175D3DCCD1}">
              <a14:hiddenFill xmlns:a14="http://schemas.microsoft.com/office/drawing/2010/main">
                <a:noFill/>
              </a14:hiddenFill>
            </a:ext>
          </a:extLst>
        </p:spPr>
        <p:txBody>
          <a:bodyPr anchor="ctr"/>
          <a:lstStyle/>
          <a:p>
            <a:endParaRPr lang="en-US" sz="2400"/>
          </a:p>
        </p:txBody>
      </p:sp>
    </p:spTree>
    <p:extLst>
      <p:ext uri="{BB962C8B-B14F-4D97-AF65-F5344CB8AC3E}">
        <p14:creationId xmlns:p14="http://schemas.microsoft.com/office/powerpoint/2010/main" val="1018857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9632F-C5E6-2579-07EF-F4058A18ABB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DF947BE-B05D-5845-51FE-539D4923F1CD}"/>
              </a:ext>
            </a:extLst>
          </p:cNvPr>
          <p:cNvSpPr txBox="1"/>
          <p:nvPr/>
        </p:nvSpPr>
        <p:spPr>
          <a:xfrm>
            <a:off x="92710" y="6565246"/>
            <a:ext cx="1253869" cy="235898"/>
          </a:xfrm>
          <a:prstGeom prst="rect">
            <a:avLst/>
          </a:prstGeom>
          <a:noFill/>
        </p:spPr>
        <p:txBody>
          <a:bodyPr wrap="none" rtlCol="0">
            <a:spAutoFit/>
          </a:bodyPr>
          <a:lstStyle/>
          <a:p>
            <a:r>
              <a:rPr lang="en-US" sz="933" dirty="0"/>
              <a:t>Private &amp; Confidential</a:t>
            </a:r>
          </a:p>
        </p:txBody>
      </p:sp>
      <p:cxnSp>
        <p:nvCxnSpPr>
          <p:cNvPr id="11" name="Straight Connector 10">
            <a:extLst>
              <a:ext uri="{FF2B5EF4-FFF2-40B4-BE49-F238E27FC236}">
                <a16:creationId xmlns:a16="http://schemas.microsoft.com/office/drawing/2014/main" id="{A5D933FC-8FDE-2B23-3592-AD60FAFD148F}"/>
              </a:ext>
            </a:extLst>
          </p:cNvPr>
          <p:cNvCxnSpPr>
            <a:cxnSpLocks/>
          </p:cNvCxnSpPr>
          <p:nvPr/>
        </p:nvCxnSpPr>
        <p:spPr>
          <a:xfrm>
            <a:off x="0" y="629041"/>
            <a:ext cx="6612467"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63F9ED55-E4AC-AC11-38E0-8958E788F462}"/>
              </a:ext>
            </a:extLst>
          </p:cNvPr>
          <p:cNvGraphicFramePr>
            <a:graphicFrameLocks noGrp="1"/>
          </p:cNvGraphicFramePr>
          <p:nvPr>
            <p:extLst>
              <p:ext uri="{D42A27DB-BD31-4B8C-83A1-F6EECF244321}">
                <p14:modId xmlns:p14="http://schemas.microsoft.com/office/powerpoint/2010/main" val="178969691"/>
              </p:ext>
            </p:extLst>
          </p:nvPr>
        </p:nvGraphicFramePr>
        <p:xfrm>
          <a:off x="476410" y="912758"/>
          <a:ext cx="11295115" cy="5645752"/>
        </p:xfrm>
        <a:graphic>
          <a:graphicData uri="http://schemas.openxmlformats.org/drawingml/2006/table">
            <a:tbl>
              <a:tblPr/>
              <a:tblGrid>
                <a:gridCol w="4916701">
                  <a:extLst>
                    <a:ext uri="{9D8B030D-6E8A-4147-A177-3AD203B41FA5}">
                      <a16:colId xmlns:a16="http://schemas.microsoft.com/office/drawing/2014/main" val="2690925917"/>
                    </a:ext>
                  </a:extLst>
                </a:gridCol>
                <a:gridCol w="1063069">
                  <a:extLst>
                    <a:ext uri="{9D8B030D-6E8A-4147-A177-3AD203B41FA5}">
                      <a16:colId xmlns:a16="http://schemas.microsoft.com/office/drawing/2014/main" val="576896531"/>
                    </a:ext>
                  </a:extLst>
                </a:gridCol>
                <a:gridCol w="1063069">
                  <a:extLst>
                    <a:ext uri="{9D8B030D-6E8A-4147-A177-3AD203B41FA5}">
                      <a16:colId xmlns:a16="http://schemas.microsoft.com/office/drawing/2014/main" val="3181266152"/>
                    </a:ext>
                  </a:extLst>
                </a:gridCol>
                <a:gridCol w="1063069">
                  <a:extLst>
                    <a:ext uri="{9D8B030D-6E8A-4147-A177-3AD203B41FA5}">
                      <a16:colId xmlns:a16="http://schemas.microsoft.com/office/drawing/2014/main" val="1559654742"/>
                    </a:ext>
                  </a:extLst>
                </a:gridCol>
                <a:gridCol w="1063069">
                  <a:extLst>
                    <a:ext uri="{9D8B030D-6E8A-4147-A177-3AD203B41FA5}">
                      <a16:colId xmlns:a16="http://schemas.microsoft.com/office/drawing/2014/main" val="4241031698"/>
                    </a:ext>
                  </a:extLst>
                </a:gridCol>
                <a:gridCol w="1063069">
                  <a:extLst>
                    <a:ext uri="{9D8B030D-6E8A-4147-A177-3AD203B41FA5}">
                      <a16:colId xmlns:a16="http://schemas.microsoft.com/office/drawing/2014/main" val="2522417946"/>
                    </a:ext>
                  </a:extLst>
                </a:gridCol>
                <a:gridCol w="1063069">
                  <a:extLst>
                    <a:ext uri="{9D8B030D-6E8A-4147-A177-3AD203B41FA5}">
                      <a16:colId xmlns:a16="http://schemas.microsoft.com/office/drawing/2014/main" val="1520437558"/>
                    </a:ext>
                  </a:extLst>
                </a:gridCol>
              </a:tblGrid>
              <a:tr h="201634">
                <a:tc rowSpan="2">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Equity Scheme Name</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gridSpan="6">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Returns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74057397"/>
                  </a:ext>
                </a:extLst>
              </a:tr>
              <a:tr h="201634">
                <a:tc vMerge="1">
                  <a:txBody>
                    <a:bodyPr/>
                    <a:lstStyle/>
                    <a:p>
                      <a:endParaRPr lang="en-US"/>
                    </a:p>
                  </a:txBody>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YTD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CY 22</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CY21</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CY20</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CY19</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CY18</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332748819"/>
                  </a:ext>
                </a:extLst>
              </a:tr>
              <a:tr h="201634">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Large Cap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3281797"/>
                  </a:ext>
                </a:extLst>
              </a:tr>
              <a:tr h="201634">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Mirae Asset Large Cap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0197664"/>
                  </a:ext>
                </a:extLst>
              </a:tr>
              <a:tr h="201634">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Canara Robeco </a:t>
                      </a:r>
                      <a:r>
                        <a:rPr lang="en-US"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Bluechip</a:t>
                      </a: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Equity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772527"/>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S&amp;P BSE 100</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52153666"/>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45747721"/>
                  </a:ext>
                </a:extLst>
              </a:tr>
              <a:tr h="201634">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Large -Mid Cap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49081"/>
                  </a:ext>
                </a:extLst>
              </a:tr>
              <a:tr h="201634">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Kotak Equity Opportunities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9102913"/>
                  </a:ext>
                </a:extLst>
              </a:tr>
              <a:tr h="201634">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HDFC Large and Mid Cap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5557977"/>
                  </a:ext>
                </a:extLst>
              </a:tr>
              <a:tr h="201634">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Canara Robeco Emerging Equities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696185"/>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S&amp;P BSE 200</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05235807"/>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265141108"/>
                  </a:ext>
                </a:extLst>
              </a:tr>
              <a:tr h="201634">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Multicap</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8653136"/>
                  </a:ext>
                </a:extLst>
              </a:tr>
              <a:tr h="201634">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CA MFM Multi-Cap</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908749"/>
                  </a:ext>
                </a:extLst>
              </a:tr>
              <a:tr h="201634">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White Oak IPE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9517841"/>
                  </a:ext>
                </a:extLst>
              </a:tr>
              <a:tr h="201634">
                <a:tc>
                  <a:txBody>
                    <a:bodyPr/>
                    <a:lstStyle/>
                    <a:p>
                      <a:pPr algn="l"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ENAM</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666820"/>
                  </a:ext>
                </a:extLst>
              </a:tr>
              <a:tr h="201634">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ASK IEP</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9276645"/>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S&amp;P BSE 500</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53373726"/>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912257212"/>
                  </a:ext>
                </a:extLst>
              </a:tr>
              <a:tr h="201634">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Mid Cap</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5860765"/>
                  </a:ext>
                </a:extLst>
              </a:tr>
              <a:tr h="201634">
                <a:tc>
                  <a:txBody>
                    <a:bodyPr/>
                    <a:lstStyle/>
                    <a:p>
                      <a:pPr algn="l"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Kotak Emerging Equity Fund</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255629"/>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S&amp;P BSE Midcap</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94939212"/>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690949058"/>
                  </a:ext>
                </a:extLst>
              </a:tr>
              <a:tr h="201634">
                <a:tc>
                  <a:txBody>
                    <a:bodyPr/>
                    <a:lstStyle/>
                    <a:p>
                      <a:pPr algn="l" rtl="0"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Small Cap</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fontAlgn="ct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dirty="0"/>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4202908"/>
                  </a:ext>
                </a:extLst>
              </a:tr>
              <a:tr h="201634">
                <a:tc>
                  <a:txBody>
                    <a:bodyPr/>
                    <a:lstStyle/>
                    <a:p>
                      <a:pPr algn="l" rtl="0" fontAlgn="b"/>
                      <a:r>
                        <a:rPr lang="en-US"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Accuracap</a:t>
                      </a: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Pico Power</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4841302"/>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S&amp;P BSE </a:t>
                      </a:r>
                      <a:r>
                        <a:rPr lang="en-US" sz="1000" b="0" i="1"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Smallcap</a:t>
                      </a:r>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48389849"/>
                  </a:ext>
                </a:extLst>
              </a:tr>
              <a:tr h="201634">
                <a:tc>
                  <a:txBody>
                    <a:bodyPr/>
                    <a:lstStyle/>
                    <a:p>
                      <a:pPr algn="l"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71884263"/>
                  </a:ext>
                </a:extLst>
              </a:tr>
            </a:tbl>
          </a:graphicData>
        </a:graphic>
      </p:graphicFrame>
      <p:sp>
        <p:nvSpPr>
          <p:cNvPr id="13" name="TextBox 12">
            <a:extLst>
              <a:ext uri="{FF2B5EF4-FFF2-40B4-BE49-F238E27FC236}">
                <a16:creationId xmlns:a16="http://schemas.microsoft.com/office/drawing/2014/main" id="{1971C1C2-0FC6-8BF9-5B3C-F579A2D8453C}"/>
              </a:ext>
            </a:extLst>
          </p:cNvPr>
          <p:cNvSpPr txBox="1"/>
          <p:nvPr/>
        </p:nvSpPr>
        <p:spPr>
          <a:xfrm>
            <a:off x="331915" y="161637"/>
            <a:ext cx="6530955" cy="461665"/>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Equity Portfolio YTD &amp; Historical Performance </a:t>
            </a:r>
          </a:p>
        </p:txBody>
      </p:sp>
      <p:pic>
        <p:nvPicPr>
          <p:cNvPr id="2" name="Picture 22">
            <a:extLst>
              <a:ext uri="{FF2B5EF4-FFF2-40B4-BE49-F238E27FC236}">
                <a16:creationId xmlns:a16="http://schemas.microsoft.com/office/drawing/2014/main" id="{62B9CD56-2E08-0A44-DFE3-C3E18D6DC10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2472526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8D03-2DA1-CAD9-E81C-EED83B6370B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A9C4AD4-D0E1-108A-1908-0488E5CAAD30}"/>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A36D35B2-6CE8-2750-0F91-8AA76070F92B}"/>
              </a:ext>
            </a:extLst>
          </p:cNvPr>
          <p:cNvGrpSpPr/>
          <p:nvPr/>
        </p:nvGrpSpPr>
        <p:grpSpPr>
          <a:xfrm>
            <a:off x="5639" y="161637"/>
            <a:ext cx="6655254" cy="461665"/>
            <a:chOff x="7048" y="445733"/>
            <a:chExt cx="9984422" cy="692604"/>
          </a:xfrm>
        </p:grpSpPr>
        <p:sp>
          <p:nvSpPr>
            <p:cNvPr id="9" name="TextBox 8">
              <a:extLst>
                <a:ext uri="{FF2B5EF4-FFF2-40B4-BE49-F238E27FC236}">
                  <a16:creationId xmlns:a16="http://schemas.microsoft.com/office/drawing/2014/main" id="{E16F0D49-E51F-90C6-5AFC-CBA361ACE138}"/>
                </a:ext>
              </a:extLst>
            </p:cNvPr>
            <p:cNvSpPr txBox="1"/>
            <p:nvPr/>
          </p:nvSpPr>
          <p:spPr>
            <a:xfrm>
              <a:off x="496538" y="445733"/>
              <a:ext cx="9494932"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Debt Portfolio YTD &amp; Historical Performance </a:t>
              </a:r>
            </a:p>
          </p:txBody>
        </p:sp>
        <p:cxnSp>
          <p:nvCxnSpPr>
            <p:cNvPr id="11" name="Straight Connector 10">
              <a:extLst>
                <a:ext uri="{FF2B5EF4-FFF2-40B4-BE49-F238E27FC236}">
                  <a16:creationId xmlns:a16="http://schemas.microsoft.com/office/drawing/2014/main" id="{0BAEDA70-4F7C-AA31-DAB0-7F75E06DDFF7}"/>
                </a:ext>
              </a:extLst>
            </p:cNvPr>
            <p:cNvCxnSpPr>
              <a:cxnSpLocks/>
            </p:cNvCxnSpPr>
            <p:nvPr/>
          </p:nvCxnSpPr>
          <p:spPr>
            <a:xfrm>
              <a:off x="7048" y="1138337"/>
              <a:ext cx="9594223"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5126E17B-3F8D-BD60-11AD-5D9A721A924E}"/>
              </a:ext>
            </a:extLst>
          </p:cNvPr>
          <p:cNvGraphicFramePr>
            <a:graphicFrameLocks noGrp="1"/>
          </p:cNvGraphicFramePr>
          <p:nvPr>
            <p:extLst>
              <p:ext uri="{D42A27DB-BD31-4B8C-83A1-F6EECF244321}">
                <p14:modId xmlns:p14="http://schemas.microsoft.com/office/powerpoint/2010/main" val="2843632245"/>
              </p:ext>
            </p:extLst>
          </p:nvPr>
        </p:nvGraphicFramePr>
        <p:xfrm>
          <a:off x="539440" y="1223362"/>
          <a:ext cx="11040400" cy="5011332"/>
        </p:xfrm>
        <a:graphic>
          <a:graphicData uri="http://schemas.openxmlformats.org/drawingml/2006/table">
            <a:tbl>
              <a:tblPr/>
              <a:tblGrid>
                <a:gridCol w="4985560">
                  <a:extLst>
                    <a:ext uri="{9D8B030D-6E8A-4147-A177-3AD203B41FA5}">
                      <a16:colId xmlns:a16="http://schemas.microsoft.com/office/drawing/2014/main" val="1276620109"/>
                    </a:ext>
                  </a:extLst>
                </a:gridCol>
                <a:gridCol w="1009140">
                  <a:extLst>
                    <a:ext uri="{9D8B030D-6E8A-4147-A177-3AD203B41FA5}">
                      <a16:colId xmlns:a16="http://schemas.microsoft.com/office/drawing/2014/main" val="2207932497"/>
                    </a:ext>
                  </a:extLst>
                </a:gridCol>
                <a:gridCol w="1009140">
                  <a:extLst>
                    <a:ext uri="{9D8B030D-6E8A-4147-A177-3AD203B41FA5}">
                      <a16:colId xmlns:a16="http://schemas.microsoft.com/office/drawing/2014/main" val="3842285037"/>
                    </a:ext>
                  </a:extLst>
                </a:gridCol>
                <a:gridCol w="1009140">
                  <a:extLst>
                    <a:ext uri="{9D8B030D-6E8A-4147-A177-3AD203B41FA5}">
                      <a16:colId xmlns:a16="http://schemas.microsoft.com/office/drawing/2014/main" val="2824629269"/>
                    </a:ext>
                  </a:extLst>
                </a:gridCol>
                <a:gridCol w="1009140">
                  <a:extLst>
                    <a:ext uri="{9D8B030D-6E8A-4147-A177-3AD203B41FA5}">
                      <a16:colId xmlns:a16="http://schemas.microsoft.com/office/drawing/2014/main" val="1709049767"/>
                    </a:ext>
                  </a:extLst>
                </a:gridCol>
                <a:gridCol w="1009140">
                  <a:extLst>
                    <a:ext uri="{9D8B030D-6E8A-4147-A177-3AD203B41FA5}">
                      <a16:colId xmlns:a16="http://schemas.microsoft.com/office/drawing/2014/main" val="2801993914"/>
                    </a:ext>
                  </a:extLst>
                </a:gridCol>
                <a:gridCol w="1009140">
                  <a:extLst>
                    <a:ext uri="{9D8B030D-6E8A-4147-A177-3AD203B41FA5}">
                      <a16:colId xmlns:a16="http://schemas.microsoft.com/office/drawing/2014/main" val="1090932361"/>
                    </a:ext>
                  </a:extLst>
                </a:gridCol>
              </a:tblGrid>
              <a:tr h="417611">
                <a:tc rowSpan="2">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Debt Schemes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gridSpan="6">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Returns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US"/>
                    </a:p>
                  </a:txBody>
                  <a:tcPr>
                    <a:lnL w="12700"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pPr algn="ctr" rtl="0" fontAlgn="ctr"/>
                      <a:endParaRPr lang="en-US" sz="900" b="1" i="0" u="none" strike="noStrike" dirty="0">
                        <a:solidFill>
                          <a:schemeClr val="bg1"/>
                        </a:solidFill>
                        <a:effectLst/>
                        <a:latin typeface="Calibri" panose="020F0502020204030204" pitchFamily="34" charset="0"/>
                      </a:endParaRPr>
                    </a:p>
                  </a:txBody>
                  <a:tcPr marL="6350" marR="6350" marT="6350"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hMerge="1">
                  <a:txBody>
                    <a:bodyPr/>
                    <a:lstStyle/>
                    <a:p>
                      <a:pPr algn="ctr" rtl="0" fontAlgn="ctr"/>
                      <a:endParaRPr lang="en-US" sz="900" b="1" i="0" u="none" strike="noStrike" dirty="0">
                        <a:solidFill>
                          <a:schemeClr val="bg1"/>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2827898295"/>
                  </a:ext>
                </a:extLst>
              </a:tr>
              <a:tr h="417611">
                <a:tc vMerge="1">
                  <a:txBody>
                    <a:bodyPr/>
                    <a:lstStyle/>
                    <a:p>
                      <a:pPr algn="ctr" rtl="0" fontAlgn="ctr"/>
                      <a:endPar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YTD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19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124447143"/>
                  </a:ext>
                </a:extLst>
              </a:tr>
              <a:tr h="417611">
                <a:tc>
                  <a:txBody>
                    <a:bodyPr/>
                    <a:lstStyle/>
                    <a:p>
                      <a:pPr algn="l" rtl="0" fontAlgn="ctr"/>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Debt Index Funds/ETFs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ctr" rtl="0"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082626"/>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Edelweiss NIFTY PSU Bond Plus SDL Index Fund - 2027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9536972"/>
                  </a:ext>
                </a:extLst>
              </a:tr>
              <a:tr h="417611">
                <a:tc>
                  <a:txBody>
                    <a:bodyPr/>
                    <a:lstStyle/>
                    <a:p>
                      <a:pPr algn="l" fontAlgn="b"/>
                      <a:r>
                        <a:rPr lang="fr-FR"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ICICI </a:t>
                      </a:r>
                      <a:r>
                        <a:rPr lang="fr-FR"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Pru</a:t>
                      </a:r>
                      <a:r>
                        <a:rPr lang="fr-FR"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PSU Bond Plus SDL 2027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0572306"/>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Nippon India Nifty AAA CPSE Bond Plus SDL - Apr 2027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4984242"/>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a:t>
                      </a:r>
                      <a:r>
                        <a:rPr lang="en-US"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Crisil</a:t>
                      </a:r>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Short-Term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63779125"/>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18381924"/>
                  </a:ext>
                </a:extLst>
              </a:tr>
              <a:tr h="417611">
                <a:tc>
                  <a:txBody>
                    <a:bodyPr/>
                    <a:lstStyle/>
                    <a:p>
                      <a:pPr algn="l"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Structured Credit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2065616"/>
                  </a:ext>
                </a:extLst>
              </a:tr>
              <a:tr h="417611">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Vivriti Alpha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7720338"/>
                  </a:ext>
                </a:extLst>
              </a:tr>
              <a:tr h="417611">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UTI SDOF III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3412846"/>
                  </a:ext>
                </a:extLst>
              </a:tr>
              <a:tr h="417611">
                <a:tc>
                  <a:txBody>
                    <a:bodyPr/>
                    <a:lstStyle/>
                    <a:p>
                      <a:pPr algn="l"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Total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9316306"/>
                  </a:ext>
                </a:extLst>
              </a:tr>
            </a:tbl>
          </a:graphicData>
        </a:graphic>
      </p:graphicFrame>
      <p:pic>
        <p:nvPicPr>
          <p:cNvPr id="2" name="Picture 22">
            <a:extLst>
              <a:ext uri="{FF2B5EF4-FFF2-40B4-BE49-F238E27FC236}">
                <a16:creationId xmlns:a16="http://schemas.microsoft.com/office/drawing/2014/main" id="{1676C32F-258F-372E-01E3-9950571633D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4365867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92A9C-3C24-195A-EEC9-3230A3FDFB6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E296E50-0BB1-D48F-3D05-2C6FB66FFDB9}"/>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2A531277-9ECC-61F6-FC43-F78F5E359052}"/>
              </a:ext>
            </a:extLst>
          </p:cNvPr>
          <p:cNvGrpSpPr/>
          <p:nvPr/>
        </p:nvGrpSpPr>
        <p:grpSpPr>
          <a:xfrm>
            <a:off x="5639" y="161637"/>
            <a:ext cx="6906924" cy="461665"/>
            <a:chOff x="7048" y="445733"/>
            <a:chExt cx="10361986" cy="692604"/>
          </a:xfrm>
        </p:grpSpPr>
        <p:sp>
          <p:nvSpPr>
            <p:cNvPr id="9" name="TextBox 8">
              <a:extLst>
                <a:ext uri="{FF2B5EF4-FFF2-40B4-BE49-F238E27FC236}">
                  <a16:creationId xmlns:a16="http://schemas.microsoft.com/office/drawing/2014/main" id="{846ACC73-0409-8EBB-62D0-331A2EB36444}"/>
                </a:ext>
              </a:extLst>
            </p:cNvPr>
            <p:cNvSpPr txBox="1"/>
            <p:nvPr/>
          </p:nvSpPr>
          <p:spPr>
            <a:xfrm>
              <a:off x="496538" y="445733"/>
              <a:ext cx="9872496"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Hybrid Portfolio YTD &amp; Historical Performance </a:t>
              </a:r>
            </a:p>
          </p:txBody>
        </p:sp>
        <p:cxnSp>
          <p:nvCxnSpPr>
            <p:cNvPr id="11" name="Straight Connector 10">
              <a:extLst>
                <a:ext uri="{FF2B5EF4-FFF2-40B4-BE49-F238E27FC236}">
                  <a16:creationId xmlns:a16="http://schemas.microsoft.com/office/drawing/2014/main" id="{C1B8C870-FAF8-3DB2-BB3E-CB2DDDBA33B7}"/>
                </a:ext>
              </a:extLst>
            </p:cNvPr>
            <p:cNvCxnSpPr>
              <a:cxnSpLocks/>
            </p:cNvCxnSpPr>
            <p:nvPr/>
          </p:nvCxnSpPr>
          <p:spPr>
            <a:xfrm>
              <a:off x="7048" y="1138337"/>
              <a:ext cx="9974641"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2E7B017F-E813-C244-CDB1-49EA9AB51CD2}"/>
              </a:ext>
            </a:extLst>
          </p:cNvPr>
          <p:cNvGraphicFramePr>
            <a:graphicFrameLocks noGrp="1"/>
          </p:cNvGraphicFramePr>
          <p:nvPr>
            <p:extLst>
              <p:ext uri="{D42A27DB-BD31-4B8C-83A1-F6EECF244321}">
                <p14:modId xmlns:p14="http://schemas.microsoft.com/office/powerpoint/2010/main" val="2615106717"/>
              </p:ext>
            </p:extLst>
          </p:nvPr>
        </p:nvGraphicFramePr>
        <p:xfrm>
          <a:off x="539440" y="1223362"/>
          <a:ext cx="11040400" cy="3340888"/>
        </p:xfrm>
        <a:graphic>
          <a:graphicData uri="http://schemas.openxmlformats.org/drawingml/2006/table">
            <a:tbl>
              <a:tblPr/>
              <a:tblGrid>
                <a:gridCol w="4985560">
                  <a:extLst>
                    <a:ext uri="{9D8B030D-6E8A-4147-A177-3AD203B41FA5}">
                      <a16:colId xmlns:a16="http://schemas.microsoft.com/office/drawing/2014/main" val="1276620109"/>
                    </a:ext>
                  </a:extLst>
                </a:gridCol>
                <a:gridCol w="1009140">
                  <a:extLst>
                    <a:ext uri="{9D8B030D-6E8A-4147-A177-3AD203B41FA5}">
                      <a16:colId xmlns:a16="http://schemas.microsoft.com/office/drawing/2014/main" val="2207932497"/>
                    </a:ext>
                  </a:extLst>
                </a:gridCol>
                <a:gridCol w="1009140">
                  <a:extLst>
                    <a:ext uri="{9D8B030D-6E8A-4147-A177-3AD203B41FA5}">
                      <a16:colId xmlns:a16="http://schemas.microsoft.com/office/drawing/2014/main" val="3842285037"/>
                    </a:ext>
                  </a:extLst>
                </a:gridCol>
                <a:gridCol w="1009140">
                  <a:extLst>
                    <a:ext uri="{9D8B030D-6E8A-4147-A177-3AD203B41FA5}">
                      <a16:colId xmlns:a16="http://schemas.microsoft.com/office/drawing/2014/main" val="2824629269"/>
                    </a:ext>
                  </a:extLst>
                </a:gridCol>
                <a:gridCol w="1009140">
                  <a:extLst>
                    <a:ext uri="{9D8B030D-6E8A-4147-A177-3AD203B41FA5}">
                      <a16:colId xmlns:a16="http://schemas.microsoft.com/office/drawing/2014/main" val="1709049767"/>
                    </a:ext>
                  </a:extLst>
                </a:gridCol>
                <a:gridCol w="1009140">
                  <a:extLst>
                    <a:ext uri="{9D8B030D-6E8A-4147-A177-3AD203B41FA5}">
                      <a16:colId xmlns:a16="http://schemas.microsoft.com/office/drawing/2014/main" val="2801993914"/>
                    </a:ext>
                  </a:extLst>
                </a:gridCol>
                <a:gridCol w="1009140">
                  <a:extLst>
                    <a:ext uri="{9D8B030D-6E8A-4147-A177-3AD203B41FA5}">
                      <a16:colId xmlns:a16="http://schemas.microsoft.com/office/drawing/2014/main" val="1090932361"/>
                    </a:ext>
                  </a:extLst>
                </a:gridCol>
              </a:tblGrid>
              <a:tr h="417611">
                <a:tc rowSpan="2">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Hybrid Schemes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gridSpan="6">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Returns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0" fontAlgn="ctr"/>
                      <a:endParaRPr lang="en-US" sz="900" b="1" i="0" u="none" strike="noStrike" dirty="0">
                        <a:solidFill>
                          <a:schemeClr val="bg1"/>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hMerge="1">
                  <a:txBody>
                    <a:bodyPr/>
                    <a:lstStyle/>
                    <a:p>
                      <a:pPr algn="ctr" rtl="0" fontAlgn="ctr"/>
                      <a:endParaRPr lang="en-US" sz="900" b="1" i="0" u="none" strike="noStrike" dirty="0">
                        <a:solidFill>
                          <a:schemeClr val="bg1"/>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2827898295"/>
                  </a:ext>
                </a:extLst>
              </a:tr>
              <a:tr h="417611">
                <a:tc vMerge="1">
                  <a:txBody>
                    <a:bodyPr/>
                    <a:lstStyle/>
                    <a:p>
                      <a:endParaRPr lang="en-US"/>
                    </a:p>
                  </a:txBody>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YTD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19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124447143"/>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ICICI Prudential Balanced Advantage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9536972"/>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Edelweiss Balanced Advantage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0572306"/>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Tata Balanced Advantage Fund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4984242"/>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Benchmark: CA Blended Index</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63779125"/>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Category Average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18381924"/>
                  </a:ext>
                </a:extLst>
              </a:tr>
              <a:tr h="417611">
                <a:tc>
                  <a:txBody>
                    <a:bodyPr/>
                    <a:lstStyle/>
                    <a:p>
                      <a:pPr algn="l"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Total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9316306"/>
                  </a:ext>
                </a:extLst>
              </a:tr>
            </a:tbl>
          </a:graphicData>
        </a:graphic>
      </p:graphicFrame>
      <p:pic>
        <p:nvPicPr>
          <p:cNvPr id="2" name="Picture 22">
            <a:extLst>
              <a:ext uri="{FF2B5EF4-FFF2-40B4-BE49-F238E27FC236}">
                <a16:creationId xmlns:a16="http://schemas.microsoft.com/office/drawing/2014/main" id="{D40D08C5-2866-9FD4-DBC0-4CAD2AE3678C}"/>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36550205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DCC06-8018-014F-009D-7AAC748D27D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99C68B5-8BD2-1976-4EE8-7EEEE62BA901}"/>
              </a:ext>
            </a:extLst>
          </p:cNvPr>
          <p:cNvSpPr txBox="1"/>
          <p:nvPr/>
        </p:nvSpPr>
        <p:spPr>
          <a:xfrm>
            <a:off x="92710" y="6565246"/>
            <a:ext cx="1303562" cy="235898"/>
          </a:xfrm>
          <a:prstGeom prst="rect">
            <a:avLst/>
          </a:prstGeom>
          <a:noFill/>
        </p:spPr>
        <p:txBody>
          <a:bodyPr wrap="none" rtlCol="0">
            <a:spAutoFit/>
          </a:bodyPr>
          <a:lstStyle/>
          <a:p>
            <a:r>
              <a:rPr lang="en-US" sz="933" dirty="0"/>
              <a:t>Private &amp; Confidential</a:t>
            </a:r>
          </a:p>
        </p:txBody>
      </p:sp>
      <p:grpSp>
        <p:nvGrpSpPr>
          <p:cNvPr id="12" name="Group 11">
            <a:extLst>
              <a:ext uri="{FF2B5EF4-FFF2-40B4-BE49-F238E27FC236}">
                <a16:creationId xmlns:a16="http://schemas.microsoft.com/office/drawing/2014/main" id="{966BD621-0115-D505-BB53-AFD8AE9F75E8}"/>
              </a:ext>
            </a:extLst>
          </p:cNvPr>
          <p:cNvGrpSpPr/>
          <p:nvPr/>
        </p:nvGrpSpPr>
        <p:grpSpPr>
          <a:xfrm>
            <a:off x="5639" y="161637"/>
            <a:ext cx="7261188" cy="461665"/>
            <a:chOff x="7048" y="445733"/>
            <a:chExt cx="10893464" cy="692604"/>
          </a:xfrm>
        </p:grpSpPr>
        <p:sp>
          <p:nvSpPr>
            <p:cNvPr id="9" name="TextBox 8">
              <a:extLst>
                <a:ext uri="{FF2B5EF4-FFF2-40B4-BE49-F238E27FC236}">
                  <a16:creationId xmlns:a16="http://schemas.microsoft.com/office/drawing/2014/main" id="{19E34839-3D9F-82B6-1D75-D76B60A57590}"/>
                </a:ext>
              </a:extLst>
            </p:cNvPr>
            <p:cNvSpPr txBox="1"/>
            <p:nvPr/>
          </p:nvSpPr>
          <p:spPr>
            <a:xfrm>
              <a:off x="496538" y="445733"/>
              <a:ext cx="10403974" cy="692604"/>
            </a:xfrm>
            <a:prstGeom prst="rect">
              <a:avLst/>
            </a:prstGeom>
            <a:noFill/>
          </p:spPr>
          <p:txBody>
            <a:bodyPr wrap="none" rtlCol="0">
              <a:spAutoFit/>
            </a:bodyPr>
            <a:lstStyle/>
            <a:p>
              <a:r>
                <a:rPr lang="en-US" sz="2400" dirty="0">
                  <a:solidFill>
                    <a:srgbClr val="084795"/>
                  </a:solidFill>
                  <a:latin typeface="Roboto" panose="02000000000000000000" pitchFamily="2" charset="0"/>
                  <a:ea typeface="Roboto" panose="02000000000000000000" pitchFamily="2" charset="0"/>
                </a:rPr>
                <a:t>Alternate Portfolio YTD &amp; Historical Performance </a:t>
              </a:r>
            </a:p>
          </p:txBody>
        </p:sp>
        <p:cxnSp>
          <p:nvCxnSpPr>
            <p:cNvPr id="11" name="Straight Connector 10">
              <a:extLst>
                <a:ext uri="{FF2B5EF4-FFF2-40B4-BE49-F238E27FC236}">
                  <a16:creationId xmlns:a16="http://schemas.microsoft.com/office/drawing/2014/main" id="{B206A6A1-3D8C-B103-77C3-629AD64C5585}"/>
                </a:ext>
              </a:extLst>
            </p:cNvPr>
            <p:cNvCxnSpPr>
              <a:cxnSpLocks/>
            </p:cNvCxnSpPr>
            <p:nvPr/>
          </p:nvCxnSpPr>
          <p:spPr>
            <a:xfrm>
              <a:off x="7048" y="1138337"/>
              <a:ext cx="10504922" cy="0"/>
            </a:xfrm>
            <a:prstGeom prst="line">
              <a:avLst/>
            </a:prstGeom>
            <a:ln w="44450">
              <a:solidFill>
                <a:srgbClr val="4472C4"/>
              </a:solidFill>
            </a:ln>
          </p:spPr>
          <p:style>
            <a:lnRef idx="1">
              <a:schemeClr val="accent1"/>
            </a:lnRef>
            <a:fillRef idx="0">
              <a:schemeClr val="accent1"/>
            </a:fillRef>
            <a:effectRef idx="0">
              <a:schemeClr val="accent1"/>
            </a:effectRef>
            <a:fontRef idx="minor">
              <a:schemeClr val="tx1"/>
            </a:fontRef>
          </p:style>
        </p:cxnSp>
      </p:grpSp>
      <p:graphicFrame>
        <p:nvGraphicFramePr>
          <p:cNvPr id="5" name="Table 4">
            <a:extLst>
              <a:ext uri="{FF2B5EF4-FFF2-40B4-BE49-F238E27FC236}">
                <a16:creationId xmlns:a16="http://schemas.microsoft.com/office/drawing/2014/main" id="{EC55E74C-0DD3-99C0-E6C7-8D108B41E767}"/>
              </a:ext>
            </a:extLst>
          </p:cNvPr>
          <p:cNvGraphicFramePr>
            <a:graphicFrameLocks noGrp="1"/>
          </p:cNvGraphicFramePr>
          <p:nvPr>
            <p:extLst>
              <p:ext uri="{D42A27DB-BD31-4B8C-83A1-F6EECF244321}">
                <p14:modId xmlns:p14="http://schemas.microsoft.com/office/powerpoint/2010/main" val="3112651181"/>
              </p:ext>
            </p:extLst>
          </p:nvPr>
        </p:nvGraphicFramePr>
        <p:xfrm>
          <a:off x="539440" y="1223362"/>
          <a:ext cx="11040400" cy="2923277"/>
        </p:xfrm>
        <a:graphic>
          <a:graphicData uri="http://schemas.openxmlformats.org/drawingml/2006/table">
            <a:tbl>
              <a:tblPr/>
              <a:tblGrid>
                <a:gridCol w="4985560">
                  <a:extLst>
                    <a:ext uri="{9D8B030D-6E8A-4147-A177-3AD203B41FA5}">
                      <a16:colId xmlns:a16="http://schemas.microsoft.com/office/drawing/2014/main" val="1276620109"/>
                    </a:ext>
                  </a:extLst>
                </a:gridCol>
                <a:gridCol w="1009140">
                  <a:extLst>
                    <a:ext uri="{9D8B030D-6E8A-4147-A177-3AD203B41FA5}">
                      <a16:colId xmlns:a16="http://schemas.microsoft.com/office/drawing/2014/main" val="2207932497"/>
                    </a:ext>
                  </a:extLst>
                </a:gridCol>
                <a:gridCol w="1009140">
                  <a:extLst>
                    <a:ext uri="{9D8B030D-6E8A-4147-A177-3AD203B41FA5}">
                      <a16:colId xmlns:a16="http://schemas.microsoft.com/office/drawing/2014/main" val="3842285037"/>
                    </a:ext>
                  </a:extLst>
                </a:gridCol>
                <a:gridCol w="1009140">
                  <a:extLst>
                    <a:ext uri="{9D8B030D-6E8A-4147-A177-3AD203B41FA5}">
                      <a16:colId xmlns:a16="http://schemas.microsoft.com/office/drawing/2014/main" val="2824629269"/>
                    </a:ext>
                  </a:extLst>
                </a:gridCol>
                <a:gridCol w="1009140">
                  <a:extLst>
                    <a:ext uri="{9D8B030D-6E8A-4147-A177-3AD203B41FA5}">
                      <a16:colId xmlns:a16="http://schemas.microsoft.com/office/drawing/2014/main" val="1709049767"/>
                    </a:ext>
                  </a:extLst>
                </a:gridCol>
                <a:gridCol w="1009140">
                  <a:extLst>
                    <a:ext uri="{9D8B030D-6E8A-4147-A177-3AD203B41FA5}">
                      <a16:colId xmlns:a16="http://schemas.microsoft.com/office/drawing/2014/main" val="2801993914"/>
                    </a:ext>
                  </a:extLst>
                </a:gridCol>
                <a:gridCol w="1009140">
                  <a:extLst>
                    <a:ext uri="{9D8B030D-6E8A-4147-A177-3AD203B41FA5}">
                      <a16:colId xmlns:a16="http://schemas.microsoft.com/office/drawing/2014/main" val="1090932361"/>
                    </a:ext>
                  </a:extLst>
                </a:gridCol>
              </a:tblGrid>
              <a:tr h="417611">
                <a:tc rowSpan="2">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Hybrid Schemes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gridSpan="6">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Returns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rtl="0" fontAlgn="ctr"/>
                      <a:endParaRPr lang="en-US" sz="900" b="1" i="0" u="none" strike="noStrike" dirty="0">
                        <a:solidFill>
                          <a:schemeClr val="bg1"/>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hMerge="1">
                  <a:txBody>
                    <a:bodyPr/>
                    <a:lstStyle/>
                    <a:p>
                      <a:pPr algn="ctr" rtl="0" fontAlgn="ctr"/>
                      <a:endParaRPr lang="en-US" sz="900" b="1" i="0" u="none" strike="noStrike" dirty="0">
                        <a:solidFill>
                          <a:schemeClr val="bg1"/>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2827898295"/>
                  </a:ext>
                </a:extLst>
              </a:tr>
              <a:tr h="417611">
                <a:tc vMerge="1">
                  <a:txBody>
                    <a:bodyPr/>
                    <a:lstStyle/>
                    <a:p>
                      <a:endParaRPr lang="en-US"/>
                    </a:p>
                  </a:txBody>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YTD</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19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tc>
                  <a:txBody>
                    <a:bodyPr/>
                    <a:lstStyle/>
                    <a:p>
                      <a:pPr algn="ctr" rtl="0" fontAlgn="ctr"/>
                      <a:r>
                        <a:rPr lang="en-US" sz="1000" b="1" i="0" u="none" strike="noStrike" dirty="0">
                          <a:solidFill>
                            <a:schemeClr val="bg1"/>
                          </a:solidFill>
                          <a:effectLst/>
                          <a:latin typeface="Roboto" panose="02000000000000000000" pitchFamily="2" charset="0"/>
                          <a:ea typeface="Roboto" panose="02000000000000000000" pitchFamily="2" charset="0"/>
                          <a:cs typeface="Roboto" panose="02000000000000000000" pitchFamily="2" charset="0"/>
                        </a:rPr>
                        <a:t>CY 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84795"/>
                    </a:solidFill>
                  </a:tcPr>
                </a:tc>
                <a:extLst>
                  <a:ext uri="{0D108BD9-81ED-4DB2-BD59-A6C34878D82A}">
                    <a16:rowId xmlns:a16="http://schemas.microsoft.com/office/drawing/2014/main" val="3124447143"/>
                  </a:ext>
                </a:extLst>
              </a:tr>
              <a:tr h="417611">
                <a:tc>
                  <a:txBody>
                    <a:bodyPr/>
                    <a:lstStyle/>
                    <a:p>
                      <a:pPr algn="l"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International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6">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l" fontAlgn="b"/>
                      <a:endParaRPr lang="en-US" sz="1000" b="0" i="0" u="none" strike="noStrike">
                        <a:solidFill>
                          <a:srgbClr val="000000"/>
                        </a:solidFill>
                        <a:effectLst/>
                        <a:latin typeface="Calibri" panose="020F0502020204030204" pitchFamily="34" charset="0"/>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Calibri" panose="020F0502020204030204" pitchFamily="34" charset="0"/>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9536972"/>
                  </a:ext>
                </a:extLst>
              </a:tr>
              <a:tr h="417611">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Kristal AI </a:t>
                      </a:r>
                      <a:r>
                        <a:rPr lang="en-US" sz="10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FoF</a:t>
                      </a:r>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0572306"/>
                  </a:ext>
                </a:extLst>
              </a:tr>
              <a:tr h="417611">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ACWI</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63779125"/>
                  </a:ext>
                </a:extLst>
              </a:tr>
              <a:tr h="417611">
                <a:tc>
                  <a:txBody>
                    <a:bodyPr/>
                    <a:lstStyle/>
                    <a:p>
                      <a:pPr algn="l" fontAlgn="b"/>
                      <a:r>
                        <a:rPr lang="en-US" sz="1000" b="0" i="1"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BSE 500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24673405"/>
                  </a:ext>
                </a:extLst>
              </a:tr>
              <a:tr h="417611">
                <a:tc>
                  <a:txBody>
                    <a:bodyPr/>
                    <a:lstStyle/>
                    <a:p>
                      <a:pPr algn="l" fontAlgn="b"/>
                      <a:r>
                        <a:rPr lang="en-US" sz="1000" b="1"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Total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9316306"/>
                  </a:ext>
                </a:extLst>
              </a:tr>
            </a:tbl>
          </a:graphicData>
        </a:graphic>
      </p:graphicFrame>
      <p:pic>
        <p:nvPicPr>
          <p:cNvPr id="2" name="Picture 22">
            <a:extLst>
              <a:ext uri="{FF2B5EF4-FFF2-40B4-BE49-F238E27FC236}">
                <a16:creationId xmlns:a16="http://schemas.microsoft.com/office/drawing/2014/main" id="{4D9D490E-B3F9-1016-8DAE-A4C1DBB979F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310897" y="115954"/>
            <a:ext cx="779652" cy="729305"/>
          </a:xfrm>
          <a:prstGeom prst="rect">
            <a:avLst/>
          </a:prstGeom>
        </p:spPr>
      </p:pic>
    </p:spTree>
    <p:extLst>
      <p:ext uri="{BB962C8B-B14F-4D97-AF65-F5344CB8AC3E}">
        <p14:creationId xmlns:p14="http://schemas.microsoft.com/office/powerpoint/2010/main" val="14359267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cNvPicPr>
            <a:picLocks noChangeAspect="1"/>
          </p:cNvPicPr>
          <p:nvPr/>
        </p:nvPicPr>
        <p:blipFill>
          <a:blip r:embed="rId3"/>
          <a:srcRect/>
          <a:stretch>
            <a:fillRect l="13043"/>
          </a:stretch>
        </p:blipFill>
        <p:spPr>
          <a:xfrm>
            <a:off x="11227654" y="355067"/>
            <a:ext cx="795297" cy="680037"/>
          </a:xfrm>
          <a:prstGeom prst="rect">
            <a:avLst/>
          </a:prstGeom>
        </p:spPr>
      </p:pic>
      <p:sp>
        <p:nvSpPr>
          <p:cNvPr id="5" name="Text"/>
          <p:cNvSpPr>
            <a:spLocks noGrp="1"/>
          </p:cNvSpPr>
          <p:nvPr/>
        </p:nvSpPr>
        <p:spPr>
          <a:xfrm>
            <a:off x="335200" y="1124681"/>
            <a:ext cx="10804320" cy="5252268"/>
          </a:xfrm>
          <a:prstGeom prst="rect">
            <a:avLst/>
          </a:prstGeom>
          <a:ln>
            <a:solidFill>
              <a:schemeClr val="bg1"/>
            </a:solidFill>
          </a:ln>
        </p:spPr>
        <p:txBody>
          <a:bodyPr wrap="square" lIns="0" tIns="0" rIns="0" bIns="0" rtlCol="0" anchor="t"/>
          <a:lstStyle/>
          <a:p>
            <a:pPr marL="380990" indent="-380990">
              <a:buFont typeface="Arial" panose="020B0604020202020204" pitchFamily="34" charset="0"/>
              <a:buChar char="•"/>
            </a:pPr>
            <a:endParaRPr lang="en-US" dirty="0">
              <a:solidFill>
                <a:srgbClr val="1F497D"/>
              </a:solidFill>
              <a:latin typeface="Calibri" panose="020F0502020204030204" pitchFamily="34" charset="0"/>
              <a:ea typeface="SansSerif"/>
              <a:cs typeface="SansSerif"/>
            </a:endParaRPr>
          </a:p>
        </p:txBody>
      </p:sp>
      <p:sp>
        <p:nvSpPr>
          <p:cNvPr id="6" name="Line"/>
          <p:cNvSpPr>
            <a:spLocks noGrp="1"/>
          </p:cNvSpPr>
          <p:nvPr/>
        </p:nvSpPr>
        <p:spPr>
          <a:xfrm>
            <a:off x="318267" y="1077900"/>
            <a:ext cx="11755200" cy="5835"/>
          </a:xfrm>
          <a:prstGeom prst="line">
            <a:avLst/>
          </a:prstGeom>
          <a:solidFill>
            <a:srgbClr val="FFFFFF"/>
          </a:solidFill>
          <a:ln w="19050">
            <a:solidFill>
              <a:srgbClr val="4AB38B"/>
            </a:solidFill>
            <a:prstDash val="solid"/>
          </a:ln>
        </p:spPr>
        <p:txBody>
          <a:bodyPr rtlCol="0" anchor="ctr"/>
          <a:lstStyle/>
          <a:p>
            <a:pPr algn="ctr"/>
            <a:endParaRPr sz="2400" dirty="0"/>
          </a:p>
        </p:txBody>
      </p:sp>
      <p:sp>
        <p:nvSpPr>
          <p:cNvPr id="7" name="Text"/>
          <p:cNvSpPr>
            <a:spLocks noGrp="1"/>
          </p:cNvSpPr>
          <p:nvPr/>
        </p:nvSpPr>
        <p:spPr>
          <a:xfrm>
            <a:off x="335200" y="356574"/>
            <a:ext cx="7883819" cy="230521"/>
          </a:xfrm>
          <a:prstGeom prst="rect">
            <a:avLst/>
          </a:prstGeom>
          <a:ln>
            <a:solidFill>
              <a:schemeClr val="bg1"/>
            </a:solidFill>
          </a:ln>
        </p:spPr>
        <p:txBody>
          <a:bodyPr wrap="square" lIns="0" tIns="0" rIns="0" bIns="0" rtlCol="0" anchor="t"/>
          <a:lstStyle/>
          <a:p>
            <a:pPr>
              <a:defRPr sz="1200" b="1">
                <a:solidFill>
                  <a:srgbClr val="1F497D"/>
                </a:solidFill>
                <a:latin typeface="SansSerif"/>
                <a:ea typeface="SansSerif"/>
                <a:cs typeface="SansSerif"/>
              </a:defRPr>
            </a:pPr>
            <a:r>
              <a:rPr lang="en-US" sz="3600" b="1" dirty="0">
                <a:solidFill>
                  <a:srgbClr val="1F497D"/>
                </a:solidFill>
                <a:latin typeface="SansSerif"/>
                <a:ea typeface="SansSerif"/>
              </a:rPr>
              <a:t>Disclaimer</a:t>
            </a:r>
            <a:endParaRPr sz="3600" b="1" dirty="0">
              <a:solidFill>
                <a:srgbClr val="1F497D"/>
              </a:solidFill>
              <a:latin typeface="SansSerif"/>
              <a:ea typeface="SansSerif"/>
              <a:cs typeface="SansSerif"/>
            </a:endParaRPr>
          </a:p>
        </p:txBody>
      </p:sp>
      <p:sp>
        <p:nvSpPr>
          <p:cNvPr id="8" name="텍스트 개체 틀 7">
            <a:extLst>
              <a:ext uri="{FF2B5EF4-FFF2-40B4-BE49-F238E27FC236}">
                <a16:creationId xmlns:a16="http://schemas.microsoft.com/office/drawing/2014/main" id="{274BCC4E-39E7-45CE-BAFE-B5A38E4E0550}"/>
              </a:ext>
            </a:extLst>
          </p:cNvPr>
          <p:cNvSpPr txBox="1">
            <a:spLocks/>
          </p:cNvSpPr>
          <p:nvPr/>
        </p:nvSpPr>
        <p:spPr bwMode="auto">
          <a:xfrm>
            <a:off x="960967" y="1513418"/>
            <a:ext cx="10439400" cy="3992033"/>
          </a:xfrm>
          <a:noFill/>
          <a:ln>
            <a:miter lim="800000"/>
            <a:headEnd/>
            <a:tailEnd/>
          </a:ln>
        </p:spPr>
        <p:txBody>
          <a:bodyPr vert="horz" wrap="square" numCol="1" anchor="t" anchorCtr="0" compatLnSpc="1">
            <a:prstTxWarp prst="textNoShape">
              <a:avLst/>
            </a:prstTxWarp>
          </a:bodyPr>
          <a:lstStyle>
            <a:defPPr>
              <a:defRPr lang="ko-KR"/>
            </a:defPPr>
            <a:lvl1pPr algn="l" rtl="0" eaLnBrk="0" fontAlgn="base" hangingPunct="0">
              <a:spcBef>
                <a:spcPct val="0"/>
              </a:spcBef>
              <a:spcAft>
                <a:spcPct val="0"/>
              </a:spcAft>
              <a:defRPr kern="1200">
                <a:solidFill>
                  <a:schemeClr val="tx1"/>
                </a:solidFill>
                <a:latin typeface="Arial" pitchFamily="34" charset="0"/>
                <a:ea typeface="Roboto Condensed Light" pitchFamily="2" charset="0"/>
                <a:cs typeface="Roboto Condensed Light" pitchFamily="2" charset="0"/>
              </a:defRPr>
            </a:lvl1pPr>
            <a:lvl2pPr marL="457200" algn="l" rtl="0" eaLnBrk="0" fontAlgn="base" hangingPunct="0">
              <a:spcBef>
                <a:spcPct val="0"/>
              </a:spcBef>
              <a:spcAft>
                <a:spcPct val="0"/>
              </a:spcAft>
              <a:defRPr kern="1200">
                <a:solidFill>
                  <a:schemeClr val="tx1"/>
                </a:solidFill>
                <a:latin typeface="Arial" pitchFamily="34" charset="0"/>
                <a:ea typeface="Roboto Condensed Light" pitchFamily="2" charset="0"/>
                <a:cs typeface="Roboto Condensed Light" pitchFamily="2" charset="0"/>
              </a:defRPr>
            </a:lvl2pPr>
            <a:lvl3pPr marL="914400" algn="l" rtl="0" eaLnBrk="0" fontAlgn="base" hangingPunct="0">
              <a:spcBef>
                <a:spcPct val="0"/>
              </a:spcBef>
              <a:spcAft>
                <a:spcPct val="0"/>
              </a:spcAft>
              <a:defRPr kern="1200">
                <a:solidFill>
                  <a:schemeClr val="tx1"/>
                </a:solidFill>
                <a:latin typeface="Arial" pitchFamily="34" charset="0"/>
                <a:ea typeface="Roboto Condensed Light" pitchFamily="2" charset="0"/>
                <a:cs typeface="Roboto Condensed Light" pitchFamily="2" charset="0"/>
              </a:defRPr>
            </a:lvl3pPr>
            <a:lvl4pPr marL="1371600" algn="l" rtl="0" eaLnBrk="0" fontAlgn="base" hangingPunct="0">
              <a:spcBef>
                <a:spcPct val="0"/>
              </a:spcBef>
              <a:spcAft>
                <a:spcPct val="0"/>
              </a:spcAft>
              <a:defRPr kern="1200">
                <a:solidFill>
                  <a:schemeClr val="tx1"/>
                </a:solidFill>
                <a:latin typeface="Arial" pitchFamily="34" charset="0"/>
                <a:ea typeface="Roboto Condensed Light" pitchFamily="2" charset="0"/>
                <a:cs typeface="Roboto Condensed Light" pitchFamily="2" charset="0"/>
              </a:defRPr>
            </a:lvl4pPr>
            <a:lvl5pPr marL="1828800" algn="l" rtl="0" eaLnBrk="0" fontAlgn="base" hangingPunct="0">
              <a:spcBef>
                <a:spcPct val="0"/>
              </a:spcBef>
              <a:spcAft>
                <a:spcPct val="0"/>
              </a:spcAft>
              <a:defRPr kern="1200">
                <a:solidFill>
                  <a:schemeClr val="tx1"/>
                </a:solidFill>
                <a:latin typeface="Arial" pitchFamily="34" charset="0"/>
                <a:ea typeface="Roboto Condensed Light" pitchFamily="2" charset="0"/>
                <a:cs typeface="Roboto Condensed Light" pitchFamily="2" charset="0"/>
              </a:defRPr>
            </a:lvl5pPr>
            <a:lvl6pPr marL="2286000" algn="l" defTabSz="914400" rtl="0" eaLnBrk="1" latinLnBrk="0" hangingPunct="1">
              <a:defRPr kern="1200">
                <a:solidFill>
                  <a:schemeClr val="tx1"/>
                </a:solidFill>
                <a:latin typeface="Arial" pitchFamily="34" charset="0"/>
                <a:ea typeface="Roboto Condensed Light" pitchFamily="2" charset="0"/>
                <a:cs typeface="Roboto Condensed Light" pitchFamily="2" charset="0"/>
              </a:defRPr>
            </a:lvl6pPr>
            <a:lvl7pPr marL="2743200" algn="l" defTabSz="914400" rtl="0" eaLnBrk="1" latinLnBrk="0" hangingPunct="1">
              <a:defRPr kern="1200">
                <a:solidFill>
                  <a:schemeClr val="tx1"/>
                </a:solidFill>
                <a:latin typeface="Arial" pitchFamily="34" charset="0"/>
                <a:ea typeface="Roboto Condensed Light" pitchFamily="2" charset="0"/>
                <a:cs typeface="Roboto Condensed Light" pitchFamily="2" charset="0"/>
              </a:defRPr>
            </a:lvl7pPr>
            <a:lvl8pPr marL="3200400" algn="l" defTabSz="914400" rtl="0" eaLnBrk="1" latinLnBrk="0" hangingPunct="1">
              <a:defRPr kern="1200">
                <a:solidFill>
                  <a:schemeClr val="tx1"/>
                </a:solidFill>
                <a:latin typeface="Arial" pitchFamily="34" charset="0"/>
                <a:ea typeface="Roboto Condensed Light" pitchFamily="2" charset="0"/>
                <a:cs typeface="Roboto Condensed Light" pitchFamily="2" charset="0"/>
              </a:defRPr>
            </a:lvl8pPr>
            <a:lvl9pPr marL="3657600" algn="l" defTabSz="914400" rtl="0" eaLnBrk="1" latinLnBrk="0" hangingPunct="1">
              <a:defRPr kern="1200">
                <a:solidFill>
                  <a:schemeClr val="tx1"/>
                </a:solidFill>
                <a:latin typeface="Arial" pitchFamily="34" charset="0"/>
                <a:ea typeface="Roboto Condensed Light" pitchFamily="2" charset="0"/>
                <a:cs typeface="Roboto Condensed Light" pitchFamily="2" charset="0"/>
              </a:defRPr>
            </a:lvl9pPr>
          </a:lstStyle>
          <a:p>
            <a:pPr eaLnBrk="1" hangingPunct="1">
              <a:buClr>
                <a:schemeClr val="bg2"/>
              </a:buClr>
            </a:pPr>
            <a:r>
              <a:rPr lang="en-IN" sz="1200">
                <a:ea typeface="Roboto Condensed Regular"/>
              </a:rPr>
              <a:t>The Presentation is for informational purposes only and should not be regarded as an offer to sell or as a solicitation of an offer to buy the securities or other investments mentioned in it.</a:t>
            </a:r>
          </a:p>
          <a:p>
            <a:pPr eaLnBrk="1" hangingPunct="1">
              <a:buClr>
                <a:schemeClr val="bg2"/>
              </a:buClr>
            </a:pPr>
            <a:endParaRPr lang="en-IN" sz="1200">
              <a:ea typeface="Roboto Condensed Regular"/>
            </a:endParaRPr>
          </a:p>
          <a:p>
            <a:pPr eaLnBrk="1" hangingPunct="1">
              <a:buClr>
                <a:schemeClr val="bg2"/>
              </a:buClr>
            </a:pPr>
            <a:r>
              <a:rPr lang="en-IN" sz="1200">
                <a:ea typeface="Roboto Condensed Regular"/>
              </a:rPr>
              <a:t>We do not represent that any information, including any third party information, is accurate or complete and it should not be relied upon without proper investigation on the part of the investor/s. Investments in securities/equity related instruments are subject to market risk. These risks could be security specific or market specific and arising from company, industry, political, economic (both domestic and global), etc, factors. </a:t>
            </a:r>
          </a:p>
          <a:p>
            <a:pPr eaLnBrk="1" hangingPunct="1">
              <a:buClr>
                <a:schemeClr val="bg2"/>
              </a:buClr>
            </a:pPr>
            <a:endParaRPr lang="en-IN" sz="1200">
              <a:ea typeface="Roboto Condensed Regular"/>
            </a:endParaRPr>
          </a:p>
          <a:p>
            <a:pPr eaLnBrk="1" hangingPunct="1">
              <a:buClr>
                <a:schemeClr val="bg2"/>
              </a:buClr>
            </a:pPr>
            <a:r>
              <a:rPr lang="en-IN" sz="1200">
                <a:ea typeface="Roboto Condensed Regular"/>
              </a:rPr>
              <a:t>Past performance of strategy does not indicate the future performance of any current or future fund or scheme. There is no assurance or guarantee that the objectives of any fund or scheme advised or managed will be achieved. Presenter or any of its director/s or principal officer/employees does not assure/give guarantee for any return on the funds/securities given by the Investor or under any schemes to be offered under any Discretionary or Non-discretionary services. </a:t>
            </a:r>
          </a:p>
          <a:p>
            <a:pPr eaLnBrk="1" hangingPunct="1">
              <a:buClr>
                <a:schemeClr val="bg2"/>
              </a:buClr>
            </a:pPr>
            <a:endParaRPr lang="en-IN" sz="1200">
              <a:ea typeface="Roboto Condensed Regular"/>
            </a:endParaRPr>
          </a:p>
          <a:p>
            <a:pPr eaLnBrk="1" hangingPunct="1">
              <a:buClr>
                <a:schemeClr val="bg2"/>
              </a:buClr>
            </a:pPr>
            <a:r>
              <a:rPr lang="en-IN" sz="1200">
                <a:ea typeface="Roboto Condensed Regular"/>
              </a:rPr>
              <a:t>Investor should carefully read all disclosure documents before investing and shall not make Presenter and/or its associates/employees liable for any risks/losses pertaining to any product/scheme launched by various managers time to time. In the terms of all the above, the Investors are and shall be solely responsible for the consequences of their own investment decisions.</a:t>
            </a:r>
          </a:p>
          <a:p>
            <a:pPr eaLnBrk="1" hangingPunct="1">
              <a:buClr>
                <a:schemeClr val="bg2"/>
              </a:buClr>
            </a:pPr>
            <a:endParaRPr lang="en-IN" sz="1200">
              <a:ea typeface="Roboto Condensed Regular"/>
            </a:endParaRPr>
          </a:p>
          <a:p>
            <a:pPr eaLnBrk="1" hangingPunct="1">
              <a:spcBef>
                <a:spcPts val="67"/>
              </a:spcBef>
            </a:pPr>
            <a:r>
              <a:rPr lang="en-IN" sz="1200">
                <a:ea typeface="Gulim" pitchFamily="34" charset="-127"/>
                <a:cs typeface="Tahoma" pitchFamily="34" charset="0"/>
              </a:rPr>
              <a:t>This Presentation is subject to changes without prior notice and is intended only for the person or entity to which it is addressed to. No portion of this document shall be reproduced, reprinted, duplicated, sold or redistributed. Also, this publication may not be distributed to the public media or quoted or used by the public media without the express written consent of Pioneer Client Associates Pvt. Ltd. We do not warrant the accuracy, adequacy or completeness of this information and materials and expressly disclaims liability for any errors or omissions or delays in this information and materials.</a:t>
            </a:r>
          </a:p>
          <a:p>
            <a:pPr eaLnBrk="1" hangingPunct="1">
              <a:spcBef>
                <a:spcPts val="533"/>
              </a:spcBef>
            </a:pPr>
            <a:r>
              <a:rPr lang="en-IN" sz="1200">
                <a:ea typeface="Gulim" pitchFamily="34" charset="-127"/>
                <a:cs typeface="Tahoma" pitchFamily="34" charset="0"/>
              </a:rPr>
              <a:t>This document is not directed or intended for distribution to, or use by, any person or entity who is citizen or resident of or located in any locality, state, country or other jurisdiction, where such distribution, publication, availability or use would be contrary to law, regulation or which would subject Pioneer Client Associates Pvt. Ltd. and affiliates to any registration or licensing requirement within such jurisdiction. Person in whose possession this document may come are required to inform themselves of and to observe such restriction.</a:t>
            </a:r>
            <a:endParaRPr lang="en-IN" sz="1200" dirty="0">
              <a:ea typeface="Gulim" pitchFamily="34" charset="-127"/>
              <a:cs typeface="Tahoma" pitchFamily="34" charset="0"/>
            </a:endParaRPr>
          </a:p>
        </p:txBody>
      </p:sp>
    </p:spTree>
    <p:extLst>
      <p:ext uri="{BB962C8B-B14F-4D97-AF65-F5344CB8AC3E}">
        <p14:creationId xmlns:p14="http://schemas.microsoft.com/office/powerpoint/2010/main" val="1415324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13030</TotalTime>
  <Words>6673</Words>
  <Application>Microsoft Office PowerPoint</Application>
  <PresentationFormat>Widescreen</PresentationFormat>
  <Paragraphs>1881</Paragraphs>
  <Slides>50</Slides>
  <Notes>36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Gulim</vt:lpstr>
      <vt:lpstr>Aptos</vt:lpstr>
      <vt:lpstr>Aptos Display</vt:lpstr>
      <vt:lpstr>Arial</vt:lpstr>
      <vt:lpstr>Calibri</vt:lpstr>
      <vt:lpstr>Roboto</vt:lpstr>
      <vt:lpstr>Roboto Condensed Regular</vt:lpstr>
      <vt:lpstr>SansSerif</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Macro Update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Mrigank Shekhar Sahi</dc:creator>
  <cp:lastModifiedBy>Aniket Kanwar</cp:lastModifiedBy>
  <cp:revision>78</cp:revision>
  <dcterms:created xsi:type="dcterms:W3CDTF">2025-04-04T05:40:22Z</dcterms:created>
  <dcterms:modified xsi:type="dcterms:W3CDTF">2025-07-09T06:31:10Z</dcterms:modified>
</cp:coreProperties>
</file>